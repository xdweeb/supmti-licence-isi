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2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22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88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46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63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33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75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34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90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7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5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1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14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6CE40-BF9A-4877-83FC-81E21489F68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090F-E1A5-4548-A5DD-12E6341254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498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5447C-A096-B38B-D5C0-14636E880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POO sous Python </a:t>
            </a:r>
            <a:br>
              <a:rPr lang="fr-FR" dirty="0"/>
            </a:br>
            <a:r>
              <a:rPr lang="fr-FR" dirty="0"/>
              <a:t>séance </a:t>
            </a:r>
            <a:r>
              <a:rPr lang="fr-FR" dirty="0" err="1"/>
              <a:t>num</a:t>
            </a:r>
            <a:r>
              <a:rPr lang="fr-FR" dirty="0"/>
              <a:t> 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07131F-4085-974F-0557-E1EB97214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r-FR" dirty="0"/>
              <a:t>Enseignant : GHANEM</a:t>
            </a:r>
          </a:p>
        </p:txBody>
      </p:sp>
    </p:spTree>
    <p:extLst>
      <p:ext uri="{BB962C8B-B14F-4D97-AF65-F5344CB8AC3E}">
        <p14:creationId xmlns:p14="http://schemas.microsoft.com/office/powerpoint/2010/main" val="76005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812A44-D6F7-2BD8-58C8-6521FB15E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Sommaire</a:t>
            </a:r>
          </a:p>
          <a:p>
            <a:pPr marL="0" indent="0" algn="ctr">
              <a:buNone/>
            </a:pPr>
            <a:endParaRPr lang="fr-FR" dirty="0"/>
          </a:p>
          <a:p>
            <a:pPr marL="514350" indent="-514350">
              <a:buAutoNum type="arabicParenR"/>
            </a:pPr>
            <a:r>
              <a:rPr lang="fr-FR" dirty="0"/>
              <a:t>La signification de ‘self’ et l’ utilisations de méthodes statiques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fr-FR" dirty="0"/>
              <a:t>Pourquoi pas de mot-clé </a:t>
            </a:r>
            <a:r>
              <a:rPr lang="fr-FR" dirty="0" err="1"/>
              <a:t>static</a:t>
            </a:r>
            <a:r>
              <a:rPr lang="fr-FR" dirty="0"/>
              <a:t> pour les attributs ?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fr-FR" dirty="0"/>
              <a:t>Exercices</a:t>
            </a:r>
          </a:p>
          <a:p>
            <a:pPr marL="514350" indent="-514350">
              <a:buAutoNum type="arabicParenR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3720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D0249E-0041-0121-72CA-140E064BB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4400" dirty="0"/>
              <a:t>1) La signification de ‘self’ et l’ utilisations de méthodes statiques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F446-5AE1-AA85-8F20-4B33AB6F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85F7A9-06E6-BEEA-C2D7-B442B554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 algn="ctr">
              <a:buNone/>
            </a:pPr>
            <a:r>
              <a:rPr lang="fr-FR" b="1" dirty="0"/>
              <a:t>Comprendre le self en Python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Qu'est-ce que self ?</a:t>
            </a:r>
            <a:endParaRPr lang="fr-FR" dirty="0"/>
          </a:p>
          <a:p>
            <a:r>
              <a:rPr lang="fr-FR" dirty="0"/>
              <a:t>self est une convention en Python pour représenter </a:t>
            </a:r>
            <a:r>
              <a:rPr lang="fr-FR" b="1" dirty="0"/>
              <a:t>l'instance courante</a:t>
            </a:r>
            <a:r>
              <a:rPr lang="fr-FR" dirty="0"/>
              <a:t> de la classe</a:t>
            </a:r>
          </a:p>
          <a:p>
            <a:r>
              <a:rPr lang="fr-FR" dirty="0"/>
              <a:t>C'est le </a:t>
            </a:r>
            <a:r>
              <a:rPr lang="fr-FR" b="1" dirty="0"/>
              <a:t>premier paramètre</a:t>
            </a:r>
            <a:r>
              <a:rPr lang="fr-FR" dirty="0"/>
              <a:t> de toutes les méthodes d'instance</a:t>
            </a:r>
          </a:p>
          <a:p>
            <a:r>
              <a:rPr lang="fr-FR" dirty="0"/>
              <a:t>Il permet d'accéder aux </a:t>
            </a:r>
            <a:r>
              <a:rPr lang="fr-FR" b="1" dirty="0"/>
              <a:t>attributs et méthodes</a:t>
            </a:r>
            <a:r>
              <a:rPr lang="fr-FR" dirty="0"/>
              <a:t> de l'objet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À quoi sert self ?</a:t>
            </a:r>
            <a:endParaRPr lang="fr-FR" dirty="0"/>
          </a:p>
          <a:p>
            <a:r>
              <a:rPr lang="fr-FR" dirty="0"/>
              <a:t>Accéder aux attributs de l'objet : </a:t>
            </a:r>
            <a:r>
              <a:rPr lang="fr-FR" dirty="0" err="1"/>
              <a:t>self.nom</a:t>
            </a:r>
            <a:endParaRPr lang="fr-FR" dirty="0"/>
          </a:p>
          <a:p>
            <a:r>
              <a:rPr lang="fr-FR" dirty="0"/>
              <a:t>Appeler d'autres méthodes : </a:t>
            </a:r>
            <a:r>
              <a:rPr lang="fr-FR" dirty="0" err="1"/>
              <a:t>self.ma_methode</a:t>
            </a:r>
            <a:r>
              <a:rPr lang="fr-FR" dirty="0"/>
              <a:t>()</a:t>
            </a:r>
          </a:p>
          <a:p>
            <a:r>
              <a:rPr lang="fr-FR" dirty="0"/>
              <a:t>Différencier les attributs d'instance des variables locales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520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8F1D-06DF-3DD9-93C7-52995D28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0A547-3411-E353-B14D-90CFA7E9D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r>
              <a:rPr lang="fr-FR" b="1" dirty="0"/>
              <a:t>Exemple 1 - Classe avec constructeur et self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Etudiant: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</a:t>
            </a:r>
            <a:r>
              <a:rPr lang="fr-FR" dirty="0" err="1"/>
              <a:t>age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      # Attribut public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self.age</a:t>
            </a:r>
            <a:r>
              <a:rPr lang="fr-FR" dirty="0"/>
              <a:t> = </a:t>
            </a:r>
            <a:r>
              <a:rPr lang="fr-FR" dirty="0" err="1"/>
              <a:t>age</a:t>
            </a:r>
            <a:r>
              <a:rPr lang="fr-FR" dirty="0"/>
              <a:t>      # Attribut public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afficher(self):     # Méthode avec self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f"Étudiant</a:t>
            </a:r>
            <a:r>
              <a:rPr lang="fr-FR" dirty="0"/>
              <a:t>: {</a:t>
            </a:r>
            <a:r>
              <a:rPr lang="fr-FR" dirty="0" err="1"/>
              <a:t>self.nom</a:t>
            </a:r>
            <a:r>
              <a:rPr lang="fr-FR" dirty="0"/>
              <a:t>}, Âge: {</a:t>
            </a:r>
            <a:r>
              <a:rPr lang="fr-FR" dirty="0" err="1"/>
              <a:t>self.age</a:t>
            </a:r>
            <a:r>
              <a:rPr lang="fr-FR" dirty="0"/>
              <a:t>} ans")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753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1D0-0645-063E-A330-0EBC2EDE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A7295-5145-41B4-55C2-A6DFE4B0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Utilisation de la classe Etudiant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# Création d'un objet</a:t>
            </a:r>
          </a:p>
          <a:p>
            <a:pPr marL="0" indent="0">
              <a:buNone/>
            </a:pPr>
            <a:r>
              <a:rPr lang="fr-FR" dirty="0"/>
              <a:t>etudiant1 = Etudiant("Ahmed", 20)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de la méthode afficher</a:t>
            </a:r>
          </a:p>
          <a:p>
            <a:pPr marL="0" indent="0">
              <a:buNone/>
            </a:pPr>
            <a:r>
              <a:rPr lang="fr-FR" dirty="0"/>
              <a:t>etudiant1.afficher()</a:t>
            </a:r>
          </a:p>
          <a:p>
            <a:endParaRPr lang="fr-FR" dirty="0"/>
          </a:p>
          <a:p>
            <a:r>
              <a:rPr lang="fr-FR" b="1" dirty="0"/>
              <a:t>Résultat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Étudiant: Ahmed, Âge: 20 ans</a:t>
            </a:r>
          </a:p>
          <a:p>
            <a:pPr marL="0" indent="0" algn="ctr">
              <a:buNone/>
            </a:pPr>
            <a:r>
              <a:rPr lang="fr-FR" b="1" dirty="0">
                <a:solidFill>
                  <a:srgbClr val="FFFF00"/>
                </a:solidFill>
              </a:rPr>
              <a:t>Explication :</a:t>
            </a:r>
            <a:endParaRPr lang="fr-FR" dirty="0">
              <a:solidFill>
                <a:srgbClr val="FFFF00"/>
              </a:solidFill>
            </a:endParaRPr>
          </a:p>
          <a:p>
            <a:pPr algn="r"/>
            <a:r>
              <a:rPr lang="fr-FR" dirty="0" err="1">
                <a:solidFill>
                  <a:srgbClr val="FFFF00"/>
                </a:solidFill>
              </a:rPr>
              <a:t>self.nom</a:t>
            </a:r>
            <a:r>
              <a:rPr lang="fr-FR" dirty="0">
                <a:solidFill>
                  <a:srgbClr val="FFFF00"/>
                </a:solidFill>
              </a:rPr>
              <a:t> et </a:t>
            </a:r>
            <a:r>
              <a:rPr lang="fr-FR" dirty="0" err="1">
                <a:solidFill>
                  <a:srgbClr val="FFFF00"/>
                </a:solidFill>
              </a:rPr>
              <a:t>self.age</a:t>
            </a:r>
            <a:r>
              <a:rPr lang="fr-FR" dirty="0">
                <a:solidFill>
                  <a:srgbClr val="FFFF00"/>
                </a:solidFill>
              </a:rPr>
              <a:t> accèdent aux attributs de CET objet précis</a:t>
            </a:r>
          </a:p>
          <a:p>
            <a:pPr algn="r"/>
            <a:r>
              <a:rPr lang="fr-FR" dirty="0">
                <a:solidFill>
                  <a:srgbClr val="FFFF00"/>
                </a:solidFill>
              </a:rPr>
              <a:t>Sans self, Python ne saurait pas de quel objet on parle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76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63C1-CFB8-FE37-64BC-8C47CCA8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A6416-9ADF-1EEF-B26D-D654614F5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62500" lnSpcReduction="20000"/>
          </a:bodyPr>
          <a:lstStyle/>
          <a:p>
            <a:r>
              <a:rPr lang="fr-FR" b="1" dirty="0"/>
              <a:t>Exemple 2 - Méthode sans self (méthode statique)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Ecole_marocaine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@staticmethod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("Maroc")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Utilisation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# Appel direct via la classe</a:t>
            </a:r>
          </a:p>
          <a:p>
            <a:pPr marL="0" indent="0">
              <a:buNone/>
            </a:pPr>
            <a:r>
              <a:rPr lang="fr-FR" dirty="0" err="1"/>
              <a:t>Ecole_marocaine.afficher</a:t>
            </a:r>
            <a:r>
              <a:rPr lang="fr-FR" dirty="0"/>
              <a:t>()  # Output: Maroc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# Ou via un objet</a:t>
            </a:r>
          </a:p>
          <a:p>
            <a:pPr marL="0" indent="0">
              <a:buNone/>
            </a:pPr>
            <a:r>
              <a:rPr lang="fr-FR" dirty="0" err="1"/>
              <a:t>ecole</a:t>
            </a:r>
            <a:r>
              <a:rPr lang="fr-FR" dirty="0"/>
              <a:t> = </a:t>
            </a:r>
            <a:r>
              <a:rPr lang="fr-FR" dirty="0" err="1"/>
              <a:t>Ecole_marocaine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 err="1"/>
              <a:t>ecole.afficher</a:t>
            </a:r>
            <a:r>
              <a:rPr lang="fr-FR" dirty="0"/>
              <a:t>()            # Output: Maroc</a:t>
            </a:r>
          </a:p>
          <a:p>
            <a:pPr marL="0" indent="0" algn="ctr">
              <a:buNone/>
            </a:pPr>
            <a:r>
              <a:rPr lang="fr-FR" b="1" dirty="0">
                <a:solidFill>
                  <a:srgbClr val="FFFF00"/>
                </a:solidFill>
              </a:rPr>
              <a:t>      Caractéristiques :</a:t>
            </a:r>
          </a:p>
          <a:p>
            <a:pPr marL="0" indent="0" algn="ctr">
              <a:buNone/>
            </a:pPr>
            <a:r>
              <a:rPr lang="fr-FR" b="1" dirty="0">
                <a:solidFill>
                  <a:srgbClr val="FFFF00"/>
                </a:solidFill>
              </a:rPr>
              <a:t>C’est à peu </a:t>
            </a:r>
            <a:r>
              <a:rPr lang="fr-FR" b="1" dirty="0" err="1">
                <a:solidFill>
                  <a:srgbClr val="FFFF00"/>
                </a:solidFill>
              </a:rPr>
              <a:t>pres</a:t>
            </a:r>
            <a:r>
              <a:rPr lang="fr-FR" b="1" dirty="0">
                <a:solidFill>
                  <a:srgbClr val="FFFF00"/>
                </a:solidFill>
              </a:rPr>
              <a:t> comme la différence entre  : statique VS dynamique, mais  ici : statique signifie statique pour la classe (intacte , non modifiable) et n’ appartient pas à un objet , mais appartient à tous les objets</a:t>
            </a:r>
            <a:endParaRPr lang="fr-FR" dirty="0">
              <a:solidFill>
                <a:srgbClr val="FFFF00"/>
              </a:solidFill>
            </a:endParaRPr>
          </a:p>
          <a:p>
            <a:pPr algn="r"/>
            <a:r>
              <a:rPr lang="fr-FR" dirty="0">
                <a:solidFill>
                  <a:srgbClr val="FFFF00"/>
                </a:solidFill>
              </a:rPr>
              <a:t>Pas besoin de self car la méthode n'accède à aucun attribut d'instance</a:t>
            </a:r>
          </a:p>
          <a:p>
            <a:pPr algn="r"/>
            <a:r>
              <a:rPr lang="fr-FR" dirty="0">
                <a:solidFill>
                  <a:srgbClr val="FFFF00"/>
                </a:solidFill>
              </a:rPr>
              <a:t>Décorateur @staticmethod indique que c'est une méthode statique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842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5DDA-81B8-1180-1CC3-7E964C7B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2ED578-DB92-9799-62AE-136C22730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Exemple 3 - Attribut de classe et méthode statique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Ecole_Nationale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pays = "Maroc"  # Attribut de classe (statique)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@staticmethod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f"Pays</a:t>
            </a:r>
            <a:r>
              <a:rPr lang="fr-FR" dirty="0"/>
              <a:t>: {</a:t>
            </a:r>
            <a:r>
              <a:rPr lang="fr-FR" dirty="0" err="1"/>
              <a:t>Ecole_Nationale.pays</a:t>
            </a:r>
            <a:r>
              <a:rPr lang="fr-FR" dirty="0"/>
              <a:t>}")</a:t>
            </a:r>
          </a:p>
          <a:p>
            <a:r>
              <a:rPr lang="fr-FR" b="1" dirty="0"/>
              <a:t>Utilisation flexible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# Appel via la classe</a:t>
            </a:r>
          </a:p>
          <a:p>
            <a:pPr marL="0" indent="0">
              <a:buNone/>
            </a:pPr>
            <a:r>
              <a:rPr lang="fr-FR" dirty="0" err="1"/>
              <a:t>Ecole_Nationale.afficher</a:t>
            </a:r>
            <a:r>
              <a:rPr lang="fr-FR" dirty="0"/>
              <a:t>()  # Output: Pays: Maroc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via un objet</a:t>
            </a:r>
          </a:p>
          <a:p>
            <a:pPr marL="0" indent="0">
              <a:buNone/>
            </a:pPr>
            <a:r>
              <a:rPr lang="fr-FR" dirty="0"/>
              <a:t>ecole1 = </a:t>
            </a:r>
            <a:r>
              <a:rPr lang="fr-FR" dirty="0" err="1"/>
              <a:t>Ecole_Nationale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ecole1.afficher()           # Output: Pays: Maroc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557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F8D02-3FB5-FD84-A998-CBD35CAD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92CA7-E2AA-F845-8537-F8412003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Avantage de l'approche statique</a:t>
            </a:r>
            <a:endParaRPr lang="fr-FR" dirty="0"/>
          </a:p>
          <a:p>
            <a:r>
              <a:rPr lang="fr-FR" b="1" dirty="0"/>
              <a:t>Facilité de maintenance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# Pour adapter au Sénégal, on change UNE seule ligne :</a:t>
            </a:r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Ecole_Nationale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pays = "Sénégal"  </a:t>
            </a:r>
            <a:r>
              <a:rPr lang="fr-FR" b="1" dirty="0">
                <a:solidFill>
                  <a:srgbClr val="EE0000"/>
                </a:solidFill>
              </a:rPr>
              <a:t>#  Modification unique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@staticmethod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f"Pays</a:t>
            </a:r>
            <a:r>
              <a:rPr lang="fr-FR" dirty="0"/>
              <a:t>: {</a:t>
            </a:r>
            <a:r>
              <a:rPr lang="fr-FR" dirty="0" err="1"/>
              <a:t>Ecole_Nationale.pays</a:t>
            </a:r>
            <a:r>
              <a:rPr lang="fr-FR" dirty="0"/>
              <a:t>}")</a:t>
            </a:r>
          </a:p>
          <a:p>
            <a:r>
              <a:rPr lang="fr-FR" b="1" dirty="0"/>
              <a:t>Résultat après modification :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Ecole_Nationale.afficher</a:t>
            </a:r>
            <a:r>
              <a:rPr lang="fr-FR" dirty="0"/>
              <a:t>()  # Output: Pays: Sénégal</a:t>
            </a:r>
          </a:p>
          <a:p>
            <a:pPr marL="0" indent="0" algn="ctr">
              <a:buNone/>
            </a:pPr>
            <a:r>
              <a:rPr lang="fr-FR" b="1" dirty="0">
                <a:solidFill>
                  <a:srgbClr val="FFFF00"/>
                </a:solidFill>
              </a:rPr>
              <a:t>Avantages :</a:t>
            </a:r>
          </a:p>
          <a:p>
            <a:pPr algn="r"/>
            <a:r>
              <a:rPr lang="fr-FR" b="1" dirty="0">
                <a:solidFill>
                  <a:srgbClr val="FFFF00"/>
                </a:solidFill>
              </a:rPr>
              <a:t>Pas besoin de modifier le code des méthodes</a:t>
            </a:r>
          </a:p>
          <a:p>
            <a:pPr algn="r"/>
            <a:r>
              <a:rPr lang="fr-FR" b="1" dirty="0">
                <a:solidFill>
                  <a:srgbClr val="FFFF00"/>
                </a:solidFill>
              </a:rPr>
              <a:t>Tous les appels continuent de fonctionner</a:t>
            </a:r>
          </a:p>
          <a:p>
            <a:pPr algn="r"/>
            <a:r>
              <a:rPr lang="fr-FR" b="1" dirty="0">
                <a:solidFill>
                  <a:srgbClr val="FFFF00"/>
                </a:solidFill>
              </a:rPr>
              <a:t>Changement centralisé et contrôlé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8676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263D-7D67-BF62-C2C5-2462FA93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D543AA-A9B4-E080-C66D-E2C957CE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 algn="ctr">
              <a:buNone/>
            </a:pPr>
            <a:r>
              <a:rPr lang="fr-FR" b="1" dirty="0">
                <a:solidFill>
                  <a:srgbClr val="EE0000"/>
                </a:solidFill>
              </a:rPr>
              <a:t>Attention aux méthodes sans décorateur @staticmethod</a:t>
            </a:r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Ecole_marocaine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afficher():          </a:t>
            </a:r>
            <a:r>
              <a:rPr lang="fr-FR" dirty="0">
                <a:solidFill>
                  <a:srgbClr val="EE0000"/>
                </a:solidFill>
              </a:rPr>
              <a:t>#  Méthode sans self, sans @staticmethod !!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("Maroc")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via la classe -  </a:t>
            </a:r>
            <a:r>
              <a:rPr lang="fr-FR" b="1" dirty="0">
                <a:solidFill>
                  <a:srgbClr val="00B050"/>
                </a:solidFill>
              </a:rPr>
              <a:t>Ça marche</a:t>
            </a:r>
          </a:p>
          <a:p>
            <a:pPr marL="0" indent="0">
              <a:buNone/>
            </a:pPr>
            <a:r>
              <a:rPr lang="fr-FR" dirty="0" err="1"/>
              <a:t>Ecole_marocaine.afficher</a:t>
            </a:r>
            <a:r>
              <a:rPr lang="fr-FR" dirty="0"/>
              <a:t>()   # Output: Maroc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via un objet -  </a:t>
            </a:r>
            <a:r>
              <a:rPr lang="fr-FR" dirty="0">
                <a:solidFill>
                  <a:srgbClr val="EE0000"/>
                </a:solidFill>
              </a:rPr>
              <a:t>ERREUR !</a:t>
            </a:r>
          </a:p>
          <a:p>
            <a:pPr marL="0" indent="0">
              <a:buNone/>
            </a:pPr>
            <a:r>
              <a:rPr lang="fr-FR" dirty="0" err="1"/>
              <a:t>ecole</a:t>
            </a:r>
            <a:r>
              <a:rPr lang="fr-FR" dirty="0"/>
              <a:t> = </a:t>
            </a:r>
            <a:r>
              <a:rPr lang="fr-FR" dirty="0" err="1"/>
              <a:t>Ecole_marocaine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 err="1"/>
              <a:t>ecole.afficher</a:t>
            </a:r>
            <a:r>
              <a:rPr lang="fr-FR" dirty="0"/>
              <a:t>()             # </a:t>
            </a:r>
            <a:r>
              <a:rPr lang="fr-FR" dirty="0">
                <a:solidFill>
                  <a:srgbClr val="EE0000"/>
                </a:solidFill>
              </a:rPr>
              <a:t>ERREUR !</a:t>
            </a:r>
          </a:p>
        </p:txBody>
      </p:sp>
    </p:spTree>
    <p:extLst>
      <p:ext uri="{BB962C8B-B14F-4D97-AF65-F5344CB8AC3E}">
        <p14:creationId xmlns:p14="http://schemas.microsoft.com/office/powerpoint/2010/main" val="139540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C7DA-2C32-36B6-51F4-B512A8F5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3C89F5-CD4E-4573-0A20-4DED379C8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r>
              <a:rPr lang="fr-FR" b="1" dirty="0"/>
              <a:t>Explication du problème :</a:t>
            </a:r>
          </a:p>
          <a:p>
            <a:pPr marL="0" indent="0">
              <a:buNone/>
            </a:pPr>
            <a:r>
              <a:rPr lang="fr-FR" dirty="0"/>
              <a:t># Quand on appelle via un objet :</a:t>
            </a:r>
          </a:p>
          <a:p>
            <a:pPr marL="0" indent="0">
              <a:buNone/>
            </a:pPr>
            <a:r>
              <a:rPr lang="fr-FR" dirty="0" err="1"/>
              <a:t>ecole.afficher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# Python transforme automatiquement en :</a:t>
            </a:r>
          </a:p>
          <a:p>
            <a:pPr marL="0" indent="0">
              <a:buNone/>
            </a:pPr>
            <a:r>
              <a:rPr lang="fr-FR" dirty="0" err="1"/>
              <a:t>Ecole_marocaine.afficher</a:t>
            </a:r>
            <a:r>
              <a:rPr lang="fr-FR" dirty="0"/>
              <a:t>(</a:t>
            </a:r>
            <a:r>
              <a:rPr lang="fr-FR" dirty="0" err="1"/>
              <a:t>ecole</a:t>
            </a:r>
            <a:r>
              <a:rPr lang="fr-FR" dirty="0"/>
              <a:t>)  # Il passe l'objet en paramètre !</a:t>
            </a:r>
          </a:p>
          <a:p>
            <a:pPr marL="0" indent="0">
              <a:buNone/>
            </a:pPr>
            <a:r>
              <a:rPr lang="fr-FR" b="1" dirty="0"/>
              <a:t>Mais la méthode n'attend aucun paramètre → </a:t>
            </a:r>
            <a:r>
              <a:rPr lang="fr-FR" b="1" dirty="0">
                <a:solidFill>
                  <a:srgbClr val="EE0000"/>
                </a:solidFill>
              </a:rPr>
              <a:t>ERREUR</a:t>
            </a:r>
            <a:r>
              <a:rPr lang="fr-FR" b="1" dirty="0"/>
              <a:t> </a:t>
            </a:r>
            <a:r>
              <a:rPr lang="fr-FR" b="1" dirty="0">
                <a:solidFill>
                  <a:srgbClr val="EE0000"/>
                </a:solidFill>
              </a:rPr>
              <a:t>!</a:t>
            </a:r>
            <a:endParaRPr lang="fr-FR" dirty="0">
              <a:solidFill>
                <a:srgbClr val="EE0000"/>
              </a:solidFill>
            </a:endParaRPr>
          </a:p>
          <a:p>
            <a:r>
              <a:rPr lang="fr-FR" dirty="0"/>
              <a:t>Par contre, si on </a:t>
            </a:r>
            <a:r>
              <a:rPr lang="fr-FR" b="1" dirty="0"/>
              <a:t>avait déclaré</a:t>
            </a:r>
            <a:r>
              <a:rPr lang="fr-FR" dirty="0"/>
              <a:t> avec le décorateur @staticmethod, ça </a:t>
            </a:r>
            <a:r>
              <a:rPr lang="fr-FR" b="1" dirty="0"/>
              <a:t>aurait marché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27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49A3-F1B0-BC7C-F19C-34EBC9A5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3152F4-FB1A-F8BB-6942-E83E26FA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Pourquoi utiliser @staticmethod ?</a:t>
            </a:r>
            <a:endParaRPr lang="fr-FR" dirty="0"/>
          </a:p>
          <a:p>
            <a:r>
              <a:rPr lang="fr-FR" dirty="0"/>
              <a:t>Compatible avec l'appel via classe ET via objet</a:t>
            </a:r>
          </a:p>
          <a:p>
            <a:r>
              <a:rPr lang="fr-FR" dirty="0"/>
              <a:t>Intention claire : cette méthode n'a pas besoin de self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026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7C3A-FC7A-DCD5-CFDB-CC306A37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AD7422-0E84-8063-3C6B-2FD845E04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4800" dirty="0"/>
              <a:t>2) Pourquoi pas de mot-clé </a:t>
            </a:r>
            <a:r>
              <a:rPr lang="fr-FR" sz="4800" dirty="0" err="1"/>
              <a:t>static</a:t>
            </a:r>
            <a:r>
              <a:rPr lang="fr-FR" sz="4800" dirty="0"/>
              <a:t> pour les attributs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76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AB45-44ED-BF99-5911-DD86C7CD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E4C05F-86AF-565A-D2B8-C2CBE313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Python distingue naturellement les attributs :</a:t>
            </a:r>
          </a:p>
          <a:p>
            <a:r>
              <a:rPr lang="fr-FR" b="1" dirty="0"/>
              <a:t>Attributs de classe</a:t>
            </a:r>
            <a:r>
              <a:rPr lang="fr-FR" dirty="0"/>
              <a:t> : déclarés directement dans la classe</a:t>
            </a:r>
          </a:p>
          <a:p>
            <a:r>
              <a:rPr lang="fr-FR" b="1" dirty="0"/>
              <a:t>Attributs d'instance</a:t>
            </a:r>
            <a:r>
              <a:rPr lang="fr-FR" dirty="0"/>
              <a:t> : déclarés dans __init__ avec self.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02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BD47-3622-8C04-51D1-E5BF19CE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EA93AE-29CE-5843-B8DC-73A8DC7B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r>
              <a:rPr lang="fr-FR" b="1" dirty="0"/>
              <a:t>Comment Python fait la différence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Ecole_Nationale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pays = "Maroc"  # Attribut de classe (partagé)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  # Attribut d'instance (spécifique à chaque objet)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47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BB9F-0824-2521-6C9E-3358D8F2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7DA5EA-666F-3925-BA65-6CCE3C699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r>
              <a:rPr lang="fr-FR" b="1" dirty="0"/>
              <a:t>Utilisation :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# Attribut de classe - partagé par toutes les instances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Ecole_Nationale.pays</a:t>
            </a:r>
            <a:r>
              <a:rPr lang="fr-FR" dirty="0"/>
              <a:t>)  # "Maroc"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Attribut d'instance - spécifique à chaque objet</a:t>
            </a:r>
          </a:p>
          <a:p>
            <a:pPr marL="0" indent="0">
              <a:buNone/>
            </a:pPr>
            <a:r>
              <a:rPr lang="fr-FR" dirty="0"/>
              <a:t>ecole1 = </a:t>
            </a:r>
            <a:r>
              <a:rPr lang="fr-FR" dirty="0" err="1"/>
              <a:t>Ecole_Nationale</a:t>
            </a:r>
            <a:r>
              <a:rPr lang="fr-FR" dirty="0"/>
              <a:t>("</a:t>
            </a:r>
            <a:r>
              <a:rPr lang="fr-FR" dirty="0" err="1"/>
              <a:t>SupMti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(ecole1.nom)  # "</a:t>
            </a:r>
            <a:r>
              <a:rPr lang="fr-FR" dirty="0" err="1"/>
              <a:t>SupMti</a:t>
            </a:r>
            <a:r>
              <a:rPr lang="fr-FR" dirty="0"/>
              <a:t>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9017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7E63-4EE8-C84B-94B8-80363C853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93170B-20ED-2005-01D1-55850162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Démonstration de la différence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class Test: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attribut_classe</a:t>
            </a:r>
            <a:r>
              <a:rPr lang="fr-FR" dirty="0"/>
              <a:t> = "Je suis partagé"  </a:t>
            </a:r>
            <a:r>
              <a:rPr lang="fr-FR" b="1" dirty="0">
                <a:solidFill>
                  <a:srgbClr val="EE0000"/>
                </a:solidFill>
              </a:rPr>
              <a:t># Attribut de classe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valeur):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self.attribut_instance</a:t>
            </a:r>
            <a:r>
              <a:rPr lang="fr-FR" dirty="0"/>
              <a:t> = valeur  </a:t>
            </a:r>
            <a:r>
              <a:rPr lang="fr-FR" b="1" dirty="0">
                <a:solidFill>
                  <a:srgbClr val="FFFF00"/>
                </a:solidFill>
              </a:rPr>
              <a:t># Attribut d'instance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Test</a:t>
            </a:r>
          </a:p>
          <a:p>
            <a:pPr marL="0" indent="0">
              <a:buNone/>
            </a:pPr>
            <a:r>
              <a:rPr lang="fr-FR" dirty="0"/>
              <a:t>obj1 = Test("Objet 1")</a:t>
            </a:r>
          </a:p>
          <a:p>
            <a:pPr marL="0" indent="0">
              <a:buNone/>
            </a:pPr>
            <a:r>
              <a:rPr lang="fr-FR" dirty="0"/>
              <a:t>obj2 = Test("Objet 2")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(obj1.attribut_classe)     # "</a:t>
            </a:r>
            <a:r>
              <a:rPr lang="fr-FR" dirty="0">
                <a:solidFill>
                  <a:srgbClr val="EE0000"/>
                </a:solidFill>
              </a:rPr>
              <a:t>Je suis partagé</a:t>
            </a:r>
            <a:r>
              <a:rPr lang="fr-FR" dirty="0"/>
              <a:t>"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(obj2.attribut_classe)     # "</a:t>
            </a:r>
            <a:r>
              <a:rPr lang="fr-FR" dirty="0">
                <a:solidFill>
                  <a:srgbClr val="EE0000"/>
                </a:solidFill>
              </a:rPr>
              <a:t>Je suis partagé</a:t>
            </a:r>
            <a:r>
              <a:rPr lang="fr-FR" dirty="0"/>
              <a:t>"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(obj1.attribut_instance)   # "</a:t>
            </a:r>
            <a:r>
              <a:rPr lang="fr-FR" dirty="0">
                <a:solidFill>
                  <a:srgbClr val="FFFF00"/>
                </a:solidFill>
              </a:rPr>
              <a:t>Objet 1</a:t>
            </a:r>
            <a:r>
              <a:rPr lang="fr-FR" dirty="0"/>
              <a:t>" 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(obj2.attribut_instance)   # "</a:t>
            </a:r>
            <a:r>
              <a:rPr lang="fr-FR" dirty="0">
                <a:solidFill>
                  <a:srgbClr val="FFFF00"/>
                </a:solidFill>
              </a:rPr>
              <a:t>Objet 2</a:t>
            </a:r>
            <a:r>
              <a:rPr lang="fr-FR" dirty="0"/>
              <a:t>"  (différent!)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110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65EC-BD34-2A21-2413-73A6ABFA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3BA8E8-3EA8-7923-9342-04750012A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92500"/>
          </a:bodyPr>
          <a:lstStyle/>
          <a:p>
            <a:r>
              <a:rPr lang="fr-FR" b="1" dirty="0"/>
              <a:t>Modification centralisée :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Ecole_Nationale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pays = "Maroc"  </a:t>
            </a:r>
            <a:r>
              <a:rPr lang="fr-FR" b="1" dirty="0">
                <a:solidFill>
                  <a:srgbClr val="EE0000"/>
                </a:solidFill>
              </a:rPr>
              <a:t>#  Un seul endroit à modifier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@staticmethod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f"Pays</a:t>
            </a:r>
            <a:r>
              <a:rPr lang="fr-FR" dirty="0"/>
              <a:t>: {</a:t>
            </a:r>
            <a:r>
              <a:rPr lang="fr-FR" dirty="0" err="1"/>
              <a:t>Ecole_Nationale.pays</a:t>
            </a:r>
            <a:r>
              <a:rPr lang="fr-FR" dirty="0"/>
              <a:t>}")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Pour changer pour le Sénégal :</a:t>
            </a:r>
          </a:p>
          <a:p>
            <a:pPr marL="0" indent="0">
              <a:buNone/>
            </a:pPr>
            <a:r>
              <a:rPr lang="fr-FR" dirty="0" err="1"/>
              <a:t>Ecole_Nationale.pays</a:t>
            </a:r>
            <a:r>
              <a:rPr lang="fr-FR" dirty="0"/>
              <a:t> = "Sénégal"  </a:t>
            </a:r>
            <a:r>
              <a:rPr lang="fr-FR" b="1" dirty="0">
                <a:solidFill>
                  <a:srgbClr val="EE0000"/>
                </a:solidFill>
              </a:rPr>
              <a:t>#  Toutes les instances voient le changement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Ecole_Nationale.afficher</a:t>
            </a:r>
            <a:r>
              <a:rPr lang="fr-FR" dirty="0"/>
              <a:t>()  </a:t>
            </a:r>
            <a:r>
              <a:rPr lang="fr-FR" b="1" dirty="0">
                <a:solidFill>
                  <a:srgbClr val="EE0000"/>
                </a:solidFill>
              </a:rPr>
              <a:t># Output: Pays: Sénégal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9168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358C-3457-2F18-877D-39B3AA327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2AFA8EAE-1CB4-2C5D-AA26-8FBE41C3E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262766"/>
              </p:ext>
            </p:extLst>
          </p:nvPr>
        </p:nvGraphicFramePr>
        <p:xfrm>
          <a:off x="419100" y="2464117"/>
          <a:ext cx="10515600" cy="2194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998286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6382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69629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 dirty="0">
                          <a:solidFill>
                            <a:srgbClr val="FFFF00"/>
                          </a:solidFill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>
                          <a:solidFill>
                            <a:srgbClr val="FFFF00"/>
                          </a:solidFill>
                        </a:rPr>
                        <a:t>Syntaxe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400" b="1" dirty="0">
                          <a:solidFill>
                            <a:srgbClr val="FFFF00"/>
                          </a:solidFill>
                        </a:rPr>
                        <a:t>Comment reconnaître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448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Attribut de classe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pays = "Maroc"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Déclaré directement dans la classe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238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Attribut d'instance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self.nom = nom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Déclaré dans __init__ avec self.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47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rgbClr val="EE0000"/>
                          </a:solidFill>
                        </a:rPr>
                        <a:t>Méthode statique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rgbClr val="EE0000"/>
                          </a:solidFill>
                        </a:rPr>
                        <a:t>@staticmethod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rgbClr val="EE0000"/>
                          </a:solidFill>
                        </a:rPr>
                        <a:t>Avec décorateur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21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Méthode d'instance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def methode(self):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Avec self comme premier paramètre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62288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AFC3118-122F-54E4-CEC6-09A101E49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857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Récapitulatif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29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9FC9-4179-B6F1-71C7-7522360D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5CB259-FB61-E314-2951-1985ED707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4400" dirty="0"/>
              <a:t>3) Exercice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0292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2D9CB-68AD-AAC3-890C-A649759C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CA413E-C828-BDD6-BE9C-07F60D0F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1 : Domaine du Commerce</a:t>
            </a:r>
          </a:p>
          <a:p>
            <a:r>
              <a:rPr lang="fr-FR" dirty="0"/>
              <a:t>Créez une classe Produit avec :</a:t>
            </a:r>
          </a:p>
          <a:p>
            <a:r>
              <a:rPr lang="fr-FR" dirty="0"/>
              <a:t>Deux attributs : nom (chaîne) et prix (nombre)</a:t>
            </a:r>
          </a:p>
          <a:p>
            <a:r>
              <a:rPr lang="fr-FR" dirty="0"/>
              <a:t>Une méthode afficher() qui affiche les informations du produit</a:t>
            </a:r>
          </a:p>
          <a:p>
            <a:r>
              <a:rPr lang="fr-FR" dirty="0"/>
              <a:t>Créez un objet et testez la méthode afficher()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6430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CDBF0-94C8-9070-8168-E5283189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0B197-14EA-E623-8975-D59E4A1ED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/>
          </a:bodyPr>
          <a:lstStyle/>
          <a:p>
            <a:r>
              <a:rPr lang="fr-FR" b="1" dirty="0"/>
              <a:t>Solution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class Produit: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prix):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self.prix</a:t>
            </a:r>
            <a:r>
              <a:rPr lang="fr-FR" dirty="0"/>
              <a:t> = prix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afficher(self):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f"Produit</a:t>
            </a:r>
            <a:r>
              <a:rPr lang="fr-FR" dirty="0"/>
              <a:t>: {</a:t>
            </a:r>
            <a:r>
              <a:rPr lang="fr-FR" dirty="0" err="1"/>
              <a:t>self.nom</a:t>
            </a:r>
            <a:r>
              <a:rPr lang="fr-FR" dirty="0"/>
              <a:t>}, Prix: {</a:t>
            </a:r>
            <a:r>
              <a:rPr lang="fr-FR" dirty="0" err="1"/>
              <a:t>self.prix</a:t>
            </a:r>
            <a:r>
              <a:rPr lang="fr-FR" dirty="0"/>
              <a:t>} DH")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Test</a:t>
            </a:r>
          </a:p>
          <a:p>
            <a:pPr marL="0" indent="0">
              <a:buNone/>
            </a:pPr>
            <a:r>
              <a:rPr lang="fr-FR" dirty="0"/>
              <a:t>p1 = Produit("Ordinateur Portable", 4500)</a:t>
            </a:r>
          </a:p>
          <a:p>
            <a:pPr marL="0" indent="0">
              <a:buNone/>
            </a:pPr>
            <a:r>
              <a:rPr lang="fr-FR" dirty="0"/>
              <a:t>p1.afficher()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622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4E45-12B6-3B9F-73A0-E04DFEF3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1BA2C2-52AA-2D85-9D2C-1B52F2730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2 : Domaine de l'Éducation</a:t>
            </a:r>
          </a:p>
          <a:p>
            <a:r>
              <a:rPr lang="fr-FR" dirty="0"/>
              <a:t>Créez une classe </a:t>
            </a:r>
            <a:r>
              <a:rPr lang="fr-FR" dirty="0" err="1"/>
              <a:t>Universite</a:t>
            </a:r>
            <a:r>
              <a:rPr lang="fr-FR" dirty="0"/>
              <a:t> avec :</a:t>
            </a:r>
          </a:p>
          <a:p>
            <a:r>
              <a:rPr lang="fr-FR" dirty="0"/>
              <a:t>Un attribut de classe pays = "Maroc"</a:t>
            </a:r>
          </a:p>
          <a:p>
            <a:r>
              <a:rPr lang="fr-FR" dirty="0"/>
              <a:t>Un attribut d'instance nom</a:t>
            </a:r>
          </a:p>
          <a:p>
            <a:r>
              <a:rPr lang="fr-FR" dirty="0"/>
              <a:t>Une méthode </a:t>
            </a:r>
            <a:r>
              <a:rPr lang="fr-FR" dirty="0" err="1"/>
              <a:t>afficher_info</a:t>
            </a:r>
            <a:r>
              <a:rPr lang="fr-FR" dirty="0"/>
              <a:t>() qui utilise l'attribut de classe</a:t>
            </a:r>
          </a:p>
          <a:p>
            <a:r>
              <a:rPr lang="fr-FR" dirty="0"/>
              <a:t>Créez deux objets et testez la méthode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0117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3AA1-5139-5797-A4CD-3A1B054D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E7CA69-7055-868A-E20E-7985DB7BC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Solution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Universite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pays = "Maroc"  # Attribut de classe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  # Attribut d'instance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afficher_info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f"Université</a:t>
            </a:r>
            <a:r>
              <a:rPr lang="fr-FR" dirty="0"/>
              <a:t>: {</a:t>
            </a:r>
            <a:r>
              <a:rPr lang="fr-FR" dirty="0" err="1"/>
              <a:t>self.nom</a:t>
            </a:r>
            <a:r>
              <a:rPr lang="fr-FR" dirty="0"/>
              <a:t>}, Pays: {</a:t>
            </a:r>
            <a:r>
              <a:rPr lang="fr-FR" dirty="0" err="1"/>
              <a:t>Universite.pays</a:t>
            </a:r>
            <a:r>
              <a:rPr lang="fr-FR" dirty="0"/>
              <a:t>}")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Test</a:t>
            </a:r>
          </a:p>
          <a:p>
            <a:pPr marL="0" indent="0">
              <a:buNone/>
            </a:pPr>
            <a:r>
              <a:rPr lang="fr-FR" dirty="0"/>
              <a:t>u1 = </a:t>
            </a:r>
            <a:r>
              <a:rPr lang="fr-FR" dirty="0" err="1"/>
              <a:t>Universite</a:t>
            </a:r>
            <a:r>
              <a:rPr lang="fr-FR" dirty="0"/>
              <a:t>("Université Mohammed V")</a:t>
            </a:r>
          </a:p>
          <a:p>
            <a:pPr marL="0" indent="0">
              <a:buNone/>
            </a:pPr>
            <a:r>
              <a:rPr lang="fr-FR" dirty="0"/>
              <a:t>u2 = </a:t>
            </a:r>
            <a:r>
              <a:rPr lang="fr-FR" dirty="0" err="1"/>
              <a:t>Universite</a:t>
            </a:r>
            <a:r>
              <a:rPr lang="fr-FR" dirty="0"/>
              <a:t>("Université Al </a:t>
            </a:r>
            <a:r>
              <a:rPr lang="fr-FR" dirty="0" err="1"/>
              <a:t>Akhawayn</a:t>
            </a:r>
            <a:r>
              <a:rPr lang="fr-FR" dirty="0"/>
              <a:t>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u1.afficher_info()</a:t>
            </a:r>
          </a:p>
          <a:p>
            <a:pPr marL="0" indent="0">
              <a:buNone/>
            </a:pPr>
            <a:r>
              <a:rPr lang="fr-FR" dirty="0"/>
              <a:t>u2.afficher_info()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603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AEEB-FCE8-1A21-545F-C0D7F489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3AE68-D526-048A-5027-95C110EC7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3 : Domaine des Transports Publics</a:t>
            </a:r>
            <a:endParaRPr lang="fr-FR" dirty="0"/>
          </a:p>
          <a:p>
            <a:r>
              <a:rPr lang="fr-FR" dirty="0"/>
              <a:t>Créez une classe </a:t>
            </a:r>
            <a:r>
              <a:rPr lang="fr-FR" dirty="0" err="1"/>
              <a:t>TransportPublic</a:t>
            </a:r>
            <a:r>
              <a:rPr lang="fr-FR" dirty="0"/>
              <a:t> avec :</a:t>
            </a:r>
          </a:p>
          <a:p>
            <a:r>
              <a:rPr lang="fr-FR" dirty="0"/>
              <a:t>Un attribut de classe </a:t>
            </a:r>
            <a:r>
              <a:rPr lang="fr-FR" dirty="0" err="1"/>
              <a:t>tarif_base</a:t>
            </a:r>
            <a:r>
              <a:rPr lang="fr-FR" dirty="0"/>
              <a:t> = 6 (DH)</a:t>
            </a:r>
          </a:p>
          <a:p>
            <a:r>
              <a:rPr lang="fr-FR" dirty="0"/>
              <a:t>Une méthode statique </a:t>
            </a:r>
            <a:r>
              <a:rPr lang="fr-FR" dirty="0" err="1"/>
              <a:t>afficher_tarif</a:t>
            </a:r>
            <a:r>
              <a:rPr lang="fr-FR" dirty="0"/>
              <a:t>() qui affiche le tarif actuel</a:t>
            </a:r>
          </a:p>
          <a:p>
            <a:r>
              <a:rPr lang="fr-FR" dirty="0"/>
              <a:t>Une méthode statique </a:t>
            </a:r>
            <a:r>
              <a:rPr lang="fr-FR" dirty="0" err="1"/>
              <a:t>modifier_tarif</a:t>
            </a:r>
            <a:r>
              <a:rPr lang="fr-FR" dirty="0"/>
              <a:t>(</a:t>
            </a:r>
            <a:r>
              <a:rPr lang="fr-FR" dirty="0" err="1"/>
              <a:t>nouveau_tarif</a:t>
            </a:r>
            <a:r>
              <a:rPr lang="fr-FR" dirty="0"/>
              <a:t>) pour ajuster le tarif</a:t>
            </a:r>
          </a:p>
          <a:p>
            <a:r>
              <a:rPr lang="fr-FR" dirty="0"/>
              <a:t>Testez en appelant les méthodes via la classe et via un objet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9887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6622-4DDE-D6EE-BFEE-65D2A092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A850E5-D17C-5410-C3CF-071353564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85750"/>
            <a:ext cx="11410950" cy="62960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tarif_base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  # Attribut de classe (tarif en DH)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@staticmethod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afficher_tarif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actuel du transport: {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TransportPublic.tarif_base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DH")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@staticmethod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modifier_tarif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nouveau_tarif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TransportPublic.tarif_base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nouveau_tarif</a:t>
            </a: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modifié à: {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TransportPublic.tarif_base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DH")</a:t>
            </a:r>
          </a:p>
          <a:p>
            <a:pPr marL="0" indent="0">
              <a:buNone/>
            </a:pP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TransportPublic.afficher_tarif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fr-FR" sz="7200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Appel via la classe</a:t>
            </a:r>
          </a:p>
          <a:p>
            <a:pPr marL="0" indent="0">
              <a:buNone/>
            </a:pP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TransportPublic.modifier_tarif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 </a:t>
            </a:r>
            <a:r>
              <a:rPr lang="fr-FR" sz="7200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Modification du tarif</a:t>
            </a:r>
          </a:p>
          <a:p>
            <a:pPr marL="0" indent="0">
              <a:buNone/>
            </a:pP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bus1 =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fr-FR" sz="7200" b="1" dirty="0">
              <a:solidFill>
                <a:srgbClr val="E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bus1.afficher_tarif()     </a:t>
            </a:r>
            <a:r>
              <a:rPr lang="fr-FR" sz="7200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Appel via un objet</a:t>
            </a: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tramway = </a:t>
            </a: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TransportPublic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fr-FR" sz="7200" b="1" dirty="0">
              <a:solidFill>
                <a:srgbClr val="E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tramway.afficher_tarif</a:t>
            </a:r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fr-FR" sz="7200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Vérification avec un autre objet</a:t>
            </a: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9852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</TotalTime>
  <Words>1563</Words>
  <Application>Microsoft Office PowerPoint</Application>
  <PresentationFormat>Grand écran</PresentationFormat>
  <Paragraphs>247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Thème Office</vt:lpstr>
      <vt:lpstr>POO sous Python  séance num 5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chtouki fatima</dc:creator>
  <cp:lastModifiedBy>chtouki fatima</cp:lastModifiedBy>
  <cp:revision>17</cp:revision>
  <dcterms:created xsi:type="dcterms:W3CDTF">2025-11-11T20:11:01Z</dcterms:created>
  <dcterms:modified xsi:type="dcterms:W3CDTF">2025-11-12T11:00:22Z</dcterms:modified>
</cp:coreProperties>
</file>