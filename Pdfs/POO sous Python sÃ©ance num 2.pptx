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8" r:id="rId4"/>
    <p:sldId id="287" r:id="rId5"/>
    <p:sldId id="288" r:id="rId6"/>
    <p:sldId id="289" r:id="rId7"/>
    <p:sldId id="290" r:id="rId8"/>
    <p:sldId id="291" r:id="rId9"/>
    <p:sldId id="292" r:id="rId10"/>
    <p:sldId id="293" r:id="rId11"/>
    <p:sldId id="298" r:id="rId12"/>
    <p:sldId id="259" r:id="rId13"/>
    <p:sldId id="299" r:id="rId14"/>
    <p:sldId id="297" r:id="rId15"/>
    <p:sldId id="279" r:id="rId16"/>
    <p:sldId id="300" r:id="rId17"/>
    <p:sldId id="301" r:id="rId18"/>
    <p:sldId id="284" r:id="rId19"/>
    <p:sldId id="280" r:id="rId20"/>
    <p:sldId id="285" r:id="rId21"/>
    <p:sldId id="281" r:id="rId22"/>
    <p:sldId id="282" r:id="rId23"/>
    <p:sldId id="286" r:id="rId24"/>
    <p:sldId id="283" r:id="rId25"/>
    <p:sldId id="302" r:id="rId26"/>
    <p:sldId id="258" r:id="rId27"/>
    <p:sldId id="304" r:id="rId28"/>
    <p:sldId id="305" r:id="rId29"/>
    <p:sldId id="306" r:id="rId30"/>
    <p:sldId id="303" r:id="rId31"/>
    <p:sldId id="260" r:id="rId32"/>
    <p:sldId id="261" r:id="rId33"/>
    <p:sldId id="262" r:id="rId34"/>
    <p:sldId id="263" r:id="rId35"/>
    <p:sldId id="271" r:id="rId36"/>
    <p:sldId id="264" r:id="rId37"/>
    <p:sldId id="275" r:id="rId38"/>
    <p:sldId id="272" r:id="rId39"/>
    <p:sldId id="274" r:id="rId40"/>
    <p:sldId id="276" r:id="rId41"/>
    <p:sldId id="273" r:id="rId42"/>
    <p:sldId id="265" r:id="rId43"/>
    <p:sldId id="266" r:id="rId44"/>
    <p:sldId id="277" r:id="rId45"/>
    <p:sldId id="267" r:id="rId46"/>
    <p:sldId id="268" r:id="rId47"/>
    <p:sldId id="269" r:id="rId48"/>
    <p:sldId id="27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0" d="100"/>
          <a:sy n="200" d="100"/>
        </p:scale>
        <p:origin x="115" y="-48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B03A170-DAFD-4D49-9A64-2E4769BC22AC}" type="datetimeFigureOut">
              <a:rPr lang="fr-FR" smtClean="0"/>
              <a:t>29/10/2025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8375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B03A170-DAFD-4D49-9A64-2E4769BC22AC}" type="datetimeFigureOut">
              <a:rPr lang="fr-FR" smtClean="0"/>
              <a:t>29/10/2025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2439152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B03A170-DAFD-4D49-9A64-2E4769BC22AC}" type="datetimeFigureOut">
              <a:rPr lang="fr-FR" smtClean="0"/>
              <a:t>29/10/2025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3750656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B03A170-DAFD-4D49-9A64-2E4769BC22AC}" type="datetimeFigureOut">
              <a:rPr lang="fr-FR" smtClean="0"/>
              <a:t>29/10/2025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1852798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B03A170-DAFD-4D49-9A64-2E4769BC22AC}" type="datetimeFigureOut">
              <a:rPr lang="fr-FR" smtClean="0"/>
              <a:t>29/10/2025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4053744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B03A170-DAFD-4D49-9A64-2E4769BC22AC}" type="datetimeFigureOut">
              <a:rPr lang="fr-FR" smtClean="0"/>
              <a:t>29/10/2025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3778723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03A170-DAFD-4D49-9A64-2E4769BC22AC}" type="datetimeFigureOut">
              <a:rPr lang="fr-FR" smtClean="0"/>
              <a:t>29/10/2025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2465306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B03A170-DAFD-4D49-9A64-2E4769BC22AC}" type="datetimeFigureOut">
              <a:rPr lang="fr-FR" smtClean="0"/>
              <a:t>29/10/2025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580321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6B03A170-DAFD-4D49-9A64-2E4769BC22AC}" type="datetimeFigureOut">
              <a:rPr lang="fr-FR" smtClean="0"/>
              <a:t>29/10/2025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415105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B03A170-DAFD-4D49-9A64-2E4769BC22AC}" type="datetimeFigureOut">
              <a:rPr lang="fr-FR" smtClean="0"/>
              <a:t>29/10/2025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857991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B03A170-DAFD-4D49-9A64-2E4769BC22AC}" type="datetimeFigureOut">
              <a:rPr lang="fr-FR" smtClean="0"/>
              <a:t>29/10/2025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390B7FB-0B9A-4ABB-B08D-59725648FE56}" type="slidenum">
              <a:rPr lang="fr-FR" smtClean="0"/>
              <a:t>‹N°›</a:t>
            </a:fld>
            <a:endParaRPr lang="fr-FR"/>
          </a:p>
        </p:txBody>
      </p:sp>
    </p:spTree>
    <p:extLst>
      <p:ext uri="{BB962C8B-B14F-4D97-AF65-F5344CB8AC3E}">
        <p14:creationId xmlns:p14="http://schemas.microsoft.com/office/powerpoint/2010/main" val="2871465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03A170-DAFD-4D49-9A64-2E4769BC22AC}" type="datetimeFigureOut">
              <a:rPr lang="fr-FR" smtClean="0"/>
              <a:t>29/10/2025</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90B7FB-0B9A-4ABB-B08D-59725648FE56}" type="slidenum">
              <a:rPr lang="fr-FR" smtClean="0"/>
              <a:t>‹N°›</a:t>
            </a:fld>
            <a:endParaRPr lang="fr-FR"/>
          </a:p>
        </p:txBody>
      </p:sp>
    </p:spTree>
    <p:extLst>
      <p:ext uri="{BB962C8B-B14F-4D97-AF65-F5344CB8AC3E}">
        <p14:creationId xmlns:p14="http://schemas.microsoft.com/office/powerpoint/2010/main" val="27311606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45FC8-2552-0C4A-0272-999B20D65B48}"/>
              </a:ext>
            </a:extLst>
          </p:cNvPr>
          <p:cNvSpPr>
            <a:spLocks noGrp="1"/>
          </p:cNvSpPr>
          <p:nvPr>
            <p:ph type="ctrTitle"/>
          </p:nvPr>
        </p:nvSpPr>
        <p:spPr/>
        <p:txBody>
          <a:bodyPr/>
          <a:lstStyle/>
          <a:p>
            <a:r>
              <a:rPr lang="fr-FR" dirty="0"/>
              <a:t>POO sous Python séance </a:t>
            </a:r>
            <a:r>
              <a:rPr lang="fr-FR" dirty="0" err="1"/>
              <a:t>num</a:t>
            </a:r>
            <a:r>
              <a:rPr lang="fr-FR" dirty="0"/>
              <a:t> 2</a:t>
            </a:r>
          </a:p>
        </p:txBody>
      </p:sp>
      <p:sp>
        <p:nvSpPr>
          <p:cNvPr id="3" name="Sous-titre 2">
            <a:extLst>
              <a:ext uri="{FF2B5EF4-FFF2-40B4-BE49-F238E27FC236}">
                <a16:creationId xmlns:a16="http://schemas.microsoft.com/office/drawing/2014/main" id="{C7EBE7DA-1154-164E-BCAF-AFCF444B1FB6}"/>
              </a:ext>
            </a:extLst>
          </p:cNvPr>
          <p:cNvSpPr>
            <a:spLocks noGrp="1"/>
          </p:cNvSpPr>
          <p:nvPr>
            <p:ph type="subTitle" idx="1"/>
          </p:nvPr>
        </p:nvSpPr>
        <p:spPr/>
        <p:txBody>
          <a:bodyPr/>
          <a:lstStyle/>
          <a:p>
            <a:pPr algn="r"/>
            <a:r>
              <a:rPr lang="fr-FR" dirty="0"/>
              <a:t>Enseignant : GHNEM</a:t>
            </a:r>
          </a:p>
        </p:txBody>
      </p:sp>
    </p:spTree>
    <p:extLst>
      <p:ext uri="{BB962C8B-B14F-4D97-AF65-F5344CB8AC3E}">
        <p14:creationId xmlns:p14="http://schemas.microsoft.com/office/powerpoint/2010/main" val="224997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7890C7-902B-373C-BB1B-CF8C3FA38D37}"/>
              </a:ext>
            </a:extLst>
          </p:cNvPr>
          <p:cNvSpPr>
            <a:spLocks noGrp="1"/>
          </p:cNvSpPr>
          <p:nvPr>
            <p:ph idx="1"/>
          </p:nvPr>
        </p:nvSpPr>
        <p:spPr>
          <a:xfrm>
            <a:off x="304799" y="352425"/>
            <a:ext cx="11458575" cy="6134100"/>
          </a:xfrm>
        </p:spPr>
        <p:txBody>
          <a:bodyPr/>
          <a:lstStyle/>
          <a:p>
            <a:r>
              <a:rPr lang="fr-FR" b="1" dirty="0"/>
              <a:t>Qu'est-ce qu'une classe en Python ?</a:t>
            </a:r>
          </a:p>
          <a:p>
            <a:r>
              <a:rPr lang="fr-FR" dirty="0"/>
              <a:t>Une classe est un modèle ou un plan pour créer des objets. Elle définit les attributs (données) et les méthodes (actions) que les objets auront.</a:t>
            </a:r>
          </a:p>
          <a:p>
            <a:r>
              <a:rPr lang="fr-FR" b="1" dirty="0"/>
              <a:t>Exemple simple :</a:t>
            </a:r>
            <a:r>
              <a:rPr lang="fr-FR" dirty="0"/>
              <a:t> La classe "Voiture" définit que toutes les voitures auront une marque, une couleur, et pourront démarrer.</a:t>
            </a:r>
          </a:p>
          <a:p>
            <a:endParaRPr lang="fr-FR" dirty="0"/>
          </a:p>
        </p:txBody>
      </p:sp>
    </p:spTree>
    <p:extLst>
      <p:ext uri="{BB962C8B-B14F-4D97-AF65-F5344CB8AC3E}">
        <p14:creationId xmlns:p14="http://schemas.microsoft.com/office/powerpoint/2010/main" val="371877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9659E67-6026-E6DA-A6F1-361BDDDF070E}"/>
              </a:ext>
            </a:extLst>
          </p:cNvPr>
          <p:cNvSpPr>
            <a:spLocks noGrp="1"/>
          </p:cNvSpPr>
          <p:nvPr>
            <p:ph idx="1"/>
          </p:nvPr>
        </p:nvSpPr>
        <p:spPr>
          <a:xfrm>
            <a:off x="419100" y="581024"/>
            <a:ext cx="11391900" cy="5857875"/>
          </a:xfrm>
        </p:spPr>
        <p:txBody>
          <a:bodyPr/>
          <a:lstStyle/>
          <a:p>
            <a:r>
              <a:rPr lang="fr-FR" dirty="0"/>
              <a:t>Allons étape par étape, en créant tout d'abord une classe vide (pas d’ attributs, pas de méthodes )</a:t>
            </a:r>
          </a:p>
        </p:txBody>
      </p:sp>
      <p:graphicFrame>
        <p:nvGraphicFramePr>
          <p:cNvPr id="5" name="Tableau 4">
            <a:extLst>
              <a:ext uri="{FF2B5EF4-FFF2-40B4-BE49-F238E27FC236}">
                <a16:creationId xmlns:a16="http://schemas.microsoft.com/office/drawing/2014/main" id="{1DC37119-228B-2A6B-789E-48E942989A64}"/>
              </a:ext>
            </a:extLst>
          </p:cNvPr>
          <p:cNvGraphicFramePr>
            <a:graphicFrameLocks noGrp="1"/>
          </p:cNvGraphicFramePr>
          <p:nvPr>
            <p:extLst>
              <p:ext uri="{D42A27DB-BD31-4B8C-83A1-F6EECF244321}">
                <p14:modId xmlns:p14="http://schemas.microsoft.com/office/powerpoint/2010/main" val="3776003980"/>
              </p:ext>
            </p:extLst>
          </p:nvPr>
        </p:nvGraphicFramePr>
        <p:xfrm>
          <a:off x="3898900" y="2910415"/>
          <a:ext cx="3273425" cy="2204508"/>
        </p:xfrm>
        <a:graphic>
          <a:graphicData uri="http://schemas.openxmlformats.org/drawingml/2006/table">
            <a:tbl>
              <a:tblPr firstRow="1" bandRow="1" bandCol="1">
                <a:tableStyleId>{616DA210-FB5B-4158-B5E0-FEB733F419BA}</a:tableStyleId>
              </a:tblPr>
              <a:tblGrid>
                <a:gridCol w="3273425">
                  <a:extLst>
                    <a:ext uri="{9D8B030D-6E8A-4147-A177-3AD203B41FA5}">
                      <a16:colId xmlns:a16="http://schemas.microsoft.com/office/drawing/2014/main" val="869893163"/>
                    </a:ext>
                  </a:extLst>
                </a:gridCol>
              </a:tblGrid>
              <a:tr h="734836">
                <a:tc>
                  <a:txBody>
                    <a:bodyPr/>
                    <a:lstStyle/>
                    <a:p>
                      <a:endParaRPr lang="fr-FR" dirty="0"/>
                    </a:p>
                    <a:p>
                      <a:r>
                        <a:rPr lang="fr-FR" dirty="0"/>
                        <a:t>     Produit</a:t>
                      </a:r>
                    </a:p>
                  </a:txBody>
                  <a:tcPr/>
                </a:tc>
                <a:extLst>
                  <a:ext uri="{0D108BD9-81ED-4DB2-BD59-A6C34878D82A}">
                    <a16:rowId xmlns:a16="http://schemas.microsoft.com/office/drawing/2014/main" val="1665938324"/>
                  </a:ext>
                </a:extLst>
              </a:tr>
              <a:tr h="734836">
                <a:tc>
                  <a:txBody>
                    <a:bodyPr/>
                    <a:lstStyle/>
                    <a:p>
                      <a:endParaRPr lang="fr-FR" dirty="0"/>
                    </a:p>
                  </a:txBody>
                  <a:tcPr/>
                </a:tc>
                <a:extLst>
                  <a:ext uri="{0D108BD9-81ED-4DB2-BD59-A6C34878D82A}">
                    <a16:rowId xmlns:a16="http://schemas.microsoft.com/office/drawing/2014/main" val="1907083919"/>
                  </a:ext>
                </a:extLst>
              </a:tr>
              <a:tr h="734836">
                <a:tc>
                  <a:txBody>
                    <a:bodyPr/>
                    <a:lstStyle/>
                    <a:p>
                      <a:endParaRPr lang="fr-FR" dirty="0"/>
                    </a:p>
                  </a:txBody>
                  <a:tcPr/>
                </a:tc>
                <a:extLst>
                  <a:ext uri="{0D108BD9-81ED-4DB2-BD59-A6C34878D82A}">
                    <a16:rowId xmlns:a16="http://schemas.microsoft.com/office/drawing/2014/main" val="505482314"/>
                  </a:ext>
                </a:extLst>
              </a:tr>
            </a:tbl>
          </a:graphicData>
        </a:graphic>
      </p:graphicFrame>
    </p:spTree>
    <p:extLst>
      <p:ext uri="{BB962C8B-B14F-4D97-AF65-F5344CB8AC3E}">
        <p14:creationId xmlns:p14="http://schemas.microsoft.com/office/powerpoint/2010/main" val="1646794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BB1877-400C-5D0D-DDFB-C13A98A79B03}"/>
              </a:ext>
            </a:extLst>
          </p:cNvPr>
          <p:cNvSpPr>
            <a:spLocks noGrp="1"/>
          </p:cNvSpPr>
          <p:nvPr>
            <p:ph idx="1"/>
          </p:nvPr>
        </p:nvSpPr>
        <p:spPr/>
        <p:txBody>
          <a:bodyPr/>
          <a:lstStyle/>
          <a:p>
            <a:pPr marL="0" indent="0">
              <a:buNone/>
            </a:pPr>
            <a:r>
              <a:rPr lang="fr-FR" dirty="0"/>
              <a:t>class Produit:</a:t>
            </a:r>
          </a:p>
          <a:p>
            <a:pPr marL="0" indent="0">
              <a:buNone/>
            </a:pPr>
            <a:r>
              <a:rPr lang="fr-FR" dirty="0"/>
              <a:t>    </a:t>
            </a:r>
            <a:r>
              <a:rPr lang="fr-FR" dirty="0" err="1"/>
              <a:t>pass</a:t>
            </a:r>
            <a:endParaRPr lang="fr-FR" dirty="0"/>
          </a:p>
          <a:p>
            <a:endParaRPr lang="fr-FR" dirty="0"/>
          </a:p>
        </p:txBody>
      </p:sp>
    </p:spTree>
    <p:extLst>
      <p:ext uri="{BB962C8B-B14F-4D97-AF65-F5344CB8AC3E}">
        <p14:creationId xmlns:p14="http://schemas.microsoft.com/office/powerpoint/2010/main" val="3186236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BA903ED-DA7A-521F-7CAE-254CB2353032}"/>
              </a:ext>
            </a:extLst>
          </p:cNvPr>
          <p:cNvSpPr>
            <a:spLocks noGrp="1"/>
          </p:cNvSpPr>
          <p:nvPr>
            <p:ph idx="1"/>
          </p:nvPr>
        </p:nvSpPr>
        <p:spPr/>
        <p:txBody>
          <a:bodyPr/>
          <a:lstStyle/>
          <a:p>
            <a:r>
              <a:rPr lang="fr-FR" b="1" dirty="0" err="1"/>
              <a:t>pass</a:t>
            </a:r>
            <a:r>
              <a:rPr lang="fr-FR" b="1" dirty="0"/>
              <a:t> : l'instruction "ne rien faire"</a:t>
            </a:r>
          </a:p>
          <a:p>
            <a:r>
              <a:rPr lang="fr-FR" dirty="0" err="1"/>
              <a:t>pass</a:t>
            </a:r>
            <a:r>
              <a:rPr lang="fr-FR" dirty="0"/>
              <a:t> est un </a:t>
            </a:r>
            <a:r>
              <a:rPr lang="fr-FR" b="1" dirty="0" err="1"/>
              <a:t>placeholder</a:t>
            </a:r>
            <a:r>
              <a:rPr lang="fr-FR" dirty="0"/>
              <a:t> (remplaçant) qui dit à Python : </a:t>
            </a:r>
            <a:r>
              <a:rPr lang="fr-FR" i="1" dirty="0"/>
              <a:t>"Continue, il n'y a rien à exécuter ici"</a:t>
            </a:r>
            <a:endParaRPr lang="fr-FR" dirty="0"/>
          </a:p>
          <a:p>
            <a:endParaRPr lang="fr-FR" dirty="0"/>
          </a:p>
        </p:txBody>
      </p:sp>
    </p:spTree>
    <p:extLst>
      <p:ext uri="{BB962C8B-B14F-4D97-AF65-F5344CB8AC3E}">
        <p14:creationId xmlns:p14="http://schemas.microsoft.com/office/powerpoint/2010/main" val="1333024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69B5F36-7EBE-1A50-7A15-7BF18728C206}"/>
              </a:ext>
            </a:extLst>
          </p:cNvPr>
          <p:cNvSpPr>
            <a:spLocks noGrp="1"/>
          </p:cNvSpPr>
          <p:nvPr>
            <p:ph idx="1"/>
          </p:nvPr>
        </p:nvSpPr>
        <p:spPr/>
        <p:txBody>
          <a:bodyPr/>
          <a:lstStyle/>
          <a:p>
            <a:r>
              <a:rPr lang="fr-FR" dirty="0"/>
              <a:t>Félicitation vous venez de créer la classe Produit</a:t>
            </a:r>
          </a:p>
        </p:txBody>
      </p:sp>
    </p:spTree>
    <p:extLst>
      <p:ext uri="{BB962C8B-B14F-4D97-AF65-F5344CB8AC3E}">
        <p14:creationId xmlns:p14="http://schemas.microsoft.com/office/powerpoint/2010/main" val="2614695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887D1-F718-DDE0-F60A-8030EC64AA6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0D44E9-33FC-6F9B-349E-8789C1A97990}"/>
              </a:ext>
            </a:extLst>
          </p:cNvPr>
          <p:cNvSpPr>
            <a:spLocks noGrp="1"/>
          </p:cNvSpPr>
          <p:nvPr>
            <p:ph idx="1"/>
          </p:nvPr>
        </p:nvSpPr>
        <p:spPr>
          <a:xfrm>
            <a:off x="304799" y="352425"/>
            <a:ext cx="11458575" cy="6134100"/>
          </a:xfrm>
        </p:spPr>
        <p:txBody>
          <a:bodyPr/>
          <a:lstStyle/>
          <a:p>
            <a:r>
              <a:rPr lang="fr-FR" b="1" dirty="0"/>
              <a:t>Qu'est-ce qu'un objet en Python ?</a:t>
            </a:r>
          </a:p>
          <a:p>
            <a:r>
              <a:rPr lang="fr-FR" dirty="0"/>
              <a:t>Un objet est une instance d'une classe. C'est une variable créée à partir du modèle défini par la classe.</a:t>
            </a:r>
          </a:p>
          <a:p>
            <a:r>
              <a:rPr lang="fr-FR" b="1" dirty="0"/>
              <a:t>Exemple :</a:t>
            </a:r>
            <a:r>
              <a:rPr lang="fr-FR" dirty="0"/>
              <a:t> Si "Voiture" est une classe, alors "</a:t>
            </a:r>
            <a:r>
              <a:rPr lang="fr-FR" dirty="0" err="1"/>
              <a:t>ma_voiture</a:t>
            </a:r>
            <a:r>
              <a:rPr lang="fr-FR" dirty="0"/>
              <a:t> = Voiture()" crée un objet de type Voiture.</a:t>
            </a:r>
          </a:p>
          <a:p>
            <a:endParaRPr lang="fr-FR" dirty="0"/>
          </a:p>
        </p:txBody>
      </p:sp>
    </p:spTree>
    <p:extLst>
      <p:ext uri="{BB962C8B-B14F-4D97-AF65-F5344CB8AC3E}">
        <p14:creationId xmlns:p14="http://schemas.microsoft.com/office/powerpoint/2010/main" val="3541379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075959-D71E-D039-B9B1-DD2B16488C29}"/>
              </a:ext>
            </a:extLst>
          </p:cNvPr>
          <p:cNvSpPr>
            <a:spLocks noGrp="1"/>
          </p:cNvSpPr>
          <p:nvPr>
            <p:ph type="title"/>
          </p:nvPr>
        </p:nvSpPr>
        <p:spPr/>
        <p:txBody>
          <a:bodyPr/>
          <a:lstStyle/>
          <a:p>
            <a:r>
              <a:rPr lang="fr-FR" dirty="0"/>
              <a:t>Allons donc instancier un produit (créer un produit nommé p1)</a:t>
            </a:r>
          </a:p>
        </p:txBody>
      </p:sp>
      <p:sp>
        <p:nvSpPr>
          <p:cNvPr id="3" name="Espace réservé du contenu 2">
            <a:extLst>
              <a:ext uri="{FF2B5EF4-FFF2-40B4-BE49-F238E27FC236}">
                <a16:creationId xmlns:a16="http://schemas.microsoft.com/office/drawing/2014/main" id="{E3CF65BF-A5FD-91A6-108F-7714BED5D5C2}"/>
              </a:ext>
            </a:extLst>
          </p:cNvPr>
          <p:cNvSpPr>
            <a:spLocks noGrp="1"/>
          </p:cNvSpPr>
          <p:nvPr>
            <p:ph idx="1"/>
          </p:nvPr>
        </p:nvSpPr>
        <p:spPr/>
        <p:txBody>
          <a:bodyPr/>
          <a:lstStyle/>
          <a:p>
            <a:r>
              <a:rPr lang="fr-FR" dirty="0"/>
              <a:t> p1=Produit()</a:t>
            </a:r>
          </a:p>
          <a:p>
            <a:endParaRPr lang="fr-FR" dirty="0"/>
          </a:p>
        </p:txBody>
      </p:sp>
    </p:spTree>
    <p:extLst>
      <p:ext uri="{BB962C8B-B14F-4D97-AF65-F5344CB8AC3E}">
        <p14:creationId xmlns:p14="http://schemas.microsoft.com/office/powerpoint/2010/main" val="3546808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30D9FDC-C1EB-1098-36F7-AE0D4733BE1B}"/>
              </a:ext>
            </a:extLst>
          </p:cNvPr>
          <p:cNvSpPr>
            <a:spLocks noGrp="1"/>
          </p:cNvSpPr>
          <p:nvPr>
            <p:ph idx="1"/>
          </p:nvPr>
        </p:nvSpPr>
        <p:spPr/>
        <p:txBody>
          <a:bodyPr/>
          <a:lstStyle/>
          <a:p>
            <a:r>
              <a:rPr lang="fr-FR" dirty="0"/>
              <a:t>Maintenant on va mentionner à python qu’on souhaite ajouter un attribut ‘nom’ pour la classe Produit (et on profite de cette occasion pour affecter une valeur pour le nom de p1), et dorénavant n’ importe quel nouvel objet aura son attribut nom :</a:t>
            </a:r>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302603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1390992-E6D4-B306-E25F-6F75069CCCF2}"/>
              </a:ext>
            </a:extLst>
          </p:cNvPr>
          <p:cNvSpPr>
            <a:spLocks noGrp="1"/>
          </p:cNvSpPr>
          <p:nvPr>
            <p:ph idx="1"/>
          </p:nvPr>
        </p:nvSpPr>
        <p:spPr>
          <a:xfrm>
            <a:off x="563526" y="510363"/>
            <a:ext cx="10790274" cy="5666600"/>
          </a:xfrm>
        </p:spPr>
        <p:txBody>
          <a:bodyPr/>
          <a:lstStyle/>
          <a:p>
            <a:pPr marL="0" indent="0">
              <a:buNone/>
            </a:pPr>
            <a:endParaRPr lang="fr-FR" dirty="0"/>
          </a:p>
          <a:p>
            <a:pPr marL="0" indent="0">
              <a:buNone/>
            </a:pPr>
            <a:endParaRPr lang="fr-FR" dirty="0"/>
          </a:p>
          <a:p>
            <a:pPr marL="0" indent="0">
              <a:buNone/>
            </a:pPr>
            <a:r>
              <a:rPr lang="fr-FR" dirty="0"/>
              <a:t>p1.nom="Ordinateur </a:t>
            </a:r>
            <a:r>
              <a:rPr lang="fr-FR" dirty="0" err="1"/>
              <a:t>DeLL</a:t>
            </a:r>
            <a:r>
              <a:rPr lang="fr-FR" dirty="0"/>
              <a:t>"</a:t>
            </a:r>
          </a:p>
        </p:txBody>
      </p:sp>
    </p:spTree>
    <p:extLst>
      <p:ext uri="{BB962C8B-B14F-4D97-AF65-F5344CB8AC3E}">
        <p14:creationId xmlns:p14="http://schemas.microsoft.com/office/powerpoint/2010/main" val="2709034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22B0-9FEC-D80F-F326-5B3B194A4AA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097A185-F269-7B68-D88F-D9A540C59993}"/>
              </a:ext>
            </a:extLst>
          </p:cNvPr>
          <p:cNvSpPr>
            <a:spLocks noGrp="1"/>
          </p:cNvSpPr>
          <p:nvPr>
            <p:ph idx="1"/>
          </p:nvPr>
        </p:nvSpPr>
        <p:spPr>
          <a:xfrm>
            <a:off x="419100" y="581024"/>
            <a:ext cx="11391900" cy="5857875"/>
          </a:xfrm>
        </p:spPr>
        <p:txBody>
          <a:bodyPr/>
          <a:lstStyle/>
          <a:p>
            <a:r>
              <a:rPr lang="fr-FR" dirty="0"/>
              <a:t>Maintenant voila le nouveau  modèle  de la classe produit, chaque nouveau produit aura un nom </a:t>
            </a:r>
          </a:p>
        </p:txBody>
      </p:sp>
      <p:graphicFrame>
        <p:nvGraphicFramePr>
          <p:cNvPr id="5" name="Tableau 4">
            <a:extLst>
              <a:ext uri="{FF2B5EF4-FFF2-40B4-BE49-F238E27FC236}">
                <a16:creationId xmlns:a16="http://schemas.microsoft.com/office/drawing/2014/main" id="{1E3962F3-F161-0FD4-7E26-E2EC75178AB9}"/>
              </a:ext>
            </a:extLst>
          </p:cNvPr>
          <p:cNvGraphicFramePr>
            <a:graphicFrameLocks noGrp="1"/>
          </p:cNvGraphicFramePr>
          <p:nvPr>
            <p:extLst>
              <p:ext uri="{D42A27DB-BD31-4B8C-83A1-F6EECF244321}">
                <p14:modId xmlns:p14="http://schemas.microsoft.com/office/powerpoint/2010/main" val="1859372576"/>
              </p:ext>
            </p:extLst>
          </p:nvPr>
        </p:nvGraphicFramePr>
        <p:xfrm>
          <a:off x="3898900" y="2910415"/>
          <a:ext cx="3273425" cy="2204508"/>
        </p:xfrm>
        <a:graphic>
          <a:graphicData uri="http://schemas.openxmlformats.org/drawingml/2006/table">
            <a:tbl>
              <a:tblPr firstRow="1" bandRow="1" bandCol="1">
                <a:tableStyleId>{616DA210-FB5B-4158-B5E0-FEB733F419BA}</a:tableStyleId>
              </a:tblPr>
              <a:tblGrid>
                <a:gridCol w="3273425">
                  <a:extLst>
                    <a:ext uri="{9D8B030D-6E8A-4147-A177-3AD203B41FA5}">
                      <a16:colId xmlns:a16="http://schemas.microsoft.com/office/drawing/2014/main" val="869893163"/>
                    </a:ext>
                  </a:extLst>
                </a:gridCol>
              </a:tblGrid>
              <a:tr h="734836">
                <a:tc>
                  <a:txBody>
                    <a:bodyPr/>
                    <a:lstStyle/>
                    <a:p>
                      <a:endParaRPr lang="fr-FR" dirty="0"/>
                    </a:p>
                    <a:p>
                      <a:r>
                        <a:rPr lang="fr-FR" dirty="0"/>
                        <a:t>     Produit</a:t>
                      </a:r>
                    </a:p>
                  </a:txBody>
                  <a:tcPr/>
                </a:tc>
                <a:extLst>
                  <a:ext uri="{0D108BD9-81ED-4DB2-BD59-A6C34878D82A}">
                    <a16:rowId xmlns:a16="http://schemas.microsoft.com/office/drawing/2014/main" val="1665938324"/>
                  </a:ext>
                </a:extLst>
              </a:tr>
              <a:tr h="734836">
                <a:tc>
                  <a:txBody>
                    <a:bodyPr/>
                    <a:lstStyle/>
                    <a:p>
                      <a:r>
                        <a:rPr lang="fr-FR" sz="3200" b="1" dirty="0">
                          <a:solidFill>
                            <a:srgbClr val="EE0000"/>
                          </a:solidFill>
                        </a:rPr>
                        <a:t>nom</a:t>
                      </a:r>
                    </a:p>
                  </a:txBody>
                  <a:tcPr/>
                </a:tc>
                <a:extLst>
                  <a:ext uri="{0D108BD9-81ED-4DB2-BD59-A6C34878D82A}">
                    <a16:rowId xmlns:a16="http://schemas.microsoft.com/office/drawing/2014/main" val="1907083919"/>
                  </a:ext>
                </a:extLst>
              </a:tr>
              <a:tr h="734836">
                <a:tc>
                  <a:txBody>
                    <a:bodyPr/>
                    <a:lstStyle/>
                    <a:p>
                      <a:endParaRPr lang="fr-FR" dirty="0"/>
                    </a:p>
                  </a:txBody>
                  <a:tcPr/>
                </a:tc>
                <a:extLst>
                  <a:ext uri="{0D108BD9-81ED-4DB2-BD59-A6C34878D82A}">
                    <a16:rowId xmlns:a16="http://schemas.microsoft.com/office/drawing/2014/main" val="505482314"/>
                  </a:ext>
                </a:extLst>
              </a:tr>
            </a:tbl>
          </a:graphicData>
        </a:graphic>
      </p:graphicFrame>
    </p:spTree>
    <p:extLst>
      <p:ext uri="{BB962C8B-B14F-4D97-AF65-F5344CB8AC3E}">
        <p14:creationId xmlns:p14="http://schemas.microsoft.com/office/powerpoint/2010/main" val="228856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83716-FD42-2D25-F96D-476B9B93CB1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8333DC7-DD36-A5D1-7058-00DC760F9F2E}"/>
              </a:ext>
            </a:extLst>
          </p:cNvPr>
          <p:cNvSpPr>
            <a:spLocks noGrp="1"/>
          </p:cNvSpPr>
          <p:nvPr>
            <p:ph idx="1"/>
          </p:nvPr>
        </p:nvSpPr>
        <p:spPr>
          <a:xfrm>
            <a:off x="304799" y="352425"/>
            <a:ext cx="11458575" cy="6134100"/>
          </a:xfrm>
        </p:spPr>
        <p:txBody>
          <a:bodyPr>
            <a:normAutofit/>
          </a:bodyPr>
          <a:lstStyle/>
          <a:p>
            <a:r>
              <a:rPr lang="fr-FR" b="1" dirty="0"/>
              <a:t>Qu'est-ce qu’un constructeur en Python ?</a:t>
            </a:r>
          </a:p>
          <a:p>
            <a:r>
              <a:rPr lang="fr-FR" b="1" dirty="0"/>
              <a:t>__init__ : le constructeur</a:t>
            </a:r>
          </a:p>
          <a:p>
            <a:r>
              <a:rPr lang="fr-FR" dirty="0"/>
              <a:t>C'est une </a:t>
            </a:r>
            <a:r>
              <a:rPr lang="fr-FR" b="1" dirty="0"/>
              <a:t>méthode spéciale</a:t>
            </a:r>
            <a:r>
              <a:rPr lang="fr-FR" dirty="0"/>
              <a:t> appelée automatiquement quand on crée un nouvel objet</a:t>
            </a:r>
          </a:p>
          <a:p>
            <a:r>
              <a:rPr lang="fr-FR" dirty="0"/>
              <a:t>Son nom signifie "</a:t>
            </a:r>
            <a:r>
              <a:rPr lang="fr-FR" dirty="0" err="1"/>
              <a:t>initialize</a:t>
            </a:r>
            <a:r>
              <a:rPr lang="fr-FR" dirty="0"/>
              <a:t>" (initialiser)</a:t>
            </a:r>
          </a:p>
          <a:p>
            <a:r>
              <a:rPr lang="fr-FR" dirty="0"/>
              <a:t>Elle sert à </a:t>
            </a:r>
            <a:r>
              <a:rPr lang="fr-FR" b="1" dirty="0"/>
              <a:t>initialiser les attributs</a:t>
            </a:r>
            <a:r>
              <a:rPr lang="fr-FR" dirty="0"/>
              <a:t> de l'objet quand il est créé</a:t>
            </a:r>
          </a:p>
          <a:p>
            <a:endParaRPr lang="fr-FR" dirty="0"/>
          </a:p>
          <a:p>
            <a:r>
              <a:rPr lang="fr-FR" b="1" dirty="0"/>
              <a:t>Qu'est-ce que </a:t>
            </a:r>
            <a:r>
              <a:rPr lang="fr-FR" b="1" dirty="0" err="1"/>
              <a:t>signigie</a:t>
            </a:r>
            <a:r>
              <a:rPr lang="fr-FR" b="1" dirty="0"/>
              <a:t> ‘self’ en Python ?</a:t>
            </a:r>
          </a:p>
          <a:p>
            <a:r>
              <a:rPr lang="fr-FR" b="1" dirty="0"/>
              <a:t>self : référence à l'instance</a:t>
            </a:r>
          </a:p>
          <a:p>
            <a:r>
              <a:rPr lang="fr-FR" dirty="0"/>
              <a:t>self représente </a:t>
            </a:r>
            <a:r>
              <a:rPr lang="fr-FR" b="1" dirty="0"/>
              <a:t>l'instance courante</a:t>
            </a:r>
            <a:r>
              <a:rPr lang="fr-FR" dirty="0"/>
              <a:t> de la classe</a:t>
            </a:r>
          </a:p>
          <a:p>
            <a:r>
              <a:rPr lang="fr-FR" dirty="0"/>
              <a:t>C'est comme dire "moi-même" pour l'objet</a:t>
            </a:r>
          </a:p>
          <a:p>
            <a:r>
              <a:rPr lang="fr-FR" dirty="0"/>
              <a:t>Permet d'accéder aux attributs et méthodes de CET objet précis</a:t>
            </a:r>
          </a:p>
          <a:p>
            <a:pPr marL="0" indent="0">
              <a:buNone/>
            </a:pPr>
            <a:endParaRPr lang="fr-FR" dirty="0"/>
          </a:p>
        </p:txBody>
      </p:sp>
    </p:spTree>
    <p:extLst>
      <p:ext uri="{BB962C8B-B14F-4D97-AF65-F5344CB8AC3E}">
        <p14:creationId xmlns:p14="http://schemas.microsoft.com/office/powerpoint/2010/main" val="2497140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A8610FA-6C49-BC4E-B5FC-C91F5E5FCB83}"/>
              </a:ext>
            </a:extLst>
          </p:cNvPr>
          <p:cNvSpPr>
            <a:spLocks noGrp="1"/>
          </p:cNvSpPr>
          <p:nvPr>
            <p:ph idx="1"/>
          </p:nvPr>
        </p:nvSpPr>
        <p:spPr>
          <a:xfrm>
            <a:off x="361507" y="659219"/>
            <a:ext cx="10992293" cy="5517744"/>
          </a:xfrm>
        </p:spPr>
        <p:txBody>
          <a:bodyPr/>
          <a:lstStyle/>
          <a:p>
            <a:r>
              <a:rPr lang="fr-FR" dirty="0"/>
              <a:t>Donc </a:t>
            </a:r>
          </a:p>
          <a:p>
            <a:r>
              <a:rPr lang="fr-FR" dirty="0"/>
              <a:t>Si la classe  "Voiture" est une classe ayant un constructeur, on peut </a:t>
            </a:r>
            <a:r>
              <a:rPr lang="fr-FR" b="1" dirty="0">
                <a:solidFill>
                  <a:srgbClr val="EE0000"/>
                </a:solidFill>
              </a:rPr>
              <a:t>au moment</a:t>
            </a:r>
            <a:r>
              <a:rPr lang="fr-FR" dirty="0"/>
              <a:t> de l’instanciation affecter des valeurs aux attributs. </a:t>
            </a:r>
          </a:p>
          <a:p>
            <a:r>
              <a:rPr lang="fr-FR" b="1" dirty="0"/>
              <a:t>Exemple :</a:t>
            </a:r>
            <a:r>
              <a:rPr lang="fr-FR" dirty="0"/>
              <a:t> Si "Voiture" est une classe ayant un constructeur, alors   :  </a:t>
            </a:r>
          </a:p>
          <a:p>
            <a:pPr marL="0" indent="0">
              <a:buNone/>
            </a:pPr>
            <a:r>
              <a:rPr lang="fr-FR" dirty="0"/>
              <a:t>         </a:t>
            </a:r>
            <a:r>
              <a:rPr lang="fr-FR" dirty="0" err="1"/>
              <a:t>ma_voiture</a:t>
            </a:r>
            <a:r>
              <a:rPr lang="fr-FR" dirty="0"/>
              <a:t> = Voiture("Ferrari")      </a:t>
            </a:r>
          </a:p>
          <a:p>
            <a:pPr marL="0" indent="0">
              <a:buNone/>
            </a:pPr>
            <a:r>
              <a:rPr lang="fr-FR" dirty="0"/>
              <a:t>    crée un objet de type Voiture ayant "Ferrari" comme valeur de son attribut marque.</a:t>
            </a:r>
          </a:p>
          <a:p>
            <a:endParaRPr lang="fr-FR" dirty="0"/>
          </a:p>
        </p:txBody>
      </p:sp>
    </p:spTree>
    <p:extLst>
      <p:ext uri="{BB962C8B-B14F-4D97-AF65-F5344CB8AC3E}">
        <p14:creationId xmlns:p14="http://schemas.microsoft.com/office/powerpoint/2010/main" val="2257492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3C344B-7828-F07D-0EF3-8672E58AFFD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3617DF0-B2F1-D4BE-A69F-FDED59B6E387}"/>
              </a:ext>
            </a:extLst>
          </p:cNvPr>
          <p:cNvSpPr>
            <a:spLocks noGrp="1"/>
          </p:cNvSpPr>
          <p:nvPr>
            <p:ph idx="1"/>
          </p:nvPr>
        </p:nvSpPr>
        <p:spPr/>
        <p:txBody>
          <a:bodyPr/>
          <a:lstStyle/>
          <a:p>
            <a:r>
              <a:rPr lang="fr-FR" dirty="0"/>
              <a:t>Maintenant on va fermer l’ancienne console d’exécution  et on ouvre un nouveau code, on va créer notre classe , mais en utilisant un constructeur  cette fois :</a:t>
            </a:r>
          </a:p>
        </p:txBody>
      </p:sp>
    </p:spTree>
    <p:extLst>
      <p:ext uri="{BB962C8B-B14F-4D97-AF65-F5344CB8AC3E}">
        <p14:creationId xmlns:p14="http://schemas.microsoft.com/office/powerpoint/2010/main" val="253955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6C60-1F1E-2787-C126-24C1B255D0C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F71AD4-E1C0-E000-576D-AC949300E1BE}"/>
              </a:ext>
            </a:extLst>
          </p:cNvPr>
          <p:cNvSpPr>
            <a:spLocks noGrp="1"/>
          </p:cNvSpPr>
          <p:nvPr>
            <p:ph idx="1"/>
          </p:nvPr>
        </p:nvSpPr>
        <p:spPr>
          <a:xfrm>
            <a:off x="419100" y="581024"/>
            <a:ext cx="11391900" cy="5857875"/>
          </a:xfrm>
        </p:spPr>
        <p:txBody>
          <a:bodyPr/>
          <a:lstStyle/>
          <a:p>
            <a:pPr marL="0" indent="0">
              <a:buNone/>
            </a:pPr>
            <a:r>
              <a:rPr lang="fr-FR" dirty="0"/>
              <a:t>class Produit:</a:t>
            </a:r>
          </a:p>
          <a:p>
            <a:pPr marL="0" indent="0">
              <a:buNone/>
            </a:pPr>
            <a:r>
              <a:rPr lang="fr-FR" dirty="0"/>
              <a:t>    </a:t>
            </a:r>
            <a:r>
              <a:rPr lang="fr-FR" dirty="0" err="1"/>
              <a:t>def</a:t>
            </a:r>
            <a:r>
              <a:rPr lang="fr-FR" dirty="0"/>
              <a:t> __init__(self, nom):</a:t>
            </a:r>
          </a:p>
          <a:p>
            <a:pPr marL="0" indent="0">
              <a:buNone/>
            </a:pPr>
            <a:r>
              <a:rPr lang="fr-FR" dirty="0"/>
              <a:t>        </a:t>
            </a:r>
            <a:r>
              <a:rPr lang="fr-FR" dirty="0" err="1"/>
              <a:t>self.nom</a:t>
            </a:r>
            <a:r>
              <a:rPr lang="fr-FR" dirty="0"/>
              <a:t> = nom</a:t>
            </a:r>
          </a:p>
          <a:p>
            <a:pPr marL="0" indent="0">
              <a:buNone/>
            </a:pPr>
            <a:endParaRPr lang="fr-FR" dirty="0"/>
          </a:p>
        </p:txBody>
      </p:sp>
    </p:spTree>
    <p:extLst>
      <p:ext uri="{BB962C8B-B14F-4D97-AF65-F5344CB8AC3E}">
        <p14:creationId xmlns:p14="http://schemas.microsoft.com/office/powerpoint/2010/main" val="3690587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3BDC-24A4-5252-6B52-8F15F3439F9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A3B4AD2-FA54-662D-537E-A866C8258B91}"/>
              </a:ext>
            </a:extLst>
          </p:cNvPr>
          <p:cNvSpPr>
            <a:spLocks noGrp="1"/>
          </p:cNvSpPr>
          <p:nvPr>
            <p:ph idx="1"/>
          </p:nvPr>
        </p:nvSpPr>
        <p:spPr>
          <a:xfrm>
            <a:off x="419100" y="581024"/>
            <a:ext cx="11391900" cy="5857875"/>
          </a:xfrm>
        </p:spPr>
        <p:txBody>
          <a:bodyPr/>
          <a:lstStyle/>
          <a:p>
            <a:pPr marL="0" indent="0">
              <a:buNone/>
            </a:pPr>
            <a:r>
              <a:rPr lang="fr-FR" dirty="0"/>
              <a:t>Et pour instancier :</a:t>
            </a:r>
          </a:p>
          <a:p>
            <a:pPr marL="0" indent="0">
              <a:buNone/>
            </a:pPr>
            <a:endParaRPr lang="fr-FR" dirty="0"/>
          </a:p>
          <a:p>
            <a:pPr marL="0" indent="0">
              <a:buNone/>
            </a:pPr>
            <a:endParaRPr lang="fr-FR" dirty="0"/>
          </a:p>
          <a:p>
            <a:pPr marL="0" indent="0">
              <a:buNone/>
            </a:pPr>
            <a:endParaRPr lang="fr-FR" dirty="0"/>
          </a:p>
          <a:p>
            <a:pPr marL="0" indent="0">
              <a:buNone/>
            </a:pPr>
            <a:r>
              <a:rPr lang="fr-FR" dirty="0"/>
              <a:t>p1 = Produit("Ordinateur </a:t>
            </a:r>
            <a:r>
              <a:rPr lang="fr-FR" dirty="0" err="1"/>
              <a:t>DeLL</a:t>
            </a:r>
            <a:r>
              <a:rPr lang="fr-FR" dirty="0"/>
              <a:t>")</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4007010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D83C6A-C55B-7F57-01B3-AEDE627165CA}"/>
              </a:ext>
            </a:extLst>
          </p:cNvPr>
          <p:cNvSpPr>
            <a:spLocks noGrp="1"/>
          </p:cNvSpPr>
          <p:nvPr>
            <p:ph type="title"/>
          </p:nvPr>
        </p:nvSpPr>
        <p:spPr/>
        <p:txBody>
          <a:bodyPr/>
          <a:lstStyle/>
          <a:p>
            <a:r>
              <a:rPr lang="fr-FR" dirty="0"/>
              <a:t>Que va afficher </a:t>
            </a:r>
            <a:r>
              <a:rPr lang="fr-FR" dirty="0" err="1"/>
              <a:t>print</a:t>
            </a:r>
            <a:r>
              <a:rPr lang="fr-FR" dirty="0"/>
              <a:t> ?</a:t>
            </a:r>
          </a:p>
        </p:txBody>
      </p:sp>
      <p:sp>
        <p:nvSpPr>
          <p:cNvPr id="3" name="Espace réservé du contenu 2">
            <a:extLst>
              <a:ext uri="{FF2B5EF4-FFF2-40B4-BE49-F238E27FC236}">
                <a16:creationId xmlns:a16="http://schemas.microsoft.com/office/drawing/2014/main" id="{CA9F63CE-064E-7563-A6F7-347847193E50}"/>
              </a:ext>
            </a:extLst>
          </p:cNvPr>
          <p:cNvSpPr>
            <a:spLocks noGrp="1"/>
          </p:cNvSpPr>
          <p:nvPr>
            <p:ph idx="1"/>
          </p:nvPr>
        </p:nvSpPr>
        <p:spPr/>
        <p:txBody>
          <a:bodyPr/>
          <a:lstStyle/>
          <a:p>
            <a:pPr marL="0" indent="0">
              <a:buNone/>
            </a:pPr>
            <a:r>
              <a:rPr lang="fr-FR" dirty="0" err="1"/>
              <a:t>print</a:t>
            </a:r>
            <a:r>
              <a:rPr lang="fr-FR" dirty="0"/>
              <a:t>(p1.nom)</a:t>
            </a:r>
          </a:p>
        </p:txBody>
      </p:sp>
    </p:spTree>
    <p:extLst>
      <p:ext uri="{BB962C8B-B14F-4D97-AF65-F5344CB8AC3E}">
        <p14:creationId xmlns:p14="http://schemas.microsoft.com/office/powerpoint/2010/main" val="4081483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C23CF-F231-E0EB-906C-D162403243F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8F87D2-D927-7721-ED82-BB2E7888F8BC}"/>
              </a:ext>
            </a:extLst>
          </p:cNvPr>
          <p:cNvSpPr>
            <a:spLocks noGrp="1"/>
          </p:cNvSpPr>
          <p:nvPr>
            <p:ph idx="1"/>
          </p:nvPr>
        </p:nvSpPr>
        <p:spPr>
          <a:xfrm>
            <a:off x="419100" y="581024"/>
            <a:ext cx="11391900" cy="5857875"/>
          </a:xfrm>
        </p:spPr>
        <p:txBody>
          <a:bodyPr/>
          <a:lstStyle/>
          <a:p>
            <a:r>
              <a:rPr lang="fr-FR" dirty="0"/>
              <a:t>Ajoutons un  autre attribut ‘prix’</a:t>
            </a:r>
          </a:p>
        </p:txBody>
      </p:sp>
      <p:graphicFrame>
        <p:nvGraphicFramePr>
          <p:cNvPr id="5" name="Tableau 4">
            <a:extLst>
              <a:ext uri="{FF2B5EF4-FFF2-40B4-BE49-F238E27FC236}">
                <a16:creationId xmlns:a16="http://schemas.microsoft.com/office/drawing/2014/main" id="{B74B488A-CB4F-881D-B0BB-90C88C355F4A}"/>
              </a:ext>
            </a:extLst>
          </p:cNvPr>
          <p:cNvGraphicFramePr>
            <a:graphicFrameLocks noGrp="1"/>
          </p:cNvGraphicFramePr>
          <p:nvPr>
            <p:extLst>
              <p:ext uri="{D42A27DB-BD31-4B8C-83A1-F6EECF244321}">
                <p14:modId xmlns:p14="http://schemas.microsoft.com/office/powerpoint/2010/main" val="2428640199"/>
              </p:ext>
            </p:extLst>
          </p:nvPr>
        </p:nvGraphicFramePr>
        <p:xfrm>
          <a:off x="3898900" y="2910415"/>
          <a:ext cx="3273425" cy="2204508"/>
        </p:xfrm>
        <a:graphic>
          <a:graphicData uri="http://schemas.openxmlformats.org/drawingml/2006/table">
            <a:tbl>
              <a:tblPr firstRow="1" bandRow="1" bandCol="1">
                <a:tableStyleId>{616DA210-FB5B-4158-B5E0-FEB733F419BA}</a:tableStyleId>
              </a:tblPr>
              <a:tblGrid>
                <a:gridCol w="3273425">
                  <a:extLst>
                    <a:ext uri="{9D8B030D-6E8A-4147-A177-3AD203B41FA5}">
                      <a16:colId xmlns:a16="http://schemas.microsoft.com/office/drawing/2014/main" val="869893163"/>
                    </a:ext>
                  </a:extLst>
                </a:gridCol>
              </a:tblGrid>
              <a:tr h="734836">
                <a:tc>
                  <a:txBody>
                    <a:bodyPr/>
                    <a:lstStyle/>
                    <a:p>
                      <a:endParaRPr lang="fr-FR" dirty="0"/>
                    </a:p>
                    <a:p>
                      <a:r>
                        <a:rPr lang="fr-FR" dirty="0"/>
                        <a:t>     Produit</a:t>
                      </a:r>
                    </a:p>
                  </a:txBody>
                  <a:tcPr/>
                </a:tc>
                <a:extLst>
                  <a:ext uri="{0D108BD9-81ED-4DB2-BD59-A6C34878D82A}">
                    <a16:rowId xmlns:a16="http://schemas.microsoft.com/office/drawing/2014/main" val="1665938324"/>
                  </a:ext>
                </a:extLst>
              </a:tr>
              <a:tr h="734836">
                <a:tc>
                  <a:txBody>
                    <a:bodyPr/>
                    <a:lstStyle/>
                    <a:p>
                      <a:r>
                        <a:rPr lang="fr-FR" dirty="0"/>
                        <a:t>Nom</a:t>
                      </a:r>
                    </a:p>
                    <a:p>
                      <a:r>
                        <a:rPr lang="fr-FR" sz="2400" b="1" dirty="0">
                          <a:solidFill>
                            <a:srgbClr val="00B050"/>
                          </a:solidFill>
                        </a:rPr>
                        <a:t>Prix </a:t>
                      </a:r>
                    </a:p>
                  </a:txBody>
                  <a:tcPr/>
                </a:tc>
                <a:extLst>
                  <a:ext uri="{0D108BD9-81ED-4DB2-BD59-A6C34878D82A}">
                    <a16:rowId xmlns:a16="http://schemas.microsoft.com/office/drawing/2014/main" val="1907083919"/>
                  </a:ext>
                </a:extLst>
              </a:tr>
              <a:tr h="734836">
                <a:tc>
                  <a:txBody>
                    <a:bodyPr/>
                    <a:lstStyle/>
                    <a:p>
                      <a:endParaRPr lang="fr-FR" dirty="0"/>
                    </a:p>
                  </a:txBody>
                  <a:tcPr/>
                </a:tc>
                <a:extLst>
                  <a:ext uri="{0D108BD9-81ED-4DB2-BD59-A6C34878D82A}">
                    <a16:rowId xmlns:a16="http://schemas.microsoft.com/office/drawing/2014/main" val="505482314"/>
                  </a:ext>
                </a:extLst>
              </a:tr>
            </a:tbl>
          </a:graphicData>
        </a:graphic>
      </p:graphicFrame>
    </p:spTree>
    <p:extLst>
      <p:ext uri="{BB962C8B-B14F-4D97-AF65-F5344CB8AC3E}">
        <p14:creationId xmlns:p14="http://schemas.microsoft.com/office/powerpoint/2010/main" val="2385578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DD21-B8C1-646F-F949-17DE4833ECC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77DE1EE-5DDC-3816-F40C-3B47124A1695}"/>
              </a:ext>
            </a:extLst>
          </p:cNvPr>
          <p:cNvSpPr>
            <a:spLocks noGrp="1"/>
          </p:cNvSpPr>
          <p:nvPr>
            <p:ph idx="1"/>
          </p:nvPr>
        </p:nvSpPr>
        <p:spPr>
          <a:xfrm>
            <a:off x="419100" y="581024"/>
            <a:ext cx="11391900" cy="5857875"/>
          </a:xfrm>
        </p:spPr>
        <p:txBody>
          <a:bodyPr/>
          <a:lstStyle/>
          <a:p>
            <a:pPr marL="0" indent="0">
              <a:buNone/>
            </a:pPr>
            <a:r>
              <a:rPr lang="fr-FR" dirty="0"/>
              <a:t>class Produit:</a:t>
            </a:r>
          </a:p>
          <a:p>
            <a:pPr marL="0" indent="0">
              <a:buNone/>
            </a:pPr>
            <a:r>
              <a:rPr lang="fr-FR" dirty="0"/>
              <a:t>   </a:t>
            </a:r>
            <a:r>
              <a:rPr lang="fr-FR" dirty="0" err="1"/>
              <a:t>def</a:t>
            </a:r>
            <a:r>
              <a:rPr lang="fr-FR" dirty="0"/>
              <a:t> __init__(self, nom, prix):</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p:txBody>
      </p:sp>
    </p:spTree>
    <p:extLst>
      <p:ext uri="{BB962C8B-B14F-4D97-AF65-F5344CB8AC3E}">
        <p14:creationId xmlns:p14="http://schemas.microsoft.com/office/powerpoint/2010/main" val="3761294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80A2-487C-90A7-6993-BA1A372E787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A47519F-A038-1430-CB10-0F4953863B7E}"/>
              </a:ext>
            </a:extLst>
          </p:cNvPr>
          <p:cNvSpPr>
            <a:spLocks noGrp="1"/>
          </p:cNvSpPr>
          <p:nvPr>
            <p:ph idx="1"/>
          </p:nvPr>
        </p:nvSpPr>
        <p:spPr>
          <a:xfrm>
            <a:off x="419100" y="581024"/>
            <a:ext cx="11391900" cy="5857875"/>
          </a:xfrm>
        </p:spPr>
        <p:txBody>
          <a:bodyPr/>
          <a:lstStyle/>
          <a:p>
            <a:r>
              <a:rPr lang="fr-FR" dirty="0"/>
              <a:t>Ajoutons un  autre attribut pour savoir la quantité en stock de ce produit</a:t>
            </a:r>
          </a:p>
        </p:txBody>
      </p:sp>
      <p:graphicFrame>
        <p:nvGraphicFramePr>
          <p:cNvPr id="5" name="Tableau 4">
            <a:extLst>
              <a:ext uri="{FF2B5EF4-FFF2-40B4-BE49-F238E27FC236}">
                <a16:creationId xmlns:a16="http://schemas.microsoft.com/office/drawing/2014/main" id="{7268184C-83FE-44F9-A346-DE7873D0FA53}"/>
              </a:ext>
            </a:extLst>
          </p:cNvPr>
          <p:cNvGraphicFramePr>
            <a:graphicFrameLocks noGrp="1"/>
          </p:cNvGraphicFramePr>
          <p:nvPr>
            <p:extLst>
              <p:ext uri="{D42A27DB-BD31-4B8C-83A1-F6EECF244321}">
                <p14:modId xmlns:p14="http://schemas.microsoft.com/office/powerpoint/2010/main" val="3626918174"/>
              </p:ext>
            </p:extLst>
          </p:nvPr>
        </p:nvGraphicFramePr>
        <p:xfrm>
          <a:off x="3898900" y="2910415"/>
          <a:ext cx="3273425" cy="2536472"/>
        </p:xfrm>
        <a:graphic>
          <a:graphicData uri="http://schemas.openxmlformats.org/drawingml/2006/table">
            <a:tbl>
              <a:tblPr firstRow="1" bandRow="1" bandCol="1">
                <a:tableStyleId>{616DA210-FB5B-4158-B5E0-FEB733F419BA}</a:tableStyleId>
              </a:tblPr>
              <a:tblGrid>
                <a:gridCol w="3273425">
                  <a:extLst>
                    <a:ext uri="{9D8B030D-6E8A-4147-A177-3AD203B41FA5}">
                      <a16:colId xmlns:a16="http://schemas.microsoft.com/office/drawing/2014/main" val="869893163"/>
                    </a:ext>
                  </a:extLst>
                </a:gridCol>
              </a:tblGrid>
              <a:tr h="734836">
                <a:tc>
                  <a:txBody>
                    <a:bodyPr/>
                    <a:lstStyle/>
                    <a:p>
                      <a:endParaRPr lang="fr-FR" dirty="0"/>
                    </a:p>
                    <a:p>
                      <a:r>
                        <a:rPr lang="fr-FR" dirty="0"/>
                        <a:t>     Produit</a:t>
                      </a:r>
                    </a:p>
                  </a:txBody>
                  <a:tcPr/>
                </a:tc>
                <a:extLst>
                  <a:ext uri="{0D108BD9-81ED-4DB2-BD59-A6C34878D82A}">
                    <a16:rowId xmlns:a16="http://schemas.microsoft.com/office/drawing/2014/main" val="1665938324"/>
                  </a:ext>
                </a:extLst>
              </a:tr>
              <a:tr h="734836">
                <a:tc>
                  <a:txBody>
                    <a:bodyPr/>
                    <a:lstStyle/>
                    <a:p>
                      <a:r>
                        <a:rPr lang="fr-FR" sz="2000" b="0" dirty="0"/>
                        <a:t>Nom</a:t>
                      </a:r>
                    </a:p>
                    <a:p>
                      <a:r>
                        <a:rPr lang="fr-FR" sz="2000" b="0" dirty="0">
                          <a:solidFill>
                            <a:schemeClr val="tx1"/>
                          </a:solidFill>
                        </a:rPr>
                        <a:t>Prix</a:t>
                      </a:r>
                      <a:r>
                        <a:rPr lang="fr-FR" sz="2000" b="0" dirty="0">
                          <a:solidFill>
                            <a:srgbClr val="00B050"/>
                          </a:solidFill>
                        </a:rPr>
                        <a:t> </a:t>
                      </a:r>
                    </a:p>
                    <a:p>
                      <a:r>
                        <a:rPr lang="fr-FR" sz="2400" b="1" dirty="0" err="1">
                          <a:solidFill>
                            <a:srgbClr val="EE0000"/>
                          </a:solidFill>
                        </a:rPr>
                        <a:t>qte_stock</a:t>
                      </a:r>
                      <a:endParaRPr lang="fr-FR" sz="2400" b="1" dirty="0">
                        <a:solidFill>
                          <a:srgbClr val="EE0000"/>
                        </a:solidFill>
                      </a:endParaRPr>
                    </a:p>
                  </a:txBody>
                  <a:tcPr/>
                </a:tc>
                <a:extLst>
                  <a:ext uri="{0D108BD9-81ED-4DB2-BD59-A6C34878D82A}">
                    <a16:rowId xmlns:a16="http://schemas.microsoft.com/office/drawing/2014/main" val="1907083919"/>
                  </a:ext>
                </a:extLst>
              </a:tr>
              <a:tr h="734836">
                <a:tc>
                  <a:txBody>
                    <a:bodyPr/>
                    <a:lstStyle/>
                    <a:p>
                      <a:endParaRPr lang="fr-FR" dirty="0"/>
                    </a:p>
                  </a:txBody>
                  <a:tcPr/>
                </a:tc>
                <a:extLst>
                  <a:ext uri="{0D108BD9-81ED-4DB2-BD59-A6C34878D82A}">
                    <a16:rowId xmlns:a16="http://schemas.microsoft.com/office/drawing/2014/main" val="505482314"/>
                  </a:ext>
                </a:extLst>
              </a:tr>
            </a:tbl>
          </a:graphicData>
        </a:graphic>
      </p:graphicFrame>
    </p:spTree>
    <p:extLst>
      <p:ext uri="{BB962C8B-B14F-4D97-AF65-F5344CB8AC3E}">
        <p14:creationId xmlns:p14="http://schemas.microsoft.com/office/powerpoint/2010/main" val="2665446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4ED7-08E2-A36D-A608-4D2D9DADA39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67882D7-E4B5-28E6-39F6-7F88B72BF065}"/>
              </a:ext>
            </a:extLst>
          </p:cNvPr>
          <p:cNvSpPr>
            <a:spLocks noGrp="1"/>
          </p:cNvSpPr>
          <p:nvPr>
            <p:ph idx="1"/>
          </p:nvPr>
        </p:nvSpPr>
        <p:spPr>
          <a:xfrm>
            <a:off x="419100" y="581024"/>
            <a:ext cx="11391900" cy="5857875"/>
          </a:xfrm>
        </p:spPr>
        <p:txBody>
          <a:bodyPr/>
          <a:lstStyle/>
          <a:p>
            <a:pPr marL="0" indent="0">
              <a:buNone/>
            </a:pPr>
            <a:r>
              <a:rPr lang="fr-FR" dirty="0"/>
              <a:t>class Produit:</a:t>
            </a:r>
          </a:p>
          <a:p>
            <a:pPr marL="0" indent="0">
              <a:buNone/>
            </a:pPr>
            <a:r>
              <a:rPr lang="fr-FR" dirty="0"/>
              <a:t>    </a:t>
            </a:r>
            <a:r>
              <a:rPr lang="fr-FR" dirty="0" err="1"/>
              <a:t>def</a:t>
            </a:r>
            <a:r>
              <a:rPr lang="fr-FR" dirty="0"/>
              <a:t> __init__(self, nom, prix, </a:t>
            </a:r>
            <a:r>
              <a:rPr lang="fr-FR" dirty="0" err="1"/>
              <a:t>qte_stock</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a:p>
            <a:pPr marL="0" indent="0">
              <a:buNone/>
            </a:pPr>
            <a:r>
              <a:rPr lang="fr-FR" dirty="0"/>
              <a:t>        </a:t>
            </a:r>
            <a:r>
              <a:rPr lang="fr-FR" dirty="0" err="1"/>
              <a:t>self.qte_stock</a:t>
            </a:r>
            <a:r>
              <a:rPr lang="fr-FR" dirty="0"/>
              <a:t> = </a:t>
            </a:r>
            <a:r>
              <a:rPr lang="fr-FR" dirty="0" err="1"/>
              <a:t>qte_stock</a:t>
            </a:r>
            <a:endParaRPr lang="fr-FR" dirty="0"/>
          </a:p>
          <a:p>
            <a:endParaRPr lang="fr-FR" dirty="0"/>
          </a:p>
        </p:txBody>
      </p:sp>
    </p:spTree>
    <p:extLst>
      <p:ext uri="{BB962C8B-B14F-4D97-AF65-F5344CB8AC3E}">
        <p14:creationId xmlns:p14="http://schemas.microsoft.com/office/powerpoint/2010/main" val="15150775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E2538-DB51-7798-353F-AFA0BCDD160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AE7C781-B193-6E25-8463-5DBE877F8A39}"/>
              </a:ext>
            </a:extLst>
          </p:cNvPr>
          <p:cNvSpPr>
            <a:spLocks noGrp="1"/>
          </p:cNvSpPr>
          <p:nvPr>
            <p:ph idx="1"/>
          </p:nvPr>
        </p:nvSpPr>
        <p:spPr>
          <a:xfrm>
            <a:off x="419100" y="581024"/>
            <a:ext cx="11391900" cy="5857875"/>
          </a:xfrm>
        </p:spPr>
        <p:txBody>
          <a:bodyPr/>
          <a:lstStyle/>
          <a:p>
            <a:r>
              <a:rPr lang="fr-FR" dirty="0"/>
              <a:t>Et si voulait définir une fonction ‘afficher’ , membre de cette classe et qui affiche ‘bonjour’ , juste pour tester , même si ça n’a pas de sens !</a:t>
            </a:r>
          </a:p>
          <a:p>
            <a:r>
              <a:rPr lang="fr-FR" dirty="0"/>
              <a:t>Si elle affiche seulement ‘bonjour’  pas la peine </a:t>
            </a:r>
            <a:r>
              <a:rPr lang="fr-FR" dirty="0" err="1"/>
              <a:t>au’elle</a:t>
            </a:r>
            <a:r>
              <a:rPr lang="fr-FR" dirty="0"/>
              <a:t> soit membre d’ une classe spécifique !</a:t>
            </a:r>
          </a:p>
        </p:txBody>
      </p:sp>
    </p:spTree>
    <p:extLst>
      <p:ext uri="{BB962C8B-B14F-4D97-AF65-F5344CB8AC3E}">
        <p14:creationId xmlns:p14="http://schemas.microsoft.com/office/powerpoint/2010/main" val="2586487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B85AD-437F-5F94-8AAE-E34932A0496B}"/>
            </a:ext>
          </a:extLst>
        </p:cNvPr>
        <p:cNvGrpSpPr/>
        <p:nvPr/>
      </p:nvGrpSpPr>
      <p:grpSpPr>
        <a:xfrm>
          <a:off x="0" y="0"/>
          <a:ext cx="0" cy="0"/>
          <a:chOff x="0" y="0"/>
          <a:chExt cx="0" cy="0"/>
        </a:xfrm>
      </p:grpSpPr>
      <p:graphicFrame>
        <p:nvGraphicFramePr>
          <p:cNvPr id="5" name="Tableau 4">
            <a:extLst>
              <a:ext uri="{FF2B5EF4-FFF2-40B4-BE49-F238E27FC236}">
                <a16:creationId xmlns:a16="http://schemas.microsoft.com/office/drawing/2014/main" id="{70DC850E-D874-0BB6-25C8-633F7DF0DDA9}"/>
              </a:ext>
            </a:extLst>
          </p:cNvPr>
          <p:cNvGraphicFramePr>
            <a:graphicFrameLocks noGrp="1"/>
          </p:cNvGraphicFramePr>
          <p:nvPr>
            <p:extLst>
              <p:ext uri="{D42A27DB-BD31-4B8C-83A1-F6EECF244321}">
                <p14:modId xmlns:p14="http://schemas.microsoft.com/office/powerpoint/2010/main" val="2769634809"/>
              </p:ext>
            </p:extLst>
          </p:nvPr>
        </p:nvGraphicFramePr>
        <p:xfrm>
          <a:off x="3517900" y="1500715"/>
          <a:ext cx="3273425" cy="3024152"/>
        </p:xfrm>
        <a:graphic>
          <a:graphicData uri="http://schemas.openxmlformats.org/drawingml/2006/table">
            <a:tbl>
              <a:tblPr firstRow="1" bandRow="1" bandCol="1">
                <a:tableStyleId>{616DA210-FB5B-4158-B5E0-FEB733F419BA}</a:tableStyleId>
              </a:tblPr>
              <a:tblGrid>
                <a:gridCol w="3273425">
                  <a:extLst>
                    <a:ext uri="{9D8B030D-6E8A-4147-A177-3AD203B41FA5}">
                      <a16:colId xmlns:a16="http://schemas.microsoft.com/office/drawing/2014/main" val="869893163"/>
                    </a:ext>
                  </a:extLst>
                </a:gridCol>
              </a:tblGrid>
              <a:tr h="734836">
                <a:tc>
                  <a:txBody>
                    <a:bodyPr/>
                    <a:lstStyle/>
                    <a:p>
                      <a:endParaRPr lang="fr-FR" dirty="0"/>
                    </a:p>
                    <a:p>
                      <a:r>
                        <a:rPr lang="fr-FR" dirty="0"/>
                        <a:t>     Produit</a:t>
                      </a:r>
                    </a:p>
                  </a:txBody>
                  <a:tcPr/>
                </a:tc>
                <a:extLst>
                  <a:ext uri="{0D108BD9-81ED-4DB2-BD59-A6C34878D82A}">
                    <a16:rowId xmlns:a16="http://schemas.microsoft.com/office/drawing/2014/main" val="1665938324"/>
                  </a:ext>
                </a:extLst>
              </a:tr>
              <a:tr h="734836">
                <a:tc>
                  <a:txBody>
                    <a:bodyPr/>
                    <a:lstStyle/>
                    <a:p>
                      <a:r>
                        <a:rPr lang="fr-FR" sz="3200" b="0" dirty="0">
                          <a:solidFill>
                            <a:schemeClr val="tx1"/>
                          </a:solidFill>
                        </a:rPr>
                        <a:t>Nom</a:t>
                      </a:r>
                    </a:p>
                    <a:p>
                      <a:r>
                        <a:rPr lang="fr-FR" sz="3200" b="0" dirty="0">
                          <a:solidFill>
                            <a:schemeClr val="tx1"/>
                          </a:solidFill>
                        </a:rPr>
                        <a:t>Prix </a:t>
                      </a:r>
                    </a:p>
                    <a:p>
                      <a:r>
                        <a:rPr lang="fr-FR" sz="3200" b="0" dirty="0" err="1">
                          <a:solidFill>
                            <a:schemeClr val="tx1"/>
                          </a:solidFill>
                        </a:rPr>
                        <a:t>qte_stock</a:t>
                      </a:r>
                      <a:endParaRPr lang="fr-FR" sz="3200" b="0" dirty="0">
                        <a:solidFill>
                          <a:schemeClr val="tx1"/>
                        </a:solidFill>
                      </a:endParaRPr>
                    </a:p>
                  </a:txBody>
                  <a:tcPr/>
                </a:tc>
                <a:extLst>
                  <a:ext uri="{0D108BD9-81ED-4DB2-BD59-A6C34878D82A}">
                    <a16:rowId xmlns:a16="http://schemas.microsoft.com/office/drawing/2014/main" val="1907083919"/>
                  </a:ext>
                </a:extLst>
              </a:tr>
              <a:tr h="734836">
                <a:tc>
                  <a:txBody>
                    <a:bodyPr/>
                    <a:lstStyle/>
                    <a:p>
                      <a:r>
                        <a:rPr lang="fr-FR" sz="3200" b="1" dirty="0">
                          <a:solidFill>
                            <a:srgbClr val="EE0000"/>
                          </a:solidFill>
                        </a:rPr>
                        <a:t>Afficher()</a:t>
                      </a:r>
                    </a:p>
                  </a:txBody>
                  <a:tcPr/>
                </a:tc>
                <a:extLst>
                  <a:ext uri="{0D108BD9-81ED-4DB2-BD59-A6C34878D82A}">
                    <a16:rowId xmlns:a16="http://schemas.microsoft.com/office/drawing/2014/main" val="505482314"/>
                  </a:ext>
                </a:extLst>
              </a:tr>
            </a:tbl>
          </a:graphicData>
        </a:graphic>
      </p:graphicFrame>
    </p:spTree>
    <p:extLst>
      <p:ext uri="{BB962C8B-B14F-4D97-AF65-F5344CB8AC3E}">
        <p14:creationId xmlns:p14="http://schemas.microsoft.com/office/powerpoint/2010/main" val="384410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41993-A120-6E21-894E-694F53EC09D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8D7D84B-19D3-256A-1AA6-07035C6EACB7}"/>
              </a:ext>
            </a:extLst>
          </p:cNvPr>
          <p:cNvSpPr>
            <a:spLocks noGrp="1"/>
          </p:cNvSpPr>
          <p:nvPr>
            <p:ph idx="1"/>
          </p:nvPr>
        </p:nvSpPr>
        <p:spPr>
          <a:xfrm>
            <a:off x="419100" y="581024"/>
            <a:ext cx="11391900" cy="5857875"/>
          </a:xfrm>
        </p:spPr>
        <p:txBody>
          <a:bodyPr/>
          <a:lstStyle/>
          <a:p>
            <a:pPr marL="0" indent="0">
              <a:buNone/>
            </a:pPr>
            <a:r>
              <a:rPr lang="fr-FR" dirty="0"/>
              <a:t>class Produit:</a:t>
            </a:r>
          </a:p>
          <a:p>
            <a:pPr marL="0" indent="0">
              <a:buNone/>
            </a:pPr>
            <a:r>
              <a:rPr lang="fr-FR" dirty="0"/>
              <a:t>    </a:t>
            </a:r>
            <a:r>
              <a:rPr lang="fr-FR" dirty="0" err="1"/>
              <a:t>def</a:t>
            </a:r>
            <a:r>
              <a:rPr lang="fr-FR" dirty="0"/>
              <a:t> __init__(self, nom, prix, </a:t>
            </a:r>
            <a:r>
              <a:rPr lang="fr-FR" dirty="0" err="1"/>
              <a:t>qte_stock</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a:p>
            <a:pPr marL="0" indent="0">
              <a:buNone/>
            </a:pPr>
            <a:r>
              <a:rPr lang="fr-FR" dirty="0"/>
              <a:t>        </a:t>
            </a:r>
            <a:r>
              <a:rPr lang="fr-FR" dirty="0" err="1"/>
              <a:t>self.qte_stock</a:t>
            </a:r>
            <a:r>
              <a:rPr lang="fr-FR" dirty="0"/>
              <a:t> = </a:t>
            </a:r>
            <a:r>
              <a:rPr lang="fr-FR" dirty="0" err="1"/>
              <a:t>qte_stock</a:t>
            </a:r>
            <a:endParaRPr lang="fr-FR" dirty="0"/>
          </a:p>
          <a:p>
            <a:pPr marL="0" indent="0">
              <a:buNone/>
            </a:pPr>
            <a:r>
              <a:rPr lang="fr-FR" dirty="0"/>
              <a:t>    </a:t>
            </a:r>
          </a:p>
          <a:p>
            <a:pPr marL="0" indent="0">
              <a:buNone/>
            </a:pPr>
            <a:r>
              <a:rPr lang="fr-FR" dirty="0"/>
              <a:t>    </a:t>
            </a:r>
            <a:r>
              <a:rPr lang="fr-FR" dirty="0" err="1"/>
              <a:t>def</a:t>
            </a:r>
            <a:r>
              <a:rPr lang="fr-FR" dirty="0"/>
              <a:t> afficher(self):</a:t>
            </a:r>
          </a:p>
          <a:p>
            <a:pPr marL="0" indent="0">
              <a:buNone/>
            </a:pPr>
            <a:r>
              <a:rPr lang="fr-FR" dirty="0"/>
              <a:t>        </a:t>
            </a:r>
            <a:r>
              <a:rPr lang="fr-FR" dirty="0" err="1"/>
              <a:t>print</a:t>
            </a:r>
            <a:r>
              <a:rPr lang="fr-FR" dirty="0"/>
              <a:t>("bonjour")</a:t>
            </a:r>
          </a:p>
        </p:txBody>
      </p:sp>
    </p:spTree>
    <p:extLst>
      <p:ext uri="{BB962C8B-B14F-4D97-AF65-F5344CB8AC3E}">
        <p14:creationId xmlns:p14="http://schemas.microsoft.com/office/powerpoint/2010/main" val="493610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FBB3-DF04-D01A-7E81-78863B9F3F8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A5124ED-FC55-60B8-3FF1-8A220F20856C}"/>
              </a:ext>
            </a:extLst>
          </p:cNvPr>
          <p:cNvSpPr>
            <a:spLocks noGrp="1"/>
          </p:cNvSpPr>
          <p:nvPr>
            <p:ph idx="1"/>
          </p:nvPr>
        </p:nvSpPr>
        <p:spPr>
          <a:xfrm>
            <a:off x="419100" y="581024"/>
            <a:ext cx="11391900" cy="5857875"/>
          </a:xfrm>
        </p:spPr>
        <p:txBody>
          <a:bodyPr/>
          <a:lstStyle/>
          <a:p>
            <a:pPr marL="0" indent="0">
              <a:buNone/>
            </a:pPr>
            <a:r>
              <a:rPr lang="fr-FR" dirty="0"/>
              <a:t>Modifions le comportement de la fonction afficher pour qu’elle mérite la nomination : « Méthode »! Une méthode de la classe Produit , spécifique pour cette classe , elle sait comment afficher des infos </a:t>
            </a:r>
            <a:r>
              <a:rPr lang="fr-FR" dirty="0" err="1"/>
              <a:t>specifiques</a:t>
            </a:r>
            <a:r>
              <a:rPr lang="fr-FR" dirty="0"/>
              <a:t> à cette classe</a:t>
            </a:r>
          </a:p>
        </p:txBody>
      </p:sp>
    </p:spTree>
    <p:extLst>
      <p:ext uri="{BB962C8B-B14F-4D97-AF65-F5344CB8AC3E}">
        <p14:creationId xmlns:p14="http://schemas.microsoft.com/office/powerpoint/2010/main" val="2717399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ED4A-3D3F-A258-E031-09356ADF4AB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402AE35-CF68-81D9-8425-9F9DB5171FDC}"/>
              </a:ext>
            </a:extLst>
          </p:cNvPr>
          <p:cNvSpPr>
            <a:spLocks noGrp="1"/>
          </p:cNvSpPr>
          <p:nvPr>
            <p:ph idx="1"/>
          </p:nvPr>
        </p:nvSpPr>
        <p:spPr>
          <a:xfrm>
            <a:off x="304799" y="352425"/>
            <a:ext cx="11458575" cy="6134100"/>
          </a:xfrm>
        </p:spPr>
        <p:txBody>
          <a:bodyPr>
            <a:normAutofit/>
          </a:bodyPr>
          <a:lstStyle/>
          <a:p>
            <a:pPr marL="0" indent="0">
              <a:buNone/>
            </a:pPr>
            <a:endParaRPr lang="fr-FR" b="1" dirty="0"/>
          </a:p>
          <a:p>
            <a:pPr marL="0" indent="0">
              <a:buNone/>
            </a:pPr>
            <a:endParaRPr lang="fr-FR" dirty="0"/>
          </a:p>
          <a:p>
            <a:pPr marL="0" indent="0">
              <a:buNone/>
            </a:pPr>
            <a:r>
              <a:rPr lang="fr-FR" dirty="0"/>
              <a:t>class Produit:</a:t>
            </a:r>
          </a:p>
          <a:p>
            <a:pPr marL="0" indent="0">
              <a:buNone/>
            </a:pPr>
            <a:r>
              <a:rPr lang="fr-FR" dirty="0"/>
              <a:t>    </a:t>
            </a:r>
            <a:r>
              <a:rPr lang="fr-FR" dirty="0" err="1"/>
              <a:t>def</a:t>
            </a:r>
            <a:r>
              <a:rPr lang="fr-FR" dirty="0"/>
              <a:t> __init__(self, nom, prix, </a:t>
            </a:r>
            <a:r>
              <a:rPr lang="fr-FR" dirty="0" err="1"/>
              <a:t>qte_stock</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a:p>
            <a:pPr marL="0" indent="0">
              <a:buNone/>
            </a:pPr>
            <a:r>
              <a:rPr lang="fr-FR" dirty="0"/>
              <a:t>        </a:t>
            </a:r>
            <a:r>
              <a:rPr lang="fr-FR" dirty="0" err="1"/>
              <a:t>self.qte_stock</a:t>
            </a:r>
            <a:r>
              <a:rPr lang="fr-FR" dirty="0"/>
              <a:t> = </a:t>
            </a:r>
            <a:r>
              <a:rPr lang="fr-FR" dirty="0" err="1"/>
              <a:t>qte_stock</a:t>
            </a:r>
            <a:endParaRPr lang="fr-FR" dirty="0"/>
          </a:p>
          <a:p>
            <a:pPr marL="0" indent="0">
              <a:buNone/>
            </a:pPr>
            <a:r>
              <a:rPr lang="fr-FR" dirty="0"/>
              <a:t>    </a:t>
            </a:r>
          </a:p>
          <a:p>
            <a:pPr marL="0" indent="0">
              <a:buNone/>
            </a:pPr>
            <a:r>
              <a:rPr lang="fr-FR" dirty="0"/>
              <a:t>    </a:t>
            </a:r>
            <a:r>
              <a:rPr lang="fr-FR" dirty="0" err="1"/>
              <a:t>def</a:t>
            </a:r>
            <a:r>
              <a:rPr lang="fr-FR" dirty="0"/>
              <a:t> afficher(self):</a:t>
            </a:r>
          </a:p>
          <a:p>
            <a:pPr marL="0" indent="0">
              <a:buNone/>
            </a:pPr>
            <a:r>
              <a:rPr lang="fr-FR" dirty="0"/>
              <a:t>        </a:t>
            </a:r>
            <a:r>
              <a:rPr lang="fr-FR" dirty="0" err="1"/>
              <a:t>print</a:t>
            </a:r>
            <a:r>
              <a:rPr lang="fr-FR" dirty="0"/>
              <a:t>(</a:t>
            </a:r>
            <a:r>
              <a:rPr lang="fr-FR" dirty="0" err="1"/>
              <a:t>f"Produit</a:t>
            </a:r>
            <a:r>
              <a:rPr lang="fr-FR" dirty="0"/>
              <a:t>: {</a:t>
            </a:r>
            <a:r>
              <a:rPr lang="fr-FR" dirty="0" err="1"/>
              <a:t>self.nom</a:t>
            </a:r>
            <a:r>
              <a:rPr lang="fr-FR" dirty="0"/>
              <a:t>}, Prix: {</a:t>
            </a:r>
            <a:r>
              <a:rPr lang="fr-FR" dirty="0" err="1"/>
              <a:t>self.prix</a:t>
            </a:r>
            <a:r>
              <a:rPr lang="fr-FR" dirty="0"/>
              <a:t>} DH, Stock: {</a:t>
            </a:r>
            <a:r>
              <a:rPr lang="fr-FR" dirty="0" err="1"/>
              <a:t>self.qte_stock</a:t>
            </a:r>
            <a:r>
              <a:rPr lang="fr-FR" dirty="0"/>
              <a:t>}")</a:t>
            </a:r>
          </a:p>
        </p:txBody>
      </p:sp>
    </p:spTree>
    <p:extLst>
      <p:ext uri="{BB962C8B-B14F-4D97-AF65-F5344CB8AC3E}">
        <p14:creationId xmlns:p14="http://schemas.microsoft.com/office/powerpoint/2010/main" val="2277227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D4A4A2-9AB5-2161-5DBD-6CB79EEFC9C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92E5F1F-2F26-0220-9D36-4F0D38704D56}"/>
              </a:ext>
            </a:extLst>
          </p:cNvPr>
          <p:cNvSpPr>
            <a:spLocks noGrp="1"/>
          </p:cNvSpPr>
          <p:nvPr>
            <p:ph idx="1"/>
          </p:nvPr>
        </p:nvSpPr>
        <p:spPr/>
        <p:txBody>
          <a:bodyPr/>
          <a:lstStyle/>
          <a:p>
            <a:r>
              <a:rPr lang="fr-FR" dirty="0"/>
              <a:t>Ajoutons maintenant une fonction qui incrémente la quantité stocké dans le magasin  d’un produit</a:t>
            </a:r>
          </a:p>
        </p:txBody>
      </p:sp>
    </p:spTree>
    <p:extLst>
      <p:ext uri="{BB962C8B-B14F-4D97-AF65-F5344CB8AC3E}">
        <p14:creationId xmlns:p14="http://schemas.microsoft.com/office/powerpoint/2010/main" val="3587932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255EA6-DC8C-78E6-377F-E29676A09C3B}"/>
              </a:ext>
            </a:extLst>
          </p:cNvPr>
          <p:cNvSpPr>
            <a:spLocks noGrp="1"/>
          </p:cNvSpPr>
          <p:nvPr>
            <p:ph idx="1"/>
          </p:nvPr>
        </p:nvSpPr>
        <p:spPr>
          <a:xfrm>
            <a:off x="583018" y="836797"/>
            <a:ext cx="10515600" cy="4351338"/>
          </a:xfrm>
        </p:spPr>
        <p:txBody>
          <a:bodyPr>
            <a:normAutofit fontScale="77500" lnSpcReduction="20000"/>
          </a:bodyPr>
          <a:lstStyle/>
          <a:p>
            <a:pPr marL="0" indent="0">
              <a:buNone/>
            </a:pPr>
            <a:r>
              <a:rPr lang="fr-FR" dirty="0"/>
              <a:t>class Produit:</a:t>
            </a:r>
          </a:p>
          <a:p>
            <a:pPr marL="0" indent="0">
              <a:buNone/>
            </a:pPr>
            <a:r>
              <a:rPr lang="fr-FR" dirty="0"/>
              <a:t>    </a:t>
            </a:r>
            <a:r>
              <a:rPr lang="fr-FR" dirty="0" err="1"/>
              <a:t>def</a:t>
            </a:r>
            <a:r>
              <a:rPr lang="fr-FR" dirty="0"/>
              <a:t> __init__(self, nom, prix, </a:t>
            </a:r>
            <a:r>
              <a:rPr lang="fr-FR" dirty="0" err="1"/>
              <a:t>qte_stock</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a:p>
            <a:pPr marL="0" indent="0">
              <a:buNone/>
            </a:pPr>
            <a:r>
              <a:rPr lang="fr-FR" dirty="0"/>
              <a:t>        </a:t>
            </a:r>
            <a:r>
              <a:rPr lang="fr-FR" dirty="0" err="1"/>
              <a:t>self.qte_stock</a:t>
            </a:r>
            <a:r>
              <a:rPr lang="fr-FR" dirty="0"/>
              <a:t> = </a:t>
            </a:r>
            <a:r>
              <a:rPr lang="fr-FR" dirty="0" err="1"/>
              <a:t>qte_stock</a:t>
            </a:r>
            <a:endParaRPr lang="fr-FR" dirty="0"/>
          </a:p>
          <a:p>
            <a:pPr marL="0" indent="0">
              <a:buNone/>
            </a:pPr>
            <a:r>
              <a:rPr lang="fr-FR" dirty="0"/>
              <a:t>    </a:t>
            </a:r>
          </a:p>
          <a:p>
            <a:pPr marL="0" indent="0">
              <a:buNone/>
            </a:pPr>
            <a:r>
              <a:rPr lang="fr-FR" dirty="0"/>
              <a:t>    </a:t>
            </a:r>
            <a:r>
              <a:rPr lang="fr-FR" dirty="0" err="1"/>
              <a:t>def</a:t>
            </a:r>
            <a:r>
              <a:rPr lang="fr-FR" dirty="0"/>
              <a:t> afficher(self):</a:t>
            </a:r>
          </a:p>
          <a:p>
            <a:pPr marL="0" indent="0">
              <a:buNone/>
            </a:pPr>
            <a:r>
              <a:rPr lang="fr-FR" dirty="0"/>
              <a:t>        </a:t>
            </a:r>
            <a:r>
              <a:rPr lang="fr-FR" dirty="0" err="1"/>
              <a:t>print</a:t>
            </a:r>
            <a:r>
              <a:rPr lang="fr-FR" dirty="0"/>
              <a:t>(</a:t>
            </a:r>
            <a:r>
              <a:rPr lang="fr-FR" dirty="0" err="1"/>
              <a:t>f"Produit</a:t>
            </a:r>
            <a:r>
              <a:rPr lang="fr-FR" dirty="0"/>
              <a:t>: {</a:t>
            </a:r>
            <a:r>
              <a:rPr lang="fr-FR" dirty="0" err="1"/>
              <a:t>self.nom</a:t>
            </a:r>
            <a:r>
              <a:rPr lang="fr-FR" dirty="0"/>
              <a:t>}, Prix: {</a:t>
            </a:r>
            <a:r>
              <a:rPr lang="fr-FR" dirty="0" err="1"/>
              <a:t>self.prix</a:t>
            </a:r>
            <a:r>
              <a:rPr lang="fr-FR" dirty="0"/>
              <a:t>} DH, Stock: {</a:t>
            </a:r>
            <a:r>
              <a:rPr lang="fr-FR" dirty="0" err="1"/>
              <a:t>self.qte_stock</a:t>
            </a:r>
            <a:r>
              <a:rPr lang="fr-FR" dirty="0"/>
              <a:t>}")</a:t>
            </a:r>
          </a:p>
          <a:p>
            <a:pPr marL="0" indent="0">
              <a:buNone/>
            </a:pPr>
            <a:r>
              <a:rPr lang="fr-FR" dirty="0"/>
              <a:t>    </a:t>
            </a:r>
          </a:p>
          <a:p>
            <a:pPr marL="0" indent="0">
              <a:buNone/>
            </a:pPr>
            <a:r>
              <a:rPr lang="fr-FR" dirty="0"/>
              <a:t>    </a:t>
            </a:r>
            <a:r>
              <a:rPr lang="fr-FR" dirty="0" err="1"/>
              <a:t>def</a:t>
            </a:r>
            <a:r>
              <a:rPr lang="fr-FR" dirty="0"/>
              <a:t> </a:t>
            </a:r>
            <a:r>
              <a:rPr lang="fr-FR" dirty="0" err="1"/>
              <a:t>ajouter_stock</a:t>
            </a:r>
            <a:r>
              <a:rPr lang="fr-FR" dirty="0"/>
              <a:t>(self, m):</a:t>
            </a:r>
          </a:p>
          <a:p>
            <a:pPr marL="0" indent="0">
              <a:buNone/>
            </a:pPr>
            <a:r>
              <a:rPr lang="fr-FR" dirty="0"/>
              <a:t>        </a:t>
            </a:r>
            <a:r>
              <a:rPr lang="fr-FR" dirty="0" err="1"/>
              <a:t>self.qte_stock</a:t>
            </a:r>
            <a:r>
              <a:rPr lang="fr-FR" dirty="0"/>
              <a:t> += m</a:t>
            </a:r>
          </a:p>
          <a:p>
            <a:pPr marL="0" indent="0">
              <a:buNone/>
            </a:pPr>
            <a:r>
              <a:rPr lang="fr-FR" dirty="0"/>
              <a:t>        </a:t>
            </a:r>
            <a:r>
              <a:rPr lang="fr-FR" dirty="0" err="1"/>
              <a:t>print</a:t>
            </a:r>
            <a:r>
              <a:rPr lang="fr-FR" dirty="0"/>
              <a:t>(f"{m} unités ajoutées. Nouveau stock: {</a:t>
            </a:r>
            <a:r>
              <a:rPr lang="fr-FR" dirty="0" err="1"/>
              <a:t>self.qte_stock</a:t>
            </a:r>
            <a:r>
              <a:rPr lang="fr-FR" dirty="0"/>
              <a:t>}")</a:t>
            </a:r>
          </a:p>
        </p:txBody>
      </p:sp>
    </p:spTree>
    <p:extLst>
      <p:ext uri="{BB962C8B-B14F-4D97-AF65-F5344CB8AC3E}">
        <p14:creationId xmlns:p14="http://schemas.microsoft.com/office/powerpoint/2010/main" val="2842334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E22C70-0B96-39EF-CA77-AE865978DF9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924B8BD-CF50-9D91-7B13-E8C16351732F}"/>
              </a:ext>
            </a:extLst>
          </p:cNvPr>
          <p:cNvSpPr>
            <a:spLocks noGrp="1"/>
          </p:cNvSpPr>
          <p:nvPr>
            <p:ph idx="1"/>
          </p:nvPr>
        </p:nvSpPr>
        <p:spPr/>
        <p:txBody>
          <a:bodyPr/>
          <a:lstStyle/>
          <a:p>
            <a:r>
              <a:rPr lang="fr-FR" dirty="0"/>
              <a:t>Une autre méthode pour décrémenter le stock en cas de vente  </a:t>
            </a:r>
          </a:p>
        </p:txBody>
      </p:sp>
    </p:spTree>
    <p:extLst>
      <p:ext uri="{BB962C8B-B14F-4D97-AF65-F5344CB8AC3E}">
        <p14:creationId xmlns:p14="http://schemas.microsoft.com/office/powerpoint/2010/main" val="433744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3AFA-1D5B-E168-DB70-CD5C037DDF8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3947E7-03F3-FF29-FFEE-E444E5F2A017}"/>
              </a:ext>
            </a:extLst>
          </p:cNvPr>
          <p:cNvSpPr>
            <a:spLocks noGrp="1"/>
          </p:cNvSpPr>
          <p:nvPr>
            <p:ph idx="1"/>
          </p:nvPr>
        </p:nvSpPr>
        <p:spPr>
          <a:xfrm>
            <a:off x="304799" y="352425"/>
            <a:ext cx="11458575" cy="6134100"/>
          </a:xfrm>
        </p:spPr>
        <p:txBody>
          <a:bodyPr>
            <a:normAutofit fontScale="62500" lnSpcReduction="20000"/>
          </a:bodyPr>
          <a:lstStyle/>
          <a:p>
            <a:pPr marL="0" indent="0">
              <a:buNone/>
            </a:pPr>
            <a:r>
              <a:rPr lang="fr-FR" dirty="0"/>
              <a:t>class Produit:</a:t>
            </a:r>
          </a:p>
          <a:p>
            <a:pPr marL="0" indent="0">
              <a:buNone/>
            </a:pPr>
            <a:r>
              <a:rPr lang="fr-FR" dirty="0"/>
              <a:t>    </a:t>
            </a:r>
            <a:r>
              <a:rPr lang="fr-FR" dirty="0" err="1"/>
              <a:t>def</a:t>
            </a:r>
            <a:r>
              <a:rPr lang="fr-FR" dirty="0"/>
              <a:t> __init__(self, nom, prix, </a:t>
            </a:r>
            <a:r>
              <a:rPr lang="fr-FR" dirty="0" err="1"/>
              <a:t>qte_stock</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self.prix</a:t>
            </a:r>
            <a:r>
              <a:rPr lang="fr-FR" dirty="0"/>
              <a:t> = prix</a:t>
            </a:r>
          </a:p>
          <a:p>
            <a:pPr marL="0" indent="0">
              <a:buNone/>
            </a:pPr>
            <a:r>
              <a:rPr lang="fr-FR" dirty="0"/>
              <a:t>        </a:t>
            </a:r>
            <a:r>
              <a:rPr lang="fr-FR" dirty="0" err="1"/>
              <a:t>self.qte_stock</a:t>
            </a:r>
            <a:r>
              <a:rPr lang="fr-FR" dirty="0"/>
              <a:t> = </a:t>
            </a:r>
            <a:r>
              <a:rPr lang="fr-FR" dirty="0" err="1"/>
              <a:t>qte_stock</a:t>
            </a:r>
            <a:endParaRPr lang="fr-FR" dirty="0"/>
          </a:p>
          <a:p>
            <a:pPr marL="0" indent="0">
              <a:buNone/>
            </a:pPr>
            <a:r>
              <a:rPr lang="fr-FR" dirty="0"/>
              <a:t>    </a:t>
            </a:r>
          </a:p>
          <a:p>
            <a:pPr marL="0" indent="0">
              <a:buNone/>
            </a:pPr>
            <a:r>
              <a:rPr lang="fr-FR" dirty="0"/>
              <a:t>    </a:t>
            </a:r>
            <a:r>
              <a:rPr lang="fr-FR" dirty="0" err="1"/>
              <a:t>def</a:t>
            </a:r>
            <a:r>
              <a:rPr lang="fr-FR" dirty="0"/>
              <a:t> afficher(self):</a:t>
            </a:r>
          </a:p>
          <a:p>
            <a:pPr marL="0" indent="0">
              <a:buNone/>
            </a:pPr>
            <a:r>
              <a:rPr lang="fr-FR" dirty="0"/>
              <a:t>        </a:t>
            </a:r>
            <a:r>
              <a:rPr lang="fr-FR" dirty="0" err="1"/>
              <a:t>print</a:t>
            </a:r>
            <a:r>
              <a:rPr lang="fr-FR" dirty="0"/>
              <a:t>(</a:t>
            </a:r>
            <a:r>
              <a:rPr lang="fr-FR" dirty="0" err="1"/>
              <a:t>f"Produit</a:t>
            </a:r>
            <a:r>
              <a:rPr lang="fr-FR" dirty="0"/>
              <a:t>: {</a:t>
            </a:r>
            <a:r>
              <a:rPr lang="fr-FR" dirty="0" err="1"/>
              <a:t>self.nom</a:t>
            </a:r>
            <a:r>
              <a:rPr lang="fr-FR" dirty="0"/>
              <a:t>}, Prix: {</a:t>
            </a:r>
            <a:r>
              <a:rPr lang="fr-FR" dirty="0" err="1"/>
              <a:t>self.prix</a:t>
            </a:r>
            <a:r>
              <a:rPr lang="fr-FR" dirty="0"/>
              <a:t>} DH, Stock: {</a:t>
            </a:r>
            <a:r>
              <a:rPr lang="fr-FR" dirty="0" err="1"/>
              <a:t>self.qte_stock</a:t>
            </a:r>
            <a:r>
              <a:rPr lang="fr-FR" dirty="0"/>
              <a:t>}")</a:t>
            </a:r>
          </a:p>
          <a:p>
            <a:pPr marL="0" indent="0">
              <a:buNone/>
            </a:pPr>
            <a:r>
              <a:rPr lang="fr-FR" dirty="0"/>
              <a:t>    </a:t>
            </a:r>
          </a:p>
          <a:p>
            <a:pPr marL="0" indent="0">
              <a:buNone/>
            </a:pPr>
            <a:r>
              <a:rPr lang="fr-FR" dirty="0"/>
              <a:t>    </a:t>
            </a:r>
            <a:r>
              <a:rPr lang="fr-FR" dirty="0" err="1"/>
              <a:t>def</a:t>
            </a:r>
            <a:r>
              <a:rPr lang="fr-FR" dirty="0"/>
              <a:t> </a:t>
            </a:r>
            <a:r>
              <a:rPr lang="fr-FR" dirty="0" err="1"/>
              <a:t>ajouter_stock</a:t>
            </a:r>
            <a:r>
              <a:rPr lang="fr-FR" dirty="0"/>
              <a:t>(self, m):</a:t>
            </a:r>
          </a:p>
          <a:p>
            <a:pPr marL="0" indent="0">
              <a:buNone/>
            </a:pPr>
            <a:r>
              <a:rPr lang="fr-FR" dirty="0"/>
              <a:t>        </a:t>
            </a:r>
            <a:r>
              <a:rPr lang="fr-FR" dirty="0" err="1"/>
              <a:t>self.qte_stock</a:t>
            </a:r>
            <a:r>
              <a:rPr lang="fr-FR" dirty="0"/>
              <a:t> += m</a:t>
            </a:r>
          </a:p>
          <a:p>
            <a:pPr marL="0" indent="0">
              <a:buNone/>
            </a:pPr>
            <a:r>
              <a:rPr lang="fr-FR" dirty="0"/>
              <a:t>        </a:t>
            </a:r>
            <a:r>
              <a:rPr lang="fr-FR" dirty="0" err="1"/>
              <a:t>print</a:t>
            </a:r>
            <a:r>
              <a:rPr lang="fr-FR" dirty="0"/>
              <a:t>(f"{m} unités ajoutées. Nouveau stock: {</a:t>
            </a:r>
            <a:r>
              <a:rPr lang="fr-FR" dirty="0" err="1"/>
              <a:t>self.qte_stock</a:t>
            </a:r>
            <a:r>
              <a:rPr lang="fr-FR" dirty="0"/>
              <a:t>}")</a:t>
            </a:r>
          </a:p>
          <a:p>
            <a:pPr marL="0" indent="0">
              <a:buNone/>
            </a:pPr>
            <a:r>
              <a:rPr lang="fr-FR" dirty="0"/>
              <a:t>    </a:t>
            </a:r>
          </a:p>
          <a:p>
            <a:pPr marL="0" indent="0">
              <a:buNone/>
            </a:pPr>
            <a:r>
              <a:rPr lang="fr-FR" dirty="0"/>
              <a:t>    </a:t>
            </a:r>
            <a:r>
              <a:rPr lang="fr-FR" dirty="0" err="1"/>
              <a:t>def</a:t>
            </a:r>
            <a:r>
              <a:rPr lang="fr-FR" dirty="0"/>
              <a:t> vendre(self, k):</a:t>
            </a:r>
          </a:p>
          <a:p>
            <a:pPr marL="0" indent="0">
              <a:buNone/>
            </a:pPr>
            <a:r>
              <a:rPr lang="fr-FR" dirty="0"/>
              <a:t>        if k &lt;= </a:t>
            </a:r>
            <a:r>
              <a:rPr lang="fr-FR" dirty="0" err="1"/>
              <a:t>self.qte_stock</a:t>
            </a:r>
            <a:r>
              <a:rPr lang="fr-FR" dirty="0"/>
              <a:t>:</a:t>
            </a:r>
          </a:p>
          <a:p>
            <a:pPr marL="0" indent="0">
              <a:buNone/>
            </a:pPr>
            <a:r>
              <a:rPr lang="fr-FR" dirty="0"/>
              <a:t>            </a:t>
            </a:r>
            <a:r>
              <a:rPr lang="fr-FR" dirty="0" err="1"/>
              <a:t>self.qte_stock</a:t>
            </a:r>
            <a:r>
              <a:rPr lang="fr-FR"/>
              <a:t> = </a:t>
            </a:r>
            <a:r>
              <a:rPr lang="fr-FR" dirty="0" err="1"/>
              <a:t>self.qte_stock</a:t>
            </a:r>
            <a:r>
              <a:rPr lang="fr-FR" dirty="0"/>
              <a:t>  -  k</a:t>
            </a:r>
          </a:p>
          <a:p>
            <a:pPr marL="0" indent="0">
              <a:buNone/>
            </a:pPr>
            <a:r>
              <a:rPr lang="fr-FR" dirty="0"/>
              <a:t>            </a:t>
            </a:r>
            <a:r>
              <a:rPr lang="fr-FR" dirty="0" err="1"/>
              <a:t>print</a:t>
            </a:r>
            <a:r>
              <a:rPr lang="fr-FR" dirty="0"/>
              <a:t>(f"{k} unités vendues. Stock restant: {</a:t>
            </a:r>
            <a:r>
              <a:rPr lang="fr-FR" dirty="0" err="1"/>
              <a:t>self.qte_stock</a:t>
            </a:r>
            <a:r>
              <a:rPr lang="fr-FR" dirty="0"/>
              <a:t>}")</a:t>
            </a:r>
          </a:p>
          <a:p>
            <a:pPr marL="0" indent="0">
              <a:buNone/>
            </a:pPr>
            <a:r>
              <a:rPr lang="fr-FR" dirty="0"/>
              <a:t>        </a:t>
            </a:r>
            <a:r>
              <a:rPr lang="fr-FR" dirty="0" err="1"/>
              <a:t>else</a:t>
            </a:r>
            <a:r>
              <a:rPr lang="fr-FR" dirty="0"/>
              <a:t>:</a:t>
            </a:r>
          </a:p>
          <a:p>
            <a:pPr marL="0" indent="0">
              <a:buNone/>
            </a:pPr>
            <a:r>
              <a:rPr lang="fr-FR" dirty="0"/>
              <a:t>            </a:t>
            </a:r>
            <a:r>
              <a:rPr lang="fr-FR" dirty="0" err="1"/>
              <a:t>print</a:t>
            </a:r>
            <a:r>
              <a:rPr lang="fr-FR" dirty="0"/>
              <a:t>("Stock insuffisant!")</a:t>
            </a:r>
          </a:p>
          <a:p>
            <a:pPr marL="0" indent="0">
              <a:buNone/>
            </a:pPr>
            <a:endParaRPr lang="fr-FR" dirty="0"/>
          </a:p>
        </p:txBody>
      </p:sp>
    </p:spTree>
    <p:extLst>
      <p:ext uri="{BB962C8B-B14F-4D97-AF65-F5344CB8AC3E}">
        <p14:creationId xmlns:p14="http://schemas.microsoft.com/office/powerpoint/2010/main" val="308606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2F31A-7661-5D43-E838-9F77446D256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9342C25-A082-E7DD-895D-3901745EE81E}"/>
              </a:ext>
            </a:extLst>
          </p:cNvPr>
          <p:cNvSpPr>
            <a:spLocks noGrp="1"/>
          </p:cNvSpPr>
          <p:nvPr>
            <p:ph idx="1"/>
          </p:nvPr>
        </p:nvSpPr>
        <p:spPr>
          <a:xfrm>
            <a:off x="304799" y="352425"/>
            <a:ext cx="11458575" cy="6134100"/>
          </a:xfrm>
        </p:spPr>
        <p:txBody>
          <a:bodyPr/>
          <a:lstStyle/>
          <a:p>
            <a:pPr marL="0" indent="0">
              <a:buNone/>
            </a:pPr>
            <a:r>
              <a:rPr lang="fr-FR" b="1" dirty="0"/>
              <a:t>Création d'objets Produit</a:t>
            </a:r>
          </a:p>
          <a:p>
            <a:pPr marL="0" indent="0">
              <a:buNone/>
            </a:pPr>
            <a:endParaRPr lang="fr-FR" dirty="0"/>
          </a:p>
          <a:p>
            <a:pPr marL="0" indent="0">
              <a:buNone/>
            </a:pPr>
            <a:r>
              <a:rPr lang="fr-FR" dirty="0"/>
              <a:t># Création de deux objets Produit</a:t>
            </a:r>
          </a:p>
          <a:p>
            <a:pPr marL="0" indent="0">
              <a:buNone/>
            </a:pPr>
            <a:r>
              <a:rPr lang="fr-FR" dirty="0"/>
              <a:t>produit1 = Produit("Laptop", 800, 10)</a:t>
            </a:r>
          </a:p>
          <a:p>
            <a:pPr marL="0" indent="0">
              <a:buNone/>
            </a:pPr>
            <a:r>
              <a:rPr lang="fr-FR" dirty="0"/>
              <a:t>produit2 = Produit("Souris", 25, 50)</a:t>
            </a:r>
          </a:p>
          <a:p>
            <a:endParaRPr lang="fr-FR" dirty="0"/>
          </a:p>
        </p:txBody>
      </p:sp>
    </p:spTree>
    <p:extLst>
      <p:ext uri="{BB962C8B-B14F-4D97-AF65-F5344CB8AC3E}">
        <p14:creationId xmlns:p14="http://schemas.microsoft.com/office/powerpoint/2010/main" val="1506693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A5CD-3CF0-EB31-0173-4043F912868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B60B81-5396-AD0B-B6F1-9D1A3166EEA3}"/>
              </a:ext>
            </a:extLst>
          </p:cNvPr>
          <p:cNvSpPr>
            <a:spLocks noGrp="1"/>
          </p:cNvSpPr>
          <p:nvPr>
            <p:ph idx="1"/>
          </p:nvPr>
        </p:nvSpPr>
        <p:spPr>
          <a:xfrm>
            <a:off x="304799" y="352425"/>
            <a:ext cx="11458575" cy="6134100"/>
          </a:xfrm>
        </p:spPr>
        <p:txBody>
          <a:bodyPr/>
          <a:lstStyle/>
          <a:p>
            <a:pPr marL="0" indent="0">
              <a:buNone/>
            </a:pPr>
            <a:r>
              <a:rPr lang="fr-FR" b="1" dirty="0"/>
              <a:t>Utilisation des méthodes</a:t>
            </a:r>
          </a:p>
          <a:p>
            <a:pPr marL="0" indent="0">
              <a:buNone/>
            </a:pPr>
            <a:endParaRPr lang="fr-FR" dirty="0"/>
          </a:p>
          <a:p>
            <a:pPr marL="0" indent="0">
              <a:buNone/>
            </a:pPr>
            <a:r>
              <a:rPr lang="fr-FR" dirty="0"/>
              <a:t># Appel des méthodes sur produit1</a:t>
            </a:r>
          </a:p>
          <a:p>
            <a:pPr marL="0" indent="0">
              <a:buNone/>
            </a:pPr>
            <a:r>
              <a:rPr lang="fr-FR" dirty="0"/>
              <a:t>produit1.afficher()        # Affiche les infos du produit</a:t>
            </a:r>
          </a:p>
          <a:p>
            <a:pPr marL="0" indent="0">
              <a:buNone/>
            </a:pPr>
            <a:r>
              <a:rPr lang="fr-FR" dirty="0"/>
              <a:t>produit1.ajouter_stock(5)  # Ajoute 5 unités au stock</a:t>
            </a:r>
          </a:p>
          <a:p>
            <a:pPr marL="0" indent="0">
              <a:buNone/>
            </a:pPr>
            <a:r>
              <a:rPr lang="fr-FR" dirty="0"/>
              <a:t>produit1.vendre(3)         # Vend 3 unités</a:t>
            </a:r>
          </a:p>
          <a:p>
            <a:pPr marL="0" indent="0">
              <a:buNone/>
            </a:pPr>
            <a:r>
              <a:rPr lang="fr-FR" dirty="0"/>
              <a:t>produit1.afficher()        # Affiche les infos mises à jour</a:t>
            </a:r>
          </a:p>
          <a:p>
            <a:pPr marL="0" indent="0">
              <a:buNone/>
            </a:pPr>
            <a:endParaRPr lang="fr-FR" dirty="0"/>
          </a:p>
        </p:txBody>
      </p:sp>
    </p:spTree>
    <p:extLst>
      <p:ext uri="{BB962C8B-B14F-4D97-AF65-F5344CB8AC3E}">
        <p14:creationId xmlns:p14="http://schemas.microsoft.com/office/powerpoint/2010/main" val="323090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F642E-482D-B319-950C-4502711CB68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96E1F1F-5D55-F338-9A5A-B1A3534817DD}"/>
              </a:ext>
            </a:extLst>
          </p:cNvPr>
          <p:cNvSpPr>
            <a:spLocks noGrp="1"/>
          </p:cNvSpPr>
          <p:nvPr>
            <p:ph idx="1"/>
          </p:nvPr>
        </p:nvSpPr>
        <p:spPr>
          <a:xfrm>
            <a:off x="304799" y="352425"/>
            <a:ext cx="11458575" cy="6134100"/>
          </a:xfrm>
        </p:spPr>
        <p:txBody>
          <a:bodyPr/>
          <a:lstStyle/>
          <a:p>
            <a:pPr marL="0" indent="0">
              <a:buNone/>
            </a:pPr>
            <a:r>
              <a:rPr lang="fr-FR" b="1" dirty="0"/>
              <a:t>Classe Rectangle </a:t>
            </a:r>
          </a:p>
          <a:p>
            <a:pPr marL="0" indent="0">
              <a:buNone/>
            </a:pPr>
            <a:r>
              <a:rPr lang="fr-FR" dirty="0"/>
              <a:t>Classe avec attributs hauteur et largeur, et méthode pour calculer la surface.</a:t>
            </a:r>
          </a:p>
          <a:p>
            <a:pPr marL="0" indent="0">
              <a:buNone/>
            </a:pPr>
            <a:endParaRPr lang="fr-FR" dirty="0"/>
          </a:p>
          <a:p>
            <a:pPr marL="0" indent="0">
              <a:buNone/>
            </a:pPr>
            <a:r>
              <a:rPr lang="fr-FR" dirty="0"/>
              <a:t>class Rectangle:</a:t>
            </a:r>
          </a:p>
          <a:p>
            <a:pPr marL="0" indent="0">
              <a:buNone/>
            </a:pPr>
            <a:r>
              <a:rPr lang="fr-FR" dirty="0"/>
              <a:t>    </a:t>
            </a:r>
            <a:r>
              <a:rPr lang="fr-FR" dirty="0" err="1"/>
              <a:t>def</a:t>
            </a:r>
            <a:r>
              <a:rPr lang="fr-FR" dirty="0"/>
              <a:t> __init__(self, hauteur, largeur):</a:t>
            </a:r>
          </a:p>
          <a:p>
            <a:pPr marL="0" indent="0">
              <a:buNone/>
            </a:pPr>
            <a:r>
              <a:rPr lang="fr-FR" dirty="0"/>
              <a:t>        </a:t>
            </a:r>
            <a:r>
              <a:rPr lang="fr-FR" dirty="0" err="1"/>
              <a:t>self.hauteur</a:t>
            </a:r>
            <a:r>
              <a:rPr lang="fr-FR" dirty="0"/>
              <a:t> = hauteur</a:t>
            </a:r>
          </a:p>
          <a:p>
            <a:pPr marL="0" indent="0">
              <a:buNone/>
            </a:pPr>
            <a:r>
              <a:rPr lang="fr-FR" dirty="0"/>
              <a:t>        </a:t>
            </a:r>
            <a:r>
              <a:rPr lang="fr-FR" dirty="0" err="1"/>
              <a:t>self.largeur</a:t>
            </a:r>
            <a:r>
              <a:rPr lang="fr-FR" dirty="0"/>
              <a:t> = largeur</a:t>
            </a:r>
          </a:p>
          <a:p>
            <a:pPr marL="0" indent="0">
              <a:buNone/>
            </a:pPr>
            <a:r>
              <a:rPr lang="fr-FR" dirty="0"/>
              <a:t>    </a:t>
            </a:r>
          </a:p>
          <a:p>
            <a:pPr marL="0" indent="0">
              <a:buNone/>
            </a:pPr>
            <a:r>
              <a:rPr lang="fr-FR" dirty="0"/>
              <a:t>    </a:t>
            </a:r>
            <a:r>
              <a:rPr lang="fr-FR" dirty="0" err="1"/>
              <a:t>def</a:t>
            </a:r>
            <a:r>
              <a:rPr lang="fr-FR" dirty="0"/>
              <a:t> surface(self):</a:t>
            </a:r>
          </a:p>
          <a:p>
            <a:pPr marL="0" indent="0">
              <a:buNone/>
            </a:pPr>
            <a:r>
              <a:rPr lang="fr-FR" dirty="0"/>
              <a:t>        return </a:t>
            </a:r>
            <a:r>
              <a:rPr lang="fr-FR" dirty="0" err="1"/>
              <a:t>self.hauteur</a:t>
            </a:r>
            <a:r>
              <a:rPr lang="fr-FR" dirty="0"/>
              <a:t> * </a:t>
            </a:r>
            <a:r>
              <a:rPr lang="fr-FR" dirty="0" err="1"/>
              <a:t>self.largeur</a:t>
            </a:r>
            <a:endParaRPr lang="fr-FR" dirty="0"/>
          </a:p>
          <a:p>
            <a:pPr marL="0" indent="0">
              <a:buNone/>
            </a:pPr>
            <a:endParaRPr lang="fr-FR" dirty="0"/>
          </a:p>
        </p:txBody>
      </p:sp>
    </p:spTree>
    <p:extLst>
      <p:ext uri="{BB962C8B-B14F-4D97-AF65-F5344CB8AC3E}">
        <p14:creationId xmlns:p14="http://schemas.microsoft.com/office/powerpoint/2010/main" val="3311069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F5C8-3F40-5C74-72F2-A3AA197666D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B088F4-EC43-F4BF-80C1-39DF49C8919F}"/>
              </a:ext>
            </a:extLst>
          </p:cNvPr>
          <p:cNvSpPr>
            <a:spLocks noGrp="1"/>
          </p:cNvSpPr>
          <p:nvPr>
            <p:ph idx="1"/>
          </p:nvPr>
        </p:nvSpPr>
        <p:spPr>
          <a:xfrm>
            <a:off x="304799" y="352425"/>
            <a:ext cx="11458575" cy="6134100"/>
          </a:xfrm>
        </p:spPr>
        <p:txBody>
          <a:bodyPr>
            <a:normAutofit fontScale="85000" lnSpcReduction="20000"/>
          </a:bodyPr>
          <a:lstStyle/>
          <a:p>
            <a:pPr marL="0" indent="0">
              <a:buNone/>
            </a:pPr>
            <a:r>
              <a:rPr lang="fr-FR" b="1" dirty="0"/>
              <a:t>Classe </a:t>
            </a:r>
            <a:r>
              <a:rPr lang="fr-FR" b="1" dirty="0" err="1"/>
              <a:t>CompteBancaire</a:t>
            </a:r>
            <a:endParaRPr lang="fr-FR" b="1" dirty="0"/>
          </a:p>
          <a:p>
            <a:pPr marL="0" indent="0">
              <a:buNone/>
            </a:pPr>
            <a:r>
              <a:rPr lang="fr-FR" dirty="0"/>
              <a:t>Classe avec numéro de compte et solde, méthodes pour déposer et retirer.</a:t>
            </a:r>
          </a:p>
          <a:p>
            <a:pPr marL="0" indent="0">
              <a:buNone/>
            </a:pPr>
            <a:endParaRPr lang="fr-FR" dirty="0"/>
          </a:p>
          <a:p>
            <a:pPr marL="0" indent="0">
              <a:buNone/>
            </a:pPr>
            <a:r>
              <a:rPr lang="fr-FR" dirty="0"/>
              <a:t>class </a:t>
            </a:r>
            <a:r>
              <a:rPr lang="fr-FR" dirty="0" err="1"/>
              <a:t>CompteBancaire</a:t>
            </a:r>
            <a:r>
              <a:rPr lang="fr-FR" dirty="0"/>
              <a:t>:</a:t>
            </a:r>
          </a:p>
          <a:p>
            <a:pPr marL="0" indent="0">
              <a:buNone/>
            </a:pPr>
            <a:r>
              <a:rPr lang="fr-FR" dirty="0"/>
              <a:t>    </a:t>
            </a:r>
            <a:r>
              <a:rPr lang="fr-FR" dirty="0" err="1"/>
              <a:t>def</a:t>
            </a:r>
            <a:r>
              <a:rPr lang="fr-FR" dirty="0"/>
              <a:t> __init__(self, </a:t>
            </a:r>
            <a:r>
              <a:rPr lang="fr-FR" dirty="0" err="1"/>
              <a:t>numero_compte</a:t>
            </a:r>
            <a:r>
              <a:rPr lang="fr-FR" dirty="0"/>
              <a:t>, solde):</a:t>
            </a:r>
          </a:p>
          <a:p>
            <a:pPr marL="0" indent="0">
              <a:buNone/>
            </a:pPr>
            <a:r>
              <a:rPr lang="fr-FR" dirty="0"/>
              <a:t>        </a:t>
            </a:r>
            <a:r>
              <a:rPr lang="fr-FR" dirty="0" err="1"/>
              <a:t>self.numero_compte</a:t>
            </a:r>
            <a:r>
              <a:rPr lang="fr-FR" dirty="0"/>
              <a:t> = </a:t>
            </a:r>
            <a:r>
              <a:rPr lang="fr-FR" dirty="0" err="1"/>
              <a:t>numero_compte</a:t>
            </a:r>
            <a:endParaRPr lang="fr-FR" dirty="0"/>
          </a:p>
          <a:p>
            <a:pPr marL="0" indent="0">
              <a:buNone/>
            </a:pPr>
            <a:r>
              <a:rPr lang="fr-FR" dirty="0"/>
              <a:t>        </a:t>
            </a:r>
            <a:r>
              <a:rPr lang="fr-FR" dirty="0" err="1"/>
              <a:t>self.solde</a:t>
            </a:r>
            <a:r>
              <a:rPr lang="fr-FR" dirty="0"/>
              <a:t> = solde</a:t>
            </a:r>
          </a:p>
          <a:p>
            <a:pPr marL="0" indent="0">
              <a:buNone/>
            </a:pPr>
            <a:r>
              <a:rPr lang="fr-FR" dirty="0"/>
              <a:t>    </a:t>
            </a:r>
          </a:p>
          <a:p>
            <a:pPr marL="0" indent="0">
              <a:buNone/>
            </a:pPr>
            <a:r>
              <a:rPr lang="fr-FR" dirty="0"/>
              <a:t>    </a:t>
            </a:r>
            <a:r>
              <a:rPr lang="fr-FR" dirty="0" err="1"/>
              <a:t>def</a:t>
            </a:r>
            <a:r>
              <a:rPr lang="fr-FR" dirty="0"/>
              <a:t> </a:t>
            </a:r>
            <a:r>
              <a:rPr lang="fr-FR" dirty="0" err="1"/>
              <a:t>deposer</a:t>
            </a:r>
            <a:r>
              <a:rPr lang="fr-FR" dirty="0"/>
              <a:t>(self, montant):</a:t>
            </a:r>
          </a:p>
          <a:p>
            <a:pPr marL="0" indent="0">
              <a:buNone/>
            </a:pPr>
            <a:r>
              <a:rPr lang="fr-FR" dirty="0"/>
              <a:t>        </a:t>
            </a:r>
            <a:r>
              <a:rPr lang="fr-FR" dirty="0" err="1"/>
              <a:t>self.solde</a:t>
            </a:r>
            <a:r>
              <a:rPr lang="fr-FR" dirty="0"/>
              <a:t> += montant</a:t>
            </a:r>
          </a:p>
          <a:p>
            <a:pPr marL="0" indent="0">
              <a:buNone/>
            </a:pPr>
            <a:r>
              <a:rPr lang="fr-FR" dirty="0"/>
              <a:t>    </a:t>
            </a:r>
          </a:p>
          <a:p>
            <a:pPr marL="0" indent="0">
              <a:buNone/>
            </a:pPr>
            <a:r>
              <a:rPr lang="fr-FR" dirty="0"/>
              <a:t>    </a:t>
            </a:r>
            <a:r>
              <a:rPr lang="fr-FR" dirty="0" err="1"/>
              <a:t>def</a:t>
            </a:r>
            <a:r>
              <a:rPr lang="fr-FR" dirty="0"/>
              <a:t> retirer(self, montant):</a:t>
            </a:r>
          </a:p>
          <a:p>
            <a:pPr marL="0" indent="0">
              <a:buNone/>
            </a:pPr>
            <a:r>
              <a:rPr lang="fr-FR" dirty="0"/>
              <a:t>        if montant &lt;= </a:t>
            </a:r>
            <a:r>
              <a:rPr lang="fr-FR" dirty="0" err="1"/>
              <a:t>self.solde</a:t>
            </a:r>
            <a:r>
              <a:rPr lang="fr-FR" dirty="0"/>
              <a:t>:</a:t>
            </a:r>
          </a:p>
          <a:p>
            <a:pPr marL="0" indent="0">
              <a:buNone/>
            </a:pPr>
            <a:r>
              <a:rPr lang="fr-FR" dirty="0"/>
              <a:t>            </a:t>
            </a:r>
            <a:r>
              <a:rPr lang="fr-FR" dirty="0" err="1"/>
              <a:t>self.solde</a:t>
            </a:r>
            <a:r>
              <a:rPr lang="fr-FR" dirty="0"/>
              <a:t> -= montant</a:t>
            </a:r>
          </a:p>
          <a:p>
            <a:pPr marL="0" indent="0">
              <a:buNone/>
            </a:pPr>
            <a:r>
              <a:rPr lang="fr-FR" dirty="0"/>
              <a:t>        </a:t>
            </a:r>
            <a:r>
              <a:rPr lang="fr-FR" dirty="0" err="1"/>
              <a:t>else</a:t>
            </a:r>
            <a:r>
              <a:rPr lang="fr-FR" dirty="0"/>
              <a:t>:</a:t>
            </a:r>
          </a:p>
          <a:p>
            <a:pPr marL="0" indent="0">
              <a:buNone/>
            </a:pPr>
            <a:r>
              <a:rPr lang="fr-FR" dirty="0"/>
              <a:t>            </a:t>
            </a:r>
            <a:r>
              <a:rPr lang="fr-FR" dirty="0" err="1"/>
              <a:t>print</a:t>
            </a:r>
            <a:r>
              <a:rPr lang="fr-FR" dirty="0"/>
              <a:t>("Solde insuffisant")</a:t>
            </a:r>
          </a:p>
          <a:p>
            <a:pPr marL="0" indent="0">
              <a:buNone/>
            </a:pPr>
            <a:endParaRPr lang="fr-FR" dirty="0"/>
          </a:p>
        </p:txBody>
      </p:sp>
    </p:spTree>
    <p:extLst>
      <p:ext uri="{BB962C8B-B14F-4D97-AF65-F5344CB8AC3E}">
        <p14:creationId xmlns:p14="http://schemas.microsoft.com/office/powerpoint/2010/main" val="2977294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B594B56-1D72-3FA9-8345-AE9D0116E0FE}"/>
              </a:ext>
            </a:extLst>
          </p:cNvPr>
          <p:cNvSpPr>
            <a:spLocks noGrp="1"/>
          </p:cNvSpPr>
          <p:nvPr>
            <p:ph idx="1"/>
          </p:nvPr>
        </p:nvSpPr>
        <p:spPr/>
        <p:txBody>
          <a:bodyPr/>
          <a:lstStyle/>
          <a:p>
            <a:r>
              <a:rPr lang="fr-FR" dirty="0"/>
              <a:t>On déclare un attribut privé en utilisant deux </a:t>
            </a:r>
            <a:r>
              <a:rPr lang="fr-FR" dirty="0" err="1"/>
              <a:t>underscores</a:t>
            </a:r>
            <a:r>
              <a:rPr lang="fr-FR" dirty="0"/>
              <a:t> __ au début du nom de l'attribut.</a:t>
            </a:r>
          </a:p>
        </p:txBody>
      </p:sp>
    </p:spTree>
    <p:extLst>
      <p:ext uri="{BB962C8B-B14F-4D97-AF65-F5344CB8AC3E}">
        <p14:creationId xmlns:p14="http://schemas.microsoft.com/office/powerpoint/2010/main" val="3266129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83D8-5CAB-48EC-834B-4F76219E24F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98BA482-FC9D-7EEB-C4BF-3EE9E1BE615D}"/>
              </a:ext>
            </a:extLst>
          </p:cNvPr>
          <p:cNvSpPr>
            <a:spLocks noGrp="1"/>
          </p:cNvSpPr>
          <p:nvPr>
            <p:ph idx="1"/>
          </p:nvPr>
        </p:nvSpPr>
        <p:spPr>
          <a:xfrm>
            <a:off x="304799" y="352425"/>
            <a:ext cx="11458575" cy="6134100"/>
          </a:xfrm>
        </p:spPr>
        <p:txBody>
          <a:bodyPr>
            <a:normAutofit fontScale="85000" lnSpcReduction="20000"/>
          </a:bodyPr>
          <a:lstStyle/>
          <a:p>
            <a:pPr marL="0" indent="0">
              <a:buNone/>
            </a:pPr>
            <a:r>
              <a:rPr lang="fr-FR" b="1" dirty="0">
                <a:solidFill>
                  <a:srgbClr val="EE0000"/>
                </a:solidFill>
              </a:rPr>
              <a:t>Classe Note :</a:t>
            </a:r>
          </a:p>
          <a:p>
            <a:pPr marL="0" indent="0">
              <a:buNone/>
            </a:pPr>
            <a:r>
              <a:rPr lang="fr-FR" dirty="0">
                <a:solidFill>
                  <a:srgbClr val="EE0000"/>
                </a:solidFill>
              </a:rPr>
              <a:t>Classe avec </a:t>
            </a:r>
            <a:r>
              <a:rPr lang="fr-FR" dirty="0" err="1">
                <a:solidFill>
                  <a:srgbClr val="EE0000"/>
                </a:solidFill>
              </a:rPr>
              <a:t>nom_etudiant</a:t>
            </a:r>
            <a:r>
              <a:rPr lang="fr-FR" dirty="0">
                <a:solidFill>
                  <a:srgbClr val="EE0000"/>
                </a:solidFill>
              </a:rPr>
              <a:t> public et note privé, avec getter et setter.</a:t>
            </a:r>
          </a:p>
          <a:p>
            <a:pPr marL="0" indent="0">
              <a:buNone/>
            </a:pPr>
            <a:endParaRPr lang="fr-FR" dirty="0"/>
          </a:p>
          <a:p>
            <a:pPr marL="0" indent="0">
              <a:buNone/>
            </a:pPr>
            <a:r>
              <a:rPr lang="fr-FR" dirty="0"/>
              <a:t>class Note:</a:t>
            </a:r>
          </a:p>
          <a:p>
            <a:pPr marL="0" indent="0">
              <a:buNone/>
            </a:pPr>
            <a:r>
              <a:rPr lang="fr-FR" dirty="0"/>
              <a:t>    </a:t>
            </a:r>
            <a:r>
              <a:rPr lang="fr-FR" dirty="0" err="1"/>
              <a:t>def</a:t>
            </a:r>
            <a:r>
              <a:rPr lang="fr-FR" dirty="0"/>
              <a:t> __init__(self, </a:t>
            </a:r>
            <a:r>
              <a:rPr lang="fr-FR" dirty="0" err="1"/>
              <a:t>nom_etudiant</a:t>
            </a:r>
            <a:r>
              <a:rPr lang="fr-FR" dirty="0"/>
              <a:t>, note):</a:t>
            </a:r>
          </a:p>
          <a:p>
            <a:pPr marL="0" indent="0">
              <a:buNone/>
            </a:pPr>
            <a:r>
              <a:rPr lang="fr-FR" dirty="0"/>
              <a:t>        </a:t>
            </a:r>
            <a:r>
              <a:rPr lang="fr-FR" dirty="0" err="1"/>
              <a:t>self.nom_etudiant</a:t>
            </a:r>
            <a:r>
              <a:rPr lang="fr-FR" dirty="0"/>
              <a:t> = </a:t>
            </a:r>
            <a:r>
              <a:rPr lang="fr-FR" dirty="0" err="1"/>
              <a:t>nom_etudiant</a:t>
            </a:r>
            <a:endParaRPr lang="fr-FR" dirty="0"/>
          </a:p>
          <a:p>
            <a:pPr marL="0" indent="0">
              <a:buNone/>
            </a:pPr>
            <a:r>
              <a:rPr lang="fr-FR" dirty="0"/>
              <a:t>        </a:t>
            </a:r>
            <a:r>
              <a:rPr lang="fr-FR" dirty="0" err="1"/>
              <a:t>self.__note</a:t>
            </a:r>
            <a:r>
              <a:rPr lang="fr-FR" dirty="0"/>
              <a:t> = note  # Attribut privé</a:t>
            </a:r>
          </a:p>
          <a:p>
            <a:pPr marL="0" indent="0">
              <a:buNone/>
            </a:pPr>
            <a:r>
              <a:rPr lang="fr-FR" dirty="0"/>
              <a:t>    </a:t>
            </a:r>
          </a:p>
          <a:p>
            <a:pPr marL="0" indent="0">
              <a:buNone/>
            </a:pPr>
            <a:r>
              <a:rPr lang="fr-FR" dirty="0"/>
              <a:t>    </a:t>
            </a:r>
            <a:r>
              <a:rPr lang="fr-FR" dirty="0" err="1"/>
              <a:t>def</a:t>
            </a:r>
            <a:r>
              <a:rPr lang="fr-FR" dirty="0"/>
              <a:t> </a:t>
            </a:r>
            <a:r>
              <a:rPr lang="fr-FR" dirty="0" err="1"/>
              <a:t>setNote</a:t>
            </a:r>
            <a:r>
              <a:rPr lang="fr-FR" dirty="0"/>
              <a:t>(self, </a:t>
            </a:r>
            <a:r>
              <a:rPr lang="fr-FR" dirty="0" err="1"/>
              <a:t>nouvelle_note</a:t>
            </a:r>
            <a:r>
              <a:rPr lang="fr-FR" dirty="0"/>
              <a:t>):</a:t>
            </a:r>
          </a:p>
          <a:p>
            <a:pPr marL="0" indent="0">
              <a:buNone/>
            </a:pPr>
            <a:r>
              <a:rPr lang="fr-FR" dirty="0"/>
              <a:t>        if 0 &lt;= </a:t>
            </a:r>
            <a:r>
              <a:rPr lang="fr-FR" dirty="0" err="1"/>
              <a:t>nouvelle_note</a:t>
            </a:r>
            <a:r>
              <a:rPr lang="fr-FR" dirty="0"/>
              <a:t> &lt;= 20:</a:t>
            </a:r>
          </a:p>
          <a:p>
            <a:pPr marL="0" indent="0">
              <a:buNone/>
            </a:pPr>
            <a:r>
              <a:rPr lang="fr-FR" dirty="0"/>
              <a:t>            </a:t>
            </a:r>
            <a:r>
              <a:rPr lang="fr-FR" dirty="0" err="1"/>
              <a:t>self.__note</a:t>
            </a:r>
            <a:r>
              <a:rPr lang="fr-FR" dirty="0"/>
              <a:t> = </a:t>
            </a:r>
            <a:r>
              <a:rPr lang="fr-FR" dirty="0" err="1"/>
              <a:t>nouvelle_note</a:t>
            </a:r>
            <a:endParaRPr lang="fr-FR" dirty="0"/>
          </a:p>
          <a:p>
            <a:pPr marL="0" indent="0">
              <a:buNone/>
            </a:pPr>
            <a:r>
              <a:rPr lang="fr-FR" dirty="0"/>
              <a:t>        </a:t>
            </a:r>
            <a:r>
              <a:rPr lang="fr-FR" dirty="0" err="1"/>
              <a:t>else</a:t>
            </a:r>
            <a:r>
              <a:rPr lang="fr-FR" dirty="0"/>
              <a:t>:</a:t>
            </a:r>
          </a:p>
          <a:p>
            <a:pPr marL="0" indent="0">
              <a:buNone/>
            </a:pPr>
            <a:r>
              <a:rPr lang="fr-FR" dirty="0"/>
              <a:t>            </a:t>
            </a:r>
            <a:r>
              <a:rPr lang="fr-FR" dirty="0" err="1"/>
              <a:t>print</a:t>
            </a:r>
            <a:r>
              <a:rPr lang="fr-FR" dirty="0"/>
              <a:t>("Erreur: La note doit être entre 0 et 20")</a:t>
            </a:r>
          </a:p>
          <a:p>
            <a:pPr marL="0" indent="0">
              <a:buNone/>
            </a:pPr>
            <a:r>
              <a:rPr lang="fr-FR" dirty="0"/>
              <a:t>    </a:t>
            </a:r>
          </a:p>
          <a:p>
            <a:pPr marL="0" indent="0">
              <a:buNone/>
            </a:pPr>
            <a:r>
              <a:rPr lang="fr-FR" dirty="0"/>
              <a:t>    </a:t>
            </a:r>
            <a:r>
              <a:rPr lang="fr-FR" dirty="0" err="1"/>
              <a:t>def</a:t>
            </a:r>
            <a:r>
              <a:rPr lang="fr-FR" dirty="0"/>
              <a:t> </a:t>
            </a:r>
            <a:r>
              <a:rPr lang="fr-FR" dirty="0" err="1"/>
              <a:t>getNote</a:t>
            </a:r>
            <a:r>
              <a:rPr lang="fr-FR" dirty="0"/>
              <a:t>(self):</a:t>
            </a:r>
          </a:p>
          <a:p>
            <a:pPr marL="0" indent="0">
              <a:buNone/>
            </a:pPr>
            <a:r>
              <a:rPr lang="fr-FR" dirty="0"/>
              <a:t>        return </a:t>
            </a:r>
            <a:r>
              <a:rPr lang="fr-FR" dirty="0" err="1"/>
              <a:t>self.__note</a:t>
            </a:r>
            <a:endParaRPr lang="fr-FR" dirty="0"/>
          </a:p>
          <a:p>
            <a:pPr marL="0" indent="0">
              <a:buNone/>
            </a:pPr>
            <a:endParaRPr lang="fr-FR" dirty="0"/>
          </a:p>
        </p:txBody>
      </p:sp>
    </p:spTree>
    <p:extLst>
      <p:ext uri="{BB962C8B-B14F-4D97-AF65-F5344CB8AC3E}">
        <p14:creationId xmlns:p14="http://schemas.microsoft.com/office/powerpoint/2010/main" val="1104445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FB93834-B154-3671-74F3-86DC3938F473}"/>
              </a:ext>
            </a:extLst>
          </p:cNvPr>
          <p:cNvSpPr>
            <a:spLocks noGrp="1"/>
          </p:cNvSpPr>
          <p:nvPr>
            <p:ph idx="1"/>
          </p:nvPr>
        </p:nvSpPr>
        <p:spPr/>
        <p:txBody>
          <a:bodyPr/>
          <a:lstStyle/>
          <a:p>
            <a:pPr marL="0" indent="0">
              <a:buNone/>
            </a:pPr>
            <a:r>
              <a:rPr lang="fr-FR" dirty="0"/>
              <a:t>n1 = Note("</a:t>
            </a:r>
            <a:r>
              <a:rPr lang="fr-FR" dirty="0" err="1"/>
              <a:t>kamal</a:t>
            </a:r>
            <a:r>
              <a:rPr lang="fr-FR" dirty="0"/>
              <a:t>", 9)      # Instanciation</a:t>
            </a:r>
          </a:p>
          <a:p>
            <a:pPr marL="0" indent="0">
              <a:buNone/>
            </a:pPr>
            <a:r>
              <a:rPr lang="fr-FR" dirty="0"/>
              <a:t>n1.nom_etudiant = "Ahmed"  # Modification du nom</a:t>
            </a:r>
          </a:p>
          <a:p>
            <a:pPr marL="0" indent="0">
              <a:buNone/>
            </a:pPr>
            <a:r>
              <a:rPr lang="fr-FR" dirty="0"/>
              <a:t>n1.setNote(10)             # Modification de la note via setter</a:t>
            </a:r>
          </a:p>
          <a:p>
            <a:pPr marL="0" indent="0">
              <a:buNone/>
            </a:pPr>
            <a:r>
              <a:rPr lang="fr-FR" dirty="0" err="1"/>
              <a:t>print</a:t>
            </a:r>
            <a:r>
              <a:rPr lang="fr-FR" dirty="0"/>
              <a:t>(n1.nom_etudiant)     # Affichage direct du nom</a:t>
            </a:r>
          </a:p>
          <a:p>
            <a:pPr marL="0" indent="0">
              <a:buNone/>
            </a:pPr>
            <a:r>
              <a:rPr lang="fr-FR" dirty="0" err="1"/>
              <a:t>print</a:t>
            </a:r>
            <a:r>
              <a:rPr lang="fr-FR" dirty="0"/>
              <a:t>(n1.getNote())        # Affichage de la note via getter</a:t>
            </a:r>
          </a:p>
          <a:p>
            <a:endParaRPr lang="fr-FR" dirty="0"/>
          </a:p>
        </p:txBody>
      </p:sp>
    </p:spTree>
    <p:extLst>
      <p:ext uri="{BB962C8B-B14F-4D97-AF65-F5344CB8AC3E}">
        <p14:creationId xmlns:p14="http://schemas.microsoft.com/office/powerpoint/2010/main" val="24345684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425171-4D1A-824F-DCBA-CE26C8EB173B}"/>
              </a:ext>
            </a:extLst>
          </p:cNvPr>
          <p:cNvSpPr>
            <a:spLocks noGrp="1"/>
          </p:cNvSpPr>
          <p:nvPr>
            <p:ph type="title"/>
          </p:nvPr>
        </p:nvSpPr>
        <p:spPr/>
        <p:txBody>
          <a:bodyPr/>
          <a:lstStyle/>
          <a:p>
            <a:r>
              <a:rPr lang="fr-FR" b="1" dirty="0">
                <a:solidFill>
                  <a:srgbClr val="EE0000"/>
                </a:solidFill>
              </a:rPr>
              <a:t>Et si on essaye de tricher ?</a:t>
            </a:r>
          </a:p>
        </p:txBody>
      </p:sp>
      <p:sp>
        <p:nvSpPr>
          <p:cNvPr id="3" name="Espace réservé du contenu 2">
            <a:extLst>
              <a:ext uri="{FF2B5EF4-FFF2-40B4-BE49-F238E27FC236}">
                <a16:creationId xmlns:a16="http://schemas.microsoft.com/office/drawing/2014/main" id="{4D2DC509-EB57-76A6-DD44-4C7549762CCB}"/>
              </a:ext>
            </a:extLst>
          </p:cNvPr>
          <p:cNvSpPr>
            <a:spLocks noGrp="1"/>
          </p:cNvSpPr>
          <p:nvPr>
            <p:ph idx="1"/>
          </p:nvPr>
        </p:nvSpPr>
        <p:spPr/>
        <p:txBody>
          <a:bodyPr/>
          <a:lstStyle/>
          <a:p>
            <a:r>
              <a:rPr lang="fr-FR" dirty="0"/>
              <a:t>Si quelqu’un veut </a:t>
            </a:r>
            <a:r>
              <a:rPr lang="fr-FR" dirty="0" err="1"/>
              <a:t>modifer</a:t>
            </a:r>
            <a:r>
              <a:rPr lang="fr-FR" dirty="0"/>
              <a:t> la note sans passer par </a:t>
            </a:r>
            <a:r>
              <a:rPr lang="fr-FR" dirty="0" err="1"/>
              <a:t>setNote</a:t>
            </a:r>
            <a:r>
              <a:rPr lang="fr-FR" dirty="0"/>
              <a:t> ?  </a:t>
            </a:r>
          </a:p>
        </p:txBody>
      </p:sp>
    </p:spTree>
    <p:extLst>
      <p:ext uri="{BB962C8B-B14F-4D97-AF65-F5344CB8AC3E}">
        <p14:creationId xmlns:p14="http://schemas.microsoft.com/office/powerpoint/2010/main" val="2059561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FF5B0-EF71-5440-C147-E493D731494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EC32416-DE5D-8ED4-A2A0-2BC9537BCA30}"/>
              </a:ext>
            </a:extLst>
          </p:cNvPr>
          <p:cNvSpPr>
            <a:spLocks noGrp="1"/>
          </p:cNvSpPr>
          <p:nvPr>
            <p:ph idx="1"/>
          </p:nvPr>
        </p:nvSpPr>
        <p:spPr/>
        <p:txBody>
          <a:bodyPr/>
          <a:lstStyle/>
          <a:p>
            <a:endParaRPr lang="fr-FR" dirty="0"/>
          </a:p>
          <a:p>
            <a:r>
              <a:rPr lang="fr-FR" dirty="0"/>
              <a:t>On va instancier un objet n1 et on exécutera cette instruction : </a:t>
            </a:r>
          </a:p>
          <a:p>
            <a:pPr marL="0" indent="0">
              <a:buNone/>
            </a:pPr>
            <a:endParaRPr lang="fr-FR" dirty="0"/>
          </a:p>
          <a:p>
            <a:pPr marL="0" indent="0">
              <a:buNone/>
            </a:pPr>
            <a:r>
              <a:rPr lang="fr-FR" dirty="0"/>
              <a:t>n1.__note = 18</a:t>
            </a:r>
          </a:p>
          <a:p>
            <a:endParaRPr lang="fr-FR" dirty="0"/>
          </a:p>
        </p:txBody>
      </p:sp>
    </p:spTree>
    <p:extLst>
      <p:ext uri="{BB962C8B-B14F-4D97-AF65-F5344CB8AC3E}">
        <p14:creationId xmlns:p14="http://schemas.microsoft.com/office/powerpoint/2010/main" val="3861861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076FFD-35E9-92E5-946F-28F73AE32DA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02780AA-0B56-611B-4758-768D966CEB48}"/>
              </a:ext>
            </a:extLst>
          </p:cNvPr>
          <p:cNvSpPr>
            <a:spLocks noGrp="1"/>
          </p:cNvSpPr>
          <p:nvPr>
            <p:ph idx="1"/>
          </p:nvPr>
        </p:nvSpPr>
        <p:spPr/>
        <p:txBody>
          <a:bodyPr/>
          <a:lstStyle/>
          <a:p>
            <a:pPr marL="0" indent="0">
              <a:buNone/>
            </a:pPr>
            <a:r>
              <a:rPr lang="fr-FR" b="1" dirty="0">
                <a:solidFill>
                  <a:srgbClr val="EE0000"/>
                </a:solidFill>
              </a:rPr>
              <a:t>Quand vous faites :</a:t>
            </a:r>
          </a:p>
          <a:p>
            <a:pPr marL="0" indent="0">
              <a:buNone/>
            </a:pPr>
            <a:endParaRPr lang="fr-FR" b="1" dirty="0">
              <a:solidFill>
                <a:srgbClr val="EE0000"/>
              </a:solidFill>
            </a:endParaRPr>
          </a:p>
          <a:p>
            <a:pPr marL="0" indent="0">
              <a:buNone/>
            </a:pPr>
            <a:r>
              <a:rPr lang="fr-FR" b="1" dirty="0">
                <a:solidFill>
                  <a:srgbClr val="EE0000"/>
                </a:solidFill>
              </a:rPr>
              <a:t>n1.__note = 18</a:t>
            </a:r>
          </a:p>
          <a:p>
            <a:pPr marL="0" indent="0">
              <a:buNone/>
            </a:pPr>
            <a:endParaRPr lang="fr-FR" b="1" dirty="0">
              <a:solidFill>
                <a:srgbClr val="EE0000"/>
              </a:solidFill>
            </a:endParaRPr>
          </a:p>
          <a:p>
            <a:pPr marL="0" indent="0">
              <a:buNone/>
            </a:pPr>
            <a:r>
              <a:rPr lang="fr-FR" b="1" dirty="0">
                <a:solidFill>
                  <a:srgbClr val="EE0000"/>
                </a:solidFill>
              </a:rPr>
              <a:t>Python ne modifie pas l'attribut privé __note de la classe, mais crée un NOUVEL attribut public appelé __note !</a:t>
            </a:r>
          </a:p>
          <a:p>
            <a:endParaRPr lang="fr-FR" dirty="0"/>
          </a:p>
        </p:txBody>
      </p:sp>
    </p:spTree>
    <p:extLst>
      <p:ext uri="{BB962C8B-B14F-4D97-AF65-F5344CB8AC3E}">
        <p14:creationId xmlns:p14="http://schemas.microsoft.com/office/powerpoint/2010/main" val="32844519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C1ACE07-5810-35EA-44B5-ECC3EE982D54}"/>
              </a:ext>
            </a:extLst>
          </p:cNvPr>
          <p:cNvSpPr>
            <a:spLocks noGrp="1"/>
          </p:cNvSpPr>
          <p:nvPr>
            <p:ph idx="1"/>
          </p:nvPr>
        </p:nvSpPr>
        <p:spPr>
          <a:xfrm>
            <a:off x="647700" y="488156"/>
            <a:ext cx="10515600" cy="5881688"/>
          </a:xfrm>
        </p:spPr>
        <p:txBody>
          <a:bodyPr>
            <a:normAutofit fontScale="47500" lnSpcReduction="20000"/>
          </a:bodyPr>
          <a:lstStyle/>
          <a:p>
            <a:pPr marL="0" indent="0">
              <a:buNone/>
            </a:pPr>
            <a:r>
              <a:rPr lang="fr-FR" dirty="0"/>
              <a:t>class Note:</a:t>
            </a:r>
          </a:p>
          <a:p>
            <a:pPr marL="0" indent="0">
              <a:buNone/>
            </a:pPr>
            <a:r>
              <a:rPr lang="fr-FR" dirty="0"/>
              <a:t>    </a:t>
            </a:r>
            <a:r>
              <a:rPr lang="fr-FR" dirty="0" err="1"/>
              <a:t>def</a:t>
            </a:r>
            <a:r>
              <a:rPr lang="fr-FR" dirty="0"/>
              <a:t> __init__(self, </a:t>
            </a:r>
            <a:r>
              <a:rPr lang="fr-FR" dirty="0" err="1"/>
              <a:t>nom_etudiant</a:t>
            </a:r>
            <a:r>
              <a:rPr lang="fr-FR" dirty="0"/>
              <a:t>, note):</a:t>
            </a:r>
          </a:p>
          <a:p>
            <a:pPr marL="0" indent="0">
              <a:buNone/>
            </a:pPr>
            <a:r>
              <a:rPr lang="fr-FR" dirty="0"/>
              <a:t>        </a:t>
            </a:r>
            <a:r>
              <a:rPr lang="fr-FR" dirty="0" err="1"/>
              <a:t>self.nom_etudiant</a:t>
            </a:r>
            <a:r>
              <a:rPr lang="fr-FR" dirty="0"/>
              <a:t> = </a:t>
            </a:r>
            <a:r>
              <a:rPr lang="fr-FR" dirty="0" err="1"/>
              <a:t>nom_etudiant</a:t>
            </a:r>
            <a:endParaRPr lang="fr-FR" dirty="0"/>
          </a:p>
          <a:p>
            <a:pPr marL="0" indent="0">
              <a:buNone/>
            </a:pPr>
            <a:r>
              <a:rPr lang="fr-FR" dirty="0"/>
              <a:t>        </a:t>
            </a:r>
            <a:r>
              <a:rPr lang="fr-FR" dirty="0" err="1"/>
              <a:t>self.__note</a:t>
            </a:r>
            <a:r>
              <a:rPr lang="fr-FR" dirty="0"/>
              <a:t> = note  # Attribut privé → devient _</a:t>
            </a:r>
            <a:r>
              <a:rPr lang="fr-FR" dirty="0" err="1"/>
              <a:t>Note__note</a:t>
            </a:r>
            <a:endParaRPr lang="fr-FR" dirty="0"/>
          </a:p>
          <a:p>
            <a:pPr marL="0" indent="0">
              <a:buNone/>
            </a:pPr>
            <a:r>
              <a:rPr lang="fr-FR" dirty="0"/>
              <a:t>    </a:t>
            </a:r>
          </a:p>
          <a:p>
            <a:pPr marL="0" indent="0">
              <a:buNone/>
            </a:pPr>
            <a:r>
              <a:rPr lang="fr-FR" dirty="0"/>
              <a:t>    </a:t>
            </a:r>
            <a:r>
              <a:rPr lang="fr-FR" dirty="0" err="1"/>
              <a:t>def</a:t>
            </a:r>
            <a:r>
              <a:rPr lang="fr-FR" dirty="0"/>
              <a:t> </a:t>
            </a:r>
            <a:r>
              <a:rPr lang="fr-FR" dirty="0" err="1"/>
              <a:t>getNote</a:t>
            </a:r>
            <a:r>
              <a:rPr lang="fr-FR" dirty="0"/>
              <a:t>(self):</a:t>
            </a:r>
          </a:p>
          <a:p>
            <a:pPr marL="0" indent="0">
              <a:buNone/>
            </a:pPr>
            <a:r>
              <a:rPr lang="fr-FR" dirty="0"/>
              <a:t>        return </a:t>
            </a:r>
            <a:r>
              <a:rPr lang="fr-FR" dirty="0" err="1"/>
              <a:t>self.__note</a:t>
            </a:r>
            <a:r>
              <a:rPr lang="fr-FR" dirty="0"/>
              <a:t>  # Retourne _</a:t>
            </a:r>
            <a:r>
              <a:rPr lang="fr-FR" dirty="0" err="1"/>
              <a:t>Note__note</a:t>
            </a:r>
            <a:endParaRPr lang="fr-FR" dirty="0"/>
          </a:p>
          <a:p>
            <a:pPr marL="0" indent="0">
              <a:buNone/>
            </a:pPr>
            <a:endParaRPr lang="fr-FR" dirty="0"/>
          </a:p>
          <a:p>
            <a:pPr marL="0" indent="0">
              <a:buNone/>
            </a:pPr>
            <a:r>
              <a:rPr lang="fr-FR" dirty="0"/>
              <a:t># Test</a:t>
            </a:r>
          </a:p>
          <a:p>
            <a:pPr marL="0" indent="0">
              <a:buNone/>
            </a:pPr>
            <a:r>
              <a:rPr lang="fr-FR" dirty="0"/>
              <a:t>n1 = Note("</a:t>
            </a:r>
            <a:r>
              <a:rPr lang="fr-FR" dirty="0" err="1"/>
              <a:t>ahmed</a:t>
            </a:r>
            <a:r>
              <a:rPr lang="fr-FR" dirty="0"/>
              <a:t>", 9)</a:t>
            </a:r>
          </a:p>
          <a:p>
            <a:pPr marL="0" indent="0">
              <a:buNone/>
            </a:pPr>
            <a:endParaRPr lang="fr-FR" dirty="0"/>
          </a:p>
          <a:p>
            <a:pPr marL="0" indent="0">
              <a:buNone/>
            </a:pPr>
            <a:r>
              <a:rPr lang="fr-FR" dirty="0" err="1"/>
              <a:t>print</a:t>
            </a:r>
            <a:r>
              <a:rPr lang="fr-FR" dirty="0"/>
              <a:t>("Avant modification:")</a:t>
            </a:r>
          </a:p>
          <a:p>
            <a:pPr marL="0" indent="0">
              <a:buNone/>
            </a:pPr>
            <a:r>
              <a:rPr lang="fr-FR" dirty="0" err="1"/>
              <a:t>print</a:t>
            </a:r>
            <a:r>
              <a:rPr lang="fr-FR" dirty="0"/>
              <a:t>(</a:t>
            </a:r>
            <a:r>
              <a:rPr lang="fr-FR" dirty="0" err="1"/>
              <a:t>f"getNote</a:t>
            </a:r>
            <a:r>
              <a:rPr lang="fr-FR" dirty="0"/>
              <a:t>(): {n1.getNote()}")  # 9</a:t>
            </a:r>
          </a:p>
          <a:p>
            <a:pPr marL="0" indent="0">
              <a:buNone/>
            </a:pPr>
            <a:r>
              <a:rPr lang="fr-FR" dirty="0" err="1"/>
              <a:t>print</a:t>
            </a:r>
            <a:r>
              <a:rPr lang="fr-FR" dirty="0"/>
              <a:t>(</a:t>
            </a:r>
            <a:r>
              <a:rPr lang="fr-FR" dirty="0" err="1"/>
              <a:t>f"Attributs</a:t>
            </a:r>
            <a:r>
              <a:rPr lang="fr-FR" dirty="0"/>
              <a:t>: {n1.__dict__}")   # {'</a:t>
            </a:r>
            <a:r>
              <a:rPr lang="fr-FR" dirty="0" err="1"/>
              <a:t>nom_etudiant</a:t>
            </a:r>
            <a:r>
              <a:rPr lang="fr-FR" dirty="0"/>
              <a:t>': '</a:t>
            </a:r>
            <a:r>
              <a:rPr lang="fr-FR" dirty="0" err="1"/>
              <a:t>ahmed</a:t>
            </a:r>
            <a:r>
              <a:rPr lang="fr-FR" dirty="0"/>
              <a:t>', '_</a:t>
            </a:r>
            <a:r>
              <a:rPr lang="fr-FR" dirty="0" err="1"/>
              <a:t>Note__note</a:t>
            </a:r>
            <a:r>
              <a:rPr lang="fr-FR" dirty="0"/>
              <a:t>': 9}</a:t>
            </a:r>
          </a:p>
          <a:p>
            <a:pPr marL="0" indent="0">
              <a:buNone/>
            </a:pPr>
            <a:endParaRPr lang="fr-FR" dirty="0"/>
          </a:p>
          <a:p>
            <a:pPr marL="0" indent="0">
              <a:buNone/>
            </a:pPr>
            <a:r>
              <a:rPr lang="fr-FR" dirty="0"/>
              <a:t># Modification "externe"</a:t>
            </a:r>
          </a:p>
          <a:p>
            <a:pPr marL="0" indent="0">
              <a:buNone/>
            </a:pPr>
            <a:r>
              <a:rPr lang="fr-FR" dirty="0"/>
              <a:t>n1.__note = 18</a:t>
            </a:r>
          </a:p>
          <a:p>
            <a:pPr marL="0" indent="0">
              <a:buNone/>
            </a:pPr>
            <a:endParaRPr lang="fr-FR" dirty="0"/>
          </a:p>
          <a:p>
            <a:pPr marL="0" indent="0">
              <a:buNone/>
            </a:pPr>
            <a:r>
              <a:rPr lang="fr-FR" dirty="0" err="1"/>
              <a:t>print</a:t>
            </a:r>
            <a:r>
              <a:rPr lang="fr-FR" dirty="0"/>
              <a:t>("\</a:t>
            </a:r>
            <a:r>
              <a:rPr lang="fr-FR" dirty="0" err="1"/>
              <a:t>nAprès</a:t>
            </a:r>
            <a:r>
              <a:rPr lang="fr-FR" dirty="0"/>
              <a:t> n1.__note = 18:")</a:t>
            </a:r>
          </a:p>
          <a:p>
            <a:pPr marL="0" indent="0">
              <a:buNone/>
            </a:pPr>
            <a:r>
              <a:rPr lang="fr-FR" dirty="0" err="1"/>
              <a:t>print</a:t>
            </a:r>
            <a:r>
              <a:rPr lang="fr-FR" dirty="0"/>
              <a:t>(</a:t>
            </a:r>
            <a:r>
              <a:rPr lang="fr-FR" dirty="0" err="1"/>
              <a:t>f"getNote</a:t>
            </a:r>
            <a:r>
              <a:rPr lang="fr-FR" dirty="0"/>
              <a:t>(): {n1.getNote()}")  # 9 ← toujours l'ancienne valeur !</a:t>
            </a:r>
          </a:p>
          <a:p>
            <a:pPr marL="0" indent="0">
              <a:buNone/>
            </a:pPr>
            <a:r>
              <a:rPr lang="fr-FR" dirty="0" err="1"/>
              <a:t>print</a:t>
            </a:r>
            <a:r>
              <a:rPr lang="fr-FR" dirty="0"/>
              <a:t>(f"n1.__note: {n1.__note}")     # 18 ← nouveau attribut public</a:t>
            </a:r>
          </a:p>
          <a:p>
            <a:pPr marL="0" indent="0">
              <a:buNone/>
            </a:pPr>
            <a:r>
              <a:rPr lang="fr-FR" dirty="0" err="1"/>
              <a:t>print</a:t>
            </a:r>
            <a:r>
              <a:rPr lang="fr-FR" dirty="0"/>
              <a:t>(</a:t>
            </a:r>
            <a:r>
              <a:rPr lang="fr-FR" dirty="0" err="1"/>
              <a:t>f"Attributs</a:t>
            </a:r>
            <a:r>
              <a:rPr lang="fr-FR" dirty="0"/>
              <a:t>: {n1.__dict__}")   # {'</a:t>
            </a:r>
            <a:r>
              <a:rPr lang="fr-FR" dirty="0" err="1"/>
              <a:t>nom_etudiant</a:t>
            </a:r>
            <a:r>
              <a:rPr lang="fr-FR" dirty="0"/>
              <a:t>': '</a:t>
            </a:r>
            <a:r>
              <a:rPr lang="fr-FR" dirty="0" err="1"/>
              <a:t>kamal</a:t>
            </a:r>
            <a:r>
              <a:rPr lang="fr-FR" dirty="0"/>
              <a:t>', '_</a:t>
            </a:r>
            <a:r>
              <a:rPr lang="fr-FR" dirty="0" err="1"/>
              <a:t>Note__note</a:t>
            </a:r>
            <a:r>
              <a:rPr lang="fr-FR" dirty="0"/>
              <a:t>': 9, '__note': 18}</a:t>
            </a:r>
          </a:p>
          <a:p>
            <a:pPr marL="0" indent="0">
              <a:buNone/>
            </a:pPr>
            <a:endParaRPr lang="fr-FR" dirty="0"/>
          </a:p>
        </p:txBody>
      </p:sp>
    </p:spTree>
    <p:extLst>
      <p:ext uri="{BB962C8B-B14F-4D97-AF65-F5344CB8AC3E}">
        <p14:creationId xmlns:p14="http://schemas.microsoft.com/office/powerpoint/2010/main" val="2350805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010EA-5983-0FC9-92A5-26A64E32276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FB90D11-DA31-CF92-674F-669991EF7138}"/>
              </a:ext>
            </a:extLst>
          </p:cNvPr>
          <p:cNvSpPr>
            <a:spLocks noGrp="1"/>
          </p:cNvSpPr>
          <p:nvPr>
            <p:ph idx="1"/>
          </p:nvPr>
        </p:nvSpPr>
        <p:spPr>
          <a:xfrm>
            <a:off x="304799" y="352425"/>
            <a:ext cx="11458575" cy="6134100"/>
          </a:xfrm>
        </p:spPr>
        <p:txBody>
          <a:bodyPr>
            <a:normAutofit fontScale="92500" lnSpcReduction="10000"/>
          </a:bodyPr>
          <a:lstStyle/>
          <a:p>
            <a:pPr marL="0" indent="0">
              <a:buNone/>
            </a:pPr>
            <a:r>
              <a:rPr lang="fr-FR" b="1" dirty="0"/>
              <a:t>Classe Etudiant </a:t>
            </a:r>
          </a:p>
          <a:p>
            <a:pPr marL="0" indent="0">
              <a:buNone/>
            </a:pPr>
            <a:r>
              <a:rPr lang="fr-FR" dirty="0"/>
              <a:t>Classe représentant un étudiant avec nom, âge et méthodes étudier et dormir.</a:t>
            </a:r>
          </a:p>
          <a:p>
            <a:pPr marL="0" indent="0">
              <a:buNone/>
            </a:pPr>
            <a:endParaRPr lang="fr-FR" dirty="0"/>
          </a:p>
          <a:p>
            <a:pPr marL="0" indent="0">
              <a:buNone/>
            </a:pPr>
            <a:r>
              <a:rPr lang="fr-FR" dirty="0"/>
              <a:t>class Etudiant:</a:t>
            </a:r>
          </a:p>
          <a:p>
            <a:pPr marL="0" indent="0">
              <a:buNone/>
            </a:pPr>
            <a:r>
              <a:rPr lang="fr-FR" dirty="0"/>
              <a:t>    </a:t>
            </a:r>
            <a:r>
              <a:rPr lang="fr-FR" dirty="0" err="1"/>
              <a:t>def</a:t>
            </a:r>
            <a:r>
              <a:rPr lang="fr-FR" dirty="0"/>
              <a:t> __init__(self, nom, </a:t>
            </a:r>
            <a:r>
              <a:rPr lang="fr-FR" dirty="0" err="1"/>
              <a:t>age</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self.age</a:t>
            </a:r>
            <a:r>
              <a:rPr lang="fr-FR" dirty="0"/>
              <a:t> = </a:t>
            </a:r>
            <a:r>
              <a:rPr lang="fr-FR" dirty="0" err="1"/>
              <a:t>age</a:t>
            </a:r>
            <a:endParaRPr lang="fr-FR" dirty="0"/>
          </a:p>
          <a:p>
            <a:pPr marL="0" indent="0">
              <a:buNone/>
            </a:pPr>
            <a:r>
              <a:rPr lang="fr-FR" dirty="0"/>
              <a:t>    </a:t>
            </a:r>
          </a:p>
          <a:p>
            <a:pPr marL="0" indent="0">
              <a:buNone/>
            </a:pPr>
            <a:r>
              <a:rPr lang="fr-FR" dirty="0"/>
              <a:t>    </a:t>
            </a:r>
            <a:r>
              <a:rPr lang="fr-FR" dirty="0" err="1"/>
              <a:t>def</a:t>
            </a:r>
            <a:r>
              <a:rPr lang="fr-FR" dirty="0"/>
              <a:t> </a:t>
            </a:r>
            <a:r>
              <a:rPr lang="fr-FR" dirty="0" err="1"/>
              <a:t>etudier</a:t>
            </a:r>
            <a:r>
              <a:rPr lang="fr-FR" dirty="0"/>
              <a:t>(self):</a:t>
            </a:r>
          </a:p>
          <a:p>
            <a:pPr marL="0" indent="0">
              <a:buNone/>
            </a:pPr>
            <a:r>
              <a:rPr lang="fr-FR" dirty="0"/>
              <a:t>        </a:t>
            </a:r>
            <a:r>
              <a:rPr lang="fr-FR" dirty="0" err="1"/>
              <a:t>print</a:t>
            </a:r>
            <a:r>
              <a:rPr lang="fr-FR" dirty="0"/>
              <a:t>(f"{</a:t>
            </a:r>
            <a:r>
              <a:rPr lang="fr-FR" dirty="0" err="1"/>
              <a:t>self.nom</a:t>
            </a:r>
            <a:r>
              <a:rPr lang="fr-FR" dirty="0"/>
              <a:t>} est en train d'étudier")</a:t>
            </a:r>
          </a:p>
          <a:p>
            <a:pPr marL="0" indent="0">
              <a:buNone/>
            </a:pPr>
            <a:r>
              <a:rPr lang="fr-FR" dirty="0"/>
              <a:t>    </a:t>
            </a:r>
          </a:p>
          <a:p>
            <a:pPr marL="0" indent="0">
              <a:buNone/>
            </a:pPr>
            <a:r>
              <a:rPr lang="fr-FR" dirty="0"/>
              <a:t>    </a:t>
            </a:r>
            <a:r>
              <a:rPr lang="fr-FR" dirty="0" err="1"/>
              <a:t>def</a:t>
            </a:r>
            <a:r>
              <a:rPr lang="fr-FR" dirty="0"/>
              <a:t> dormir(self):</a:t>
            </a:r>
          </a:p>
          <a:p>
            <a:pPr marL="0" indent="0">
              <a:buNone/>
            </a:pPr>
            <a:r>
              <a:rPr lang="fr-FR" dirty="0"/>
              <a:t>        </a:t>
            </a:r>
            <a:r>
              <a:rPr lang="fr-FR" dirty="0" err="1"/>
              <a:t>print</a:t>
            </a:r>
            <a:r>
              <a:rPr lang="fr-FR" dirty="0"/>
              <a:t>(f"{</a:t>
            </a:r>
            <a:r>
              <a:rPr lang="fr-FR" dirty="0" err="1"/>
              <a:t>self.nom</a:t>
            </a:r>
            <a:r>
              <a:rPr lang="fr-FR" dirty="0"/>
              <a:t>} est en train de dormir")</a:t>
            </a:r>
          </a:p>
          <a:p>
            <a:pPr marL="0" indent="0">
              <a:buNone/>
            </a:pPr>
            <a:endParaRPr lang="fr-FR" dirty="0"/>
          </a:p>
        </p:txBody>
      </p:sp>
    </p:spTree>
    <p:extLst>
      <p:ext uri="{BB962C8B-B14F-4D97-AF65-F5344CB8AC3E}">
        <p14:creationId xmlns:p14="http://schemas.microsoft.com/office/powerpoint/2010/main" val="671122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253E-13D3-9F22-843F-5421A70FBA3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86BCE98-3B47-4BB6-C6A9-C1E195E8DB40}"/>
              </a:ext>
            </a:extLst>
          </p:cNvPr>
          <p:cNvSpPr>
            <a:spLocks noGrp="1"/>
          </p:cNvSpPr>
          <p:nvPr>
            <p:ph idx="1"/>
          </p:nvPr>
        </p:nvSpPr>
        <p:spPr>
          <a:xfrm>
            <a:off x="304799" y="352425"/>
            <a:ext cx="11458575" cy="6134100"/>
          </a:xfrm>
        </p:spPr>
        <p:txBody>
          <a:bodyPr>
            <a:normAutofit fontScale="47500" lnSpcReduction="20000"/>
          </a:bodyPr>
          <a:lstStyle/>
          <a:p>
            <a:pPr marL="0" indent="0">
              <a:buNone/>
            </a:pPr>
            <a:r>
              <a:rPr lang="fr-FR" b="1" dirty="0"/>
              <a:t>Classe Voiture </a:t>
            </a:r>
          </a:p>
          <a:p>
            <a:pPr marL="0" indent="0">
              <a:buNone/>
            </a:pPr>
            <a:r>
              <a:rPr lang="fr-FR" dirty="0"/>
              <a:t>Classe Voiture avec méthode démarrer qui cache la complexité interne.</a:t>
            </a:r>
          </a:p>
          <a:p>
            <a:pPr marL="0" indent="0">
              <a:buNone/>
            </a:pPr>
            <a:endParaRPr lang="fr-FR" dirty="0"/>
          </a:p>
          <a:p>
            <a:pPr marL="0" indent="0">
              <a:buNone/>
            </a:pPr>
            <a:r>
              <a:rPr lang="fr-FR" dirty="0"/>
              <a:t>class Voiture:</a:t>
            </a:r>
          </a:p>
          <a:p>
            <a:pPr marL="0" indent="0">
              <a:buNone/>
            </a:pPr>
            <a:r>
              <a:rPr lang="fr-FR" dirty="0"/>
              <a:t>    </a:t>
            </a:r>
            <a:r>
              <a:rPr lang="fr-FR" dirty="0" err="1"/>
              <a:t>def</a:t>
            </a:r>
            <a:r>
              <a:rPr lang="fr-FR" dirty="0"/>
              <a:t> __init__(self, marque, </a:t>
            </a:r>
            <a:r>
              <a:rPr lang="fr-FR" dirty="0" err="1"/>
              <a:t>modele</a:t>
            </a:r>
            <a:r>
              <a:rPr lang="fr-FR" dirty="0"/>
              <a:t>):</a:t>
            </a:r>
          </a:p>
          <a:p>
            <a:pPr marL="0" indent="0">
              <a:buNone/>
            </a:pPr>
            <a:r>
              <a:rPr lang="fr-FR" dirty="0"/>
              <a:t>        </a:t>
            </a:r>
            <a:r>
              <a:rPr lang="fr-FR" dirty="0" err="1"/>
              <a:t>self.marque</a:t>
            </a:r>
            <a:r>
              <a:rPr lang="fr-FR" dirty="0"/>
              <a:t> = marque</a:t>
            </a:r>
          </a:p>
          <a:p>
            <a:pPr marL="0" indent="0">
              <a:buNone/>
            </a:pPr>
            <a:r>
              <a:rPr lang="fr-FR" dirty="0"/>
              <a:t>        </a:t>
            </a:r>
            <a:r>
              <a:rPr lang="fr-FR" dirty="0" err="1"/>
              <a:t>self.modele</a:t>
            </a:r>
            <a:r>
              <a:rPr lang="fr-FR" dirty="0"/>
              <a:t> = </a:t>
            </a:r>
            <a:r>
              <a:rPr lang="fr-FR" dirty="0" err="1"/>
              <a:t>modele</a:t>
            </a:r>
            <a:endParaRPr lang="fr-FR" dirty="0"/>
          </a:p>
          <a:p>
            <a:pPr marL="0" indent="0">
              <a:buNone/>
            </a:pPr>
            <a:r>
              <a:rPr lang="fr-FR" dirty="0"/>
              <a:t>    </a:t>
            </a:r>
          </a:p>
          <a:p>
            <a:pPr marL="0" indent="0">
              <a:buNone/>
            </a:pPr>
            <a:r>
              <a:rPr lang="fr-FR" dirty="0"/>
              <a:t>    </a:t>
            </a:r>
            <a:r>
              <a:rPr lang="fr-FR" dirty="0" err="1"/>
              <a:t>def</a:t>
            </a:r>
            <a:r>
              <a:rPr lang="fr-FR" dirty="0"/>
              <a:t> </a:t>
            </a:r>
            <a:r>
              <a:rPr lang="fr-FR" dirty="0" err="1"/>
              <a:t>demarrer</a:t>
            </a:r>
            <a:r>
              <a:rPr lang="fr-FR" dirty="0"/>
              <a:t>(self):</a:t>
            </a:r>
          </a:p>
          <a:p>
            <a:pPr marL="0" indent="0">
              <a:buNone/>
            </a:pPr>
            <a:r>
              <a:rPr lang="fr-FR" dirty="0"/>
              <a:t>        </a:t>
            </a:r>
            <a:r>
              <a:rPr lang="fr-FR" dirty="0" err="1"/>
              <a:t>self.verifier_carburant</a:t>
            </a:r>
            <a:r>
              <a:rPr lang="fr-FR" dirty="0"/>
              <a:t>()</a:t>
            </a:r>
          </a:p>
          <a:p>
            <a:pPr marL="0" indent="0">
              <a:buNone/>
            </a:pPr>
            <a:r>
              <a:rPr lang="fr-FR" dirty="0"/>
              <a:t>        </a:t>
            </a:r>
            <a:r>
              <a:rPr lang="fr-FR" dirty="0" err="1"/>
              <a:t>self.allumer_moteur</a:t>
            </a:r>
            <a:r>
              <a:rPr lang="fr-FR" dirty="0"/>
              <a:t>()</a:t>
            </a:r>
          </a:p>
          <a:p>
            <a:pPr marL="0" indent="0">
              <a:buNone/>
            </a:pPr>
            <a:r>
              <a:rPr lang="fr-FR" dirty="0"/>
              <a:t>        </a:t>
            </a:r>
            <a:r>
              <a:rPr lang="fr-FR" dirty="0" err="1"/>
              <a:t>self.verifier_ceintures</a:t>
            </a:r>
            <a:r>
              <a:rPr lang="fr-FR" dirty="0"/>
              <a:t>()</a:t>
            </a:r>
          </a:p>
          <a:p>
            <a:pPr marL="0" indent="0">
              <a:buNone/>
            </a:pPr>
            <a:r>
              <a:rPr lang="fr-FR" dirty="0"/>
              <a:t>        </a:t>
            </a:r>
            <a:r>
              <a:rPr lang="fr-FR" dirty="0" err="1"/>
              <a:t>print</a:t>
            </a:r>
            <a:r>
              <a:rPr lang="fr-FR" dirty="0"/>
              <a:t>("Voiture démarrée!")</a:t>
            </a:r>
          </a:p>
          <a:p>
            <a:pPr marL="0" indent="0">
              <a:buNone/>
            </a:pPr>
            <a:r>
              <a:rPr lang="fr-FR" dirty="0"/>
              <a:t>    </a:t>
            </a:r>
          </a:p>
          <a:p>
            <a:pPr marL="0" indent="0">
              <a:buNone/>
            </a:pPr>
            <a:r>
              <a:rPr lang="fr-FR" dirty="0"/>
              <a:t>    </a:t>
            </a:r>
            <a:r>
              <a:rPr lang="fr-FR" dirty="0" err="1"/>
              <a:t>def</a:t>
            </a:r>
            <a:r>
              <a:rPr lang="fr-FR" dirty="0"/>
              <a:t> </a:t>
            </a:r>
            <a:r>
              <a:rPr lang="fr-FR" dirty="0" err="1"/>
              <a:t>verifier_carburant</a:t>
            </a:r>
            <a:r>
              <a:rPr lang="fr-FR" dirty="0"/>
              <a:t>(self):</a:t>
            </a:r>
          </a:p>
          <a:p>
            <a:pPr marL="0" indent="0">
              <a:buNone/>
            </a:pPr>
            <a:r>
              <a:rPr lang="fr-FR" dirty="0"/>
              <a:t>        </a:t>
            </a:r>
            <a:r>
              <a:rPr lang="fr-FR" dirty="0" err="1"/>
              <a:t>print</a:t>
            </a:r>
            <a:r>
              <a:rPr lang="fr-FR" dirty="0"/>
              <a:t>("Vérification du carburant...")</a:t>
            </a:r>
          </a:p>
          <a:p>
            <a:pPr marL="0" indent="0">
              <a:buNone/>
            </a:pPr>
            <a:r>
              <a:rPr lang="fr-FR" dirty="0"/>
              <a:t>    </a:t>
            </a:r>
          </a:p>
          <a:p>
            <a:pPr marL="0" indent="0">
              <a:buNone/>
            </a:pPr>
            <a:r>
              <a:rPr lang="fr-FR" dirty="0"/>
              <a:t>    </a:t>
            </a:r>
            <a:r>
              <a:rPr lang="fr-FR" dirty="0" err="1"/>
              <a:t>def</a:t>
            </a:r>
            <a:r>
              <a:rPr lang="fr-FR" dirty="0"/>
              <a:t> </a:t>
            </a:r>
            <a:r>
              <a:rPr lang="fr-FR" dirty="0" err="1"/>
              <a:t>allumer_moteur</a:t>
            </a:r>
            <a:r>
              <a:rPr lang="fr-FR" dirty="0"/>
              <a:t>(self):</a:t>
            </a:r>
          </a:p>
          <a:p>
            <a:pPr marL="0" indent="0">
              <a:buNone/>
            </a:pPr>
            <a:r>
              <a:rPr lang="fr-FR" dirty="0"/>
              <a:t>        </a:t>
            </a:r>
            <a:r>
              <a:rPr lang="fr-FR" dirty="0" err="1"/>
              <a:t>print</a:t>
            </a:r>
            <a:r>
              <a:rPr lang="fr-FR" dirty="0"/>
              <a:t>("Allumage du moteur...")</a:t>
            </a:r>
          </a:p>
          <a:p>
            <a:pPr marL="0" indent="0">
              <a:buNone/>
            </a:pPr>
            <a:r>
              <a:rPr lang="fr-FR" dirty="0"/>
              <a:t>    </a:t>
            </a:r>
          </a:p>
          <a:p>
            <a:pPr marL="0" indent="0">
              <a:buNone/>
            </a:pPr>
            <a:r>
              <a:rPr lang="fr-FR" dirty="0"/>
              <a:t>    </a:t>
            </a:r>
            <a:r>
              <a:rPr lang="fr-FR" dirty="0" err="1"/>
              <a:t>def</a:t>
            </a:r>
            <a:r>
              <a:rPr lang="fr-FR" dirty="0"/>
              <a:t> </a:t>
            </a:r>
            <a:r>
              <a:rPr lang="fr-FR" dirty="0" err="1"/>
              <a:t>verifier_ceintures</a:t>
            </a:r>
            <a:r>
              <a:rPr lang="fr-FR" dirty="0"/>
              <a:t>(self):</a:t>
            </a:r>
          </a:p>
          <a:p>
            <a:pPr marL="0" indent="0">
              <a:buNone/>
            </a:pPr>
            <a:r>
              <a:rPr lang="fr-FR" dirty="0"/>
              <a:t>        </a:t>
            </a:r>
            <a:r>
              <a:rPr lang="fr-FR" dirty="0" err="1"/>
              <a:t>print</a:t>
            </a:r>
            <a:r>
              <a:rPr lang="fr-FR" dirty="0"/>
              <a:t>("Vérification des ceintures...")</a:t>
            </a:r>
          </a:p>
          <a:p>
            <a:pPr marL="0" indent="0">
              <a:buNone/>
            </a:pPr>
            <a:endParaRPr lang="fr-FR" dirty="0"/>
          </a:p>
        </p:txBody>
      </p:sp>
    </p:spTree>
    <p:extLst>
      <p:ext uri="{BB962C8B-B14F-4D97-AF65-F5344CB8AC3E}">
        <p14:creationId xmlns:p14="http://schemas.microsoft.com/office/powerpoint/2010/main" val="27975488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AB02C3-E20B-2715-1C78-FCBD795E711F}"/>
              </a:ext>
            </a:extLst>
          </p:cNvPr>
          <p:cNvSpPr>
            <a:spLocks noGrp="1"/>
          </p:cNvSpPr>
          <p:nvPr>
            <p:ph idx="1"/>
          </p:nvPr>
        </p:nvSpPr>
        <p:spPr/>
        <p:txBody>
          <a:bodyPr/>
          <a:lstStyle/>
          <a:p>
            <a:pPr marL="0" indent="0">
              <a:buNone/>
            </a:pPr>
            <a:endParaRPr lang="fr-FR" dirty="0"/>
          </a:p>
          <a:p>
            <a:pPr marL="0" indent="0">
              <a:buNone/>
            </a:pPr>
            <a:r>
              <a:rPr lang="fr-FR" dirty="0"/>
              <a:t>v1=Voiture("Fiat","2025")</a:t>
            </a:r>
          </a:p>
          <a:p>
            <a:pPr marL="0" indent="0">
              <a:buNone/>
            </a:pPr>
            <a:r>
              <a:rPr lang="fr-FR" dirty="0"/>
              <a:t>v1.demarrer()</a:t>
            </a:r>
          </a:p>
        </p:txBody>
      </p:sp>
    </p:spTree>
    <p:extLst>
      <p:ext uri="{BB962C8B-B14F-4D97-AF65-F5344CB8AC3E}">
        <p14:creationId xmlns:p14="http://schemas.microsoft.com/office/powerpoint/2010/main" val="40732828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2EB43-5C7B-0B20-D978-12B25C2A76E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7A42E3D-BFE6-9A9D-25F4-2B48825B211B}"/>
              </a:ext>
            </a:extLst>
          </p:cNvPr>
          <p:cNvSpPr>
            <a:spLocks noGrp="1"/>
          </p:cNvSpPr>
          <p:nvPr>
            <p:ph idx="1"/>
          </p:nvPr>
        </p:nvSpPr>
        <p:spPr>
          <a:xfrm>
            <a:off x="304799" y="352425"/>
            <a:ext cx="11458575" cy="6134100"/>
          </a:xfrm>
        </p:spPr>
        <p:txBody>
          <a:bodyPr>
            <a:normAutofit fontScale="62500" lnSpcReduction="20000"/>
          </a:bodyPr>
          <a:lstStyle/>
          <a:p>
            <a:pPr marL="0" indent="0">
              <a:buNone/>
            </a:pPr>
            <a:r>
              <a:rPr lang="fr-FR" b="1" dirty="0"/>
              <a:t>Classe Livre (bibliothèque)</a:t>
            </a:r>
          </a:p>
          <a:p>
            <a:pPr marL="0" indent="0">
              <a:buNone/>
            </a:pPr>
            <a:r>
              <a:rPr lang="fr-FR" dirty="0"/>
              <a:t>Classe Livre avec titre, auteur et méthodes pour emprunter et retourner.</a:t>
            </a:r>
          </a:p>
          <a:p>
            <a:pPr marL="0" indent="0">
              <a:buNone/>
            </a:pPr>
            <a:endParaRPr lang="fr-FR" dirty="0"/>
          </a:p>
          <a:p>
            <a:pPr marL="0" indent="0">
              <a:buNone/>
            </a:pPr>
            <a:r>
              <a:rPr lang="fr-FR" dirty="0"/>
              <a:t>class Livre:</a:t>
            </a:r>
          </a:p>
          <a:p>
            <a:pPr marL="0" indent="0">
              <a:buNone/>
            </a:pPr>
            <a:r>
              <a:rPr lang="fr-FR" dirty="0"/>
              <a:t>    </a:t>
            </a:r>
            <a:r>
              <a:rPr lang="fr-FR" dirty="0" err="1"/>
              <a:t>def</a:t>
            </a:r>
            <a:r>
              <a:rPr lang="fr-FR" dirty="0"/>
              <a:t> __init__(self, titre, auteur):</a:t>
            </a:r>
          </a:p>
          <a:p>
            <a:pPr marL="0" indent="0">
              <a:buNone/>
            </a:pPr>
            <a:r>
              <a:rPr lang="fr-FR" dirty="0"/>
              <a:t>        </a:t>
            </a:r>
            <a:r>
              <a:rPr lang="fr-FR" dirty="0" err="1"/>
              <a:t>self.titre</a:t>
            </a:r>
            <a:r>
              <a:rPr lang="fr-FR" dirty="0"/>
              <a:t> = titre</a:t>
            </a:r>
          </a:p>
          <a:p>
            <a:pPr marL="0" indent="0">
              <a:buNone/>
            </a:pPr>
            <a:r>
              <a:rPr lang="fr-FR" dirty="0"/>
              <a:t>        </a:t>
            </a:r>
            <a:r>
              <a:rPr lang="fr-FR" dirty="0" err="1"/>
              <a:t>self.auteur</a:t>
            </a:r>
            <a:r>
              <a:rPr lang="fr-FR" dirty="0"/>
              <a:t> = auteur</a:t>
            </a:r>
          </a:p>
          <a:p>
            <a:pPr marL="0" indent="0">
              <a:buNone/>
            </a:pPr>
            <a:r>
              <a:rPr lang="fr-FR" dirty="0"/>
              <a:t>        </a:t>
            </a:r>
            <a:r>
              <a:rPr lang="fr-FR" dirty="0" err="1"/>
              <a:t>self.disponible</a:t>
            </a:r>
            <a:r>
              <a:rPr lang="fr-FR" dirty="0"/>
              <a:t> = </a:t>
            </a:r>
            <a:r>
              <a:rPr lang="fr-FR" dirty="0" err="1"/>
              <a:t>True</a:t>
            </a:r>
            <a:endParaRPr lang="fr-FR" dirty="0"/>
          </a:p>
          <a:p>
            <a:pPr marL="0" indent="0">
              <a:buNone/>
            </a:pPr>
            <a:r>
              <a:rPr lang="fr-FR" dirty="0"/>
              <a:t>    </a:t>
            </a:r>
          </a:p>
          <a:p>
            <a:pPr marL="0" indent="0">
              <a:buNone/>
            </a:pPr>
            <a:r>
              <a:rPr lang="fr-FR" dirty="0"/>
              <a:t>    </a:t>
            </a:r>
            <a:r>
              <a:rPr lang="fr-FR" dirty="0" err="1"/>
              <a:t>def</a:t>
            </a:r>
            <a:r>
              <a:rPr lang="fr-FR" dirty="0"/>
              <a:t> emprunter(self):</a:t>
            </a:r>
          </a:p>
          <a:p>
            <a:pPr marL="0" indent="0">
              <a:buNone/>
            </a:pPr>
            <a:r>
              <a:rPr lang="fr-FR" dirty="0"/>
              <a:t>        if </a:t>
            </a:r>
            <a:r>
              <a:rPr lang="fr-FR" dirty="0" err="1"/>
              <a:t>self.disponible</a:t>
            </a:r>
            <a:r>
              <a:rPr lang="fr-FR" dirty="0"/>
              <a:t>:</a:t>
            </a:r>
          </a:p>
          <a:p>
            <a:pPr marL="0" indent="0">
              <a:buNone/>
            </a:pPr>
            <a:r>
              <a:rPr lang="fr-FR" dirty="0"/>
              <a:t>            </a:t>
            </a:r>
            <a:r>
              <a:rPr lang="fr-FR" dirty="0" err="1"/>
              <a:t>self.disponible</a:t>
            </a:r>
            <a:r>
              <a:rPr lang="fr-FR" dirty="0"/>
              <a:t> = False</a:t>
            </a:r>
          </a:p>
          <a:p>
            <a:pPr marL="0" indent="0">
              <a:buNone/>
            </a:pPr>
            <a:r>
              <a:rPr lang="fr-FR" dirty="0"/>
              <a:t>            </a:t>
            </a:r>
            <a:r>
              <a:rPr lang="fr-FR" dirty="0" err="1"/>
              <a:t>print</a:t>
            </a:r>
            <a:r>
              <a:rPr lang="fr-FR" dirty="0"/>
              <a:t>(</a:t>
            </a:r>
            <a:r>
              <a:rPr lang="fr-FR" dirty="0" err="1"/>
              <a:t>f"Livre</a:t>
            </a:r>
            <a:r>
              <a:rPr lang="fr-FR" dirty="0"/>
              <a:t> '{</a:t>
            </a:r>
            <a:r>
              <a:rPr lang="fr-FR" dirty="0" err="1"/>
              <a:t>self.titre</a:t>
            </a:r>
            <a:r>
              <a:rPr lang="fr-FR" dirty="0"/>
              <a:t>}' emprunté")</a:t>
            </a:r>
          </a:p>
          <a:p>
            <a:pPr marL="0" indent="0">
              <a:buNone/>
            </a:pPr>
            <a:r>
              <a:rPr lang="fr-FR" dirty="0"/>
              <a:t>        </a:t>
            </a:r>
            <a:r>
              <a:rPr lang="fr-FR" dirty="0" err="1"/>
              <a:t>else</a:t>
            </a:r>
            <a:r>
              <a:rPr lang="fr-FR" dirty="0"/>
              <a:t>:</a:t>
            </a:r>
          </a:p>
          <a:p>
            <a:pPr marL="0" indent="0">
              <a:buNone/>
            </a:pPr>
            <a:r>
              <a:rPr lang="fr-FR" dirty="0"/>
              <a:t>            </a:t>
            </a:r>
            <a:r>
              <a:rPr lang="fr-FR" dirty="0" err="1"/>
              <a:t>print</a:t>
            </a:r>
            <a:r>
              <a:rPr lang="fr-FR" dirty="0"/>
              <a:t>("Livre déjà emprunté")</a:t>
            </a:r>
          </a:p>
          <a:p>
            <a:pPr marL="0" indent="0">
              <a:buNone/>
            </a:pPr>
            <a:r>
              <a:rPr lang="fr-FR" dirty="0"/>
              <a:t>    </a:t>
            </a:r>
          </a:p>
          <a:p>
            <a:pPr marL="0" indent="0">
              <a:buNone/>
            </a:pPr>
            <a:r>
              <a:rPr lang="fr-FR" dirty="0"/>
              <a:t>    </a:t>
            </a:r>
            <a:r>
              <a:rPr lang="fr-FR" dirty="0" err="1"/>
              <a:t>def</a:t>
            </a:r>
            <a:r>
              <a:rPr lang="fr-FR" dirty="0"/>
              <a:t> retourner(self):</a:t>
            </a:r>
          </a:p>
          <a:p>
            <a:pPr marL="0" indent="0">
              <a:buNone/>
            </a:pPr>
            <a:r>
              <a:rPr lang="fr-FR" dirty="0"/>
              <a:t>        </a:t>
            </a:r>
            <a:r>
              <a:rPr lang="fr-FR" dirty="0" err="1"/>
              <a:t>self.disponible</a:t>
            </a:r>
            <a:r>
              <a:rPr lang="fr-FR" dirty="0"/>
              <a:t> = </a:t>
            </a:r>
            <a:r>
              <a:rPr lang="fr-FR" dirty="0" err="1"/>
              <a:t>True</a:t>
            </a:r>
            <a:endParaRPr lang="fr-FR" dirty="0"/>
          </a:p>
          <a:p>
            <a:pPr marL="0" indent="0">
              <a:buNone/>
            </a:pPr>
            <a:r>
              <a:rPr lang="fr-FR" dirty="0"/>
              <a:t>        </a:t>
            </a:r>
            <a:r>
              <a:rPr lang="fr-FR" dirty="0" err="1"/>
              <a:t>print</a:t>
            </a:r>
            <a:r>
              <a:rPr lang="fr-FR" dirty="0"/>
              <a:t>(</a:t>
            </a:r>
            <a:r>
              <a:rPr lang="fr-FR" dirty="0" err="1"/>
              <a:t>f"Livre</a:t>
            </a:r>
            <a:r>
              <a:rPr lang="fr-FR" dirty="0"/>
              <a:t> '{</a:t>
            </a:r>
            <a:r>
              <a:rPr lang="fr-FR" dirty="0" err="1"/>
              <a:t>self.titre</a:t>
            </a:r>
            <a:r>
              <a:rPr lang="fr-FR" dirty="0"/>
              <a:t>}' retourné")</a:t>
            </a:r>
          </a:p>
          <a:p>
            <a:pPr marL="0" indent="0">
              <a:buNone/>
            </a:pPr>
            <a:endParaRPr lang="fr-FR" dirty="0"/>
          </a:p>
        </p:txBody>
      </p:sp>
    </p:spTree>
    <p:extLst>
      <p:ext uri="{BB962C8B-B14F-4D97-AF65-F5344CB8AC3E}">
        <p14:creationId xmlns:p14="http://schemas.microsoft.com/office/powerpoint/2010/main" val="31371403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2B337-FDE6-0932-8B90-9DD6B2C8153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0172619-117E-A0A1-7939-1724357D7339}"/>
              </a:ext>
            </a:extLst>
          </p:cNvPr>
          <p:cNvSpPr>
            <a:spLocks noGrp="1"/>
          </p:cNvSpPr>
          <p:nvPr>
            <p:ph idx="1"/>
          </p:nvPr>
        </p:nvSpPr>
        <p:spPr>
          <a:xfrm>
            <a:off x="304799" y="352425"/>
            <a:ext cx="11458575" cy="6134100"/>
          </a:xfrm>
        </p:spPr>
        <p:txBody>
          <a:bodyPr>
            <a:normAutofit lnSpcReduction="10000"/>
          </a:bodyPr>
          <a:lstStyle/>
          <a:p>
            <a:pPr marL="0" indent="0">
              <a:buNone/>
            </a:pPr>
            <a:r>
              <a:rPr lang="fr-FR" b="1" dirty="0"/>
              <a:t>Classe Animal (zoo)</a:t>
            </a:r>
          </a:p>
          <a:p>
            <a:pPr marL="0" indent="0">
              <a:buNone/>
            </a:pPr>
            <a:r>
              <a:rPr lang="fr-FR" dirty="0"/>
              <a:t>Classe Animal de base avec nom, âge et méthodes manger et dormir.</a:t>
            </a:r>
          </a:p>
          <a:p>
            <a:pPr marL="0" indent="0">
              <a:buNone/>
            </a:pPr>
            <a:endParaRPr lang="fr-FR" dirty="0"/>
          </a:p>
          <a:p>
            <a:pPr marL="0" indent="0">
              <a:buNone/>
            </a:pPr>
            <a:r>
              <a:rPr lang="fr-FR" dirty="0"/>
              <a:t>class Animal:</a:t>
            </a:r>
          </a:p>
          <a:p>
            <a:pPr marL="0" indent="0">
              <a:buNone/>
            </a:pPr>
            <a:r>
              <a:rPr lang="fr-FR" dirty="0"/>
              <a:t>    </a:t>
            </a:r>
            <a:r>
              <a:rPr lang="fr-FR" dirty="0" err="1"/>
              <a:t>def</a:t>
            </a:r>
            <a:r>
              <a:rPr lang="fr-FR" dirty="0"/>
              <a:t> __init__(self, nom, </a:t>
            </a:r>
            <a:r>
              <a:rPr lang="fr-FR" dirty="0" err="1"/>
              <a:t>age</a:t>
            </a:r>
            <a:r>
              <a:rPr lang="fr-FR" dirty="0"/>
              <a:t>):</a:t>
            </a:r>
          </a:p>
          <a:p>
            <a:pPr marL="0" indent="0">
              <a:buNone/>
            </a:pPr>
            <a:r>
              <a:rPr lang="fr-FR" dirty="0"/>
              <a:t>        </a:t>
            </a:r>
            <a:r>
              <a:rPr lang="fr-FR" dirty="0" err="1"/>
              <a:t>self.nom</a:t>
            </a:r>
            <a:r>
              <a:rPr lang="fr-FR" dirty="0"/>
              <a:t> = nom</a:t>
            </a:r>
          </a:p>
          <a:p>
            <a:pPr marL="0" indent="0">
              <a:buNone/>
            </a:pPr>
            <a:r>
              <a:rPr lang="fr-FR" dirty="0"/>
              <a:t>        </a:t>
            </a:r>
            <a:r>
              <a:rPr lang="fr-FR" dirty="0" err="1"/>
              <a:t>self.age</a:t>
            </a:r>
            <a:r>
              <a:rPr lang="fr-FR" dirty="0"/>
              <a:t> = </a:t>
            </a:r>
            <a:r>
              <a:rPr lang="fr-FR" dirty="0" err="1"/>
              <a:t>age</a:t>
            </a:r>
            <a:endParaRPr lang="fr-FR" dirty="0"/>
          </a:p>
          <a:p>
            <a:pPr marL="0" indent="0">
              <a:buNone/>
            </a:pPr>
            <a:r>
              <a:rPr lang="fr-FR" dirty="0"/>
              <a:t>    </a:t>
            </a:r>
          </a:p>
          <a:p>
            <a:pPr marL="0" indent="0">
              <a:buNone/>
            </a:pPr>
            <a:r>
              <a:rPr lang="fr-FR" dirty="0"/>
              <a:t>    </a:t>
            </a:r>
            <a:r>
              <a:rPr lang="fr-FR" dirty="0" err="1"/>
              <a:t>def</a:t>
            </a:r>
            <a:r>
              <a:rPr lang="fr-FR" dirty="0"/>
              <a:t> manger(self):</a:t>
            </a:r>
          </a:p>
          <a:p>
            <a:pPr marL="0" indent="0">
              <a:buNone/>
            </a:pPr>
            <a:r>
              <a:rPr lang="fr-FR" dirty="0"/>
              <a:t>        </a:t>
            </a:r>
            <a:r>
              <a:rPr lang="fr-FR" dirty="0" err="1"/>
              <a:t>print</a:t>
            </a:r>
            <a:r>
              <a:rPr lang="fr-FR" dirty="0"/>
              <a:t>(f"{</a:t>
            </a:r>
            <a:r>
              <a:rPr lang="fr-FR" dirty="0" err="1"/>
              <a:t>self.nom</a:t>
            </a:r>
            <a:r>
              <a:rPr lang="fr-FR" dirty="0"/>
              <a:t>} mange")</a:t>
            </a:r>
          </a:p>
          <a:p>
            <a:pPr marL="0" indent="0">
              <a:buNone/>
            </a:pPr>
            <a:r>
              <a:rPr lang="fr-FR" dirty="0"/>
              <a:t>    </a:t>
            </a:r>
          </a:p>
          <a:p>
            <a:pPr marL="0" indent="0">
              <a:buNone/>
            </a:pPr>
            <a:r>
              <a:rPr lang="fr-FR" dirty="0"/>
              <a:t>    </a:t>
            </a:r>
            <a:r>
              <a:rPr lang="fr-FR" dirty="0" err="1"/>
              <a:t>def</a:t>
            </a:r>
            <a:r>
              <a:rPr lang="fr-FR" dirty="0"/>
              <a:t> dormir(self):</a:t>
            </a:r>
          </a:p>
          <a:p>
            <a:pPr marL="0" indent="0">
              <a:buNone/>
            </a:pPr>
            <a:r>
              <a:rPr lang="fr-FR" dirty="0"/>
              <a:t>        </a:t>
            </a:r>
            <a:r>
              <a:rPr lang="fr-FR" dirty="0" err="1"/>
              <a:t>print</a:t>
            </a:r>
            <a:r>
              <a:rPr lang="fr-FR" dirty="0"/>
              <a:t>(f"{</a:t>
            </a:r>
            <a:r>
              <a:rPr lang="fr-FR" dirty="0" err="1"/>
              <a:t>self.nom</a:t>
            </a:r>
            <a:r>
              <a:rPr lang="fr-FR" dirty="0"/>
              <a:t>} dort")</a:t>
            </a:r>
          </a:p>
          <a:p>
            <a:pPr marL="0" indent="0">
              <a:buNone/>
            </a:pPr>
            <a:endParaRPr lang="fr-FR" dirty="0"/>
          </a:p>
        </p:txBody>
      </p:sp>
    </p:spTree>
    <p:extLst>
      <p:ext uri="{BB962C8B-B14F-4D97-AF65-F5344CB8AC3E}">
        <p14:creationId xmlns:p14="http://schemas.microsoft.com/office/powerpoint/2010/main" val="2859660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E0AB-E9F8-5DAA-DCBF-051AD965F83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31A1FE-3886-0647-6780-F712B8400E6D}"/>
              </a:ext>
            </a:extLst>
          </p:cNvPr>
          <p:cNvSpPr>
            <a:spLocks noGrp="1"/>
          </p:cNvSpPr>
          <p:nvPr>
            <p:ph idx="1"/>
          </p:nvPr>
        </p:nvSpPr>
        <p:spPr>
          <a:xfrm>
            <a:off x="304799" y="352425"/>
            <a:ext cx="11458575" cy="6134100"/>
          </a:xfrm>
        </p:spPr>
        <p:txBody>
          <a:bodyPr>
            <a:normAutofit fontScale="92500" lnSpcReduction="10000"/>
          </a:bodyPr>
          <a:lstStyle/>
          <a:p>
            <a:pPr marL="0" indent="0">
              <a:buNone/>
            </a:pPr>
            <a:r>
              <a:rPr lang="fr-FR" b="1" dirty="0"/>
              <a:t>Classe Employé (zoo)</a:t>
            </a:r>
          </a:p>
          <a:p>
            <a:pPr marL="0" indent="0">
              <a:buNone/>
            </a:pPr>
            <a:r>
              <a:rPr lang="fr-FR" dirty="0"/>
              <a:t>Classe Employé avec nom, poste et méthodes pour nourrir et soigner les animaux.</a:t>
            </a:r>
          </a:p>
          <a:p>
            <a:pPr marL="0" indent="0">
              <a:buNone/>
            </a:pPr>
            <a:endParaRPr lang="fr-FR" dirty="0"/>
          </a:p>
          <a:p>
            <a:pPr marL="0" indent="0">
              <a:buNone/>
            </a:pPr>
            <a:r>
              <a:rPr lang="fr-FR" dirty="0"/>
              <a:t>class </a:t>
            </a:r>
            <a:r>
              <a:rPr lang="fr-FR" dirty="0" err="1"/>
              <a:t>Employe</a:t>
            </a:r>
            <a:r>
              <a:rPr lang="fr-FR" dirty="0"/>
              <a:t>:</a:t>
            </a:r>
          </a:p>
          <a:p>
            <a:pPr marL="0" indent="0">
              <a:buNone/>
            </a:pPr>
            <a:r>
              <a:rPr lang="fr-FR" dirty="0"/>
              <a:t>    </a:t>
            </a:r>
            <a:r>
              <a:rPr lang="fr-FR" dirty="0" err="1"/>
              <a:t>def</a:t>
            </a:r>
            <a:r>
              <a:rPr lang="fr-FR" dirty="0"/>
              <a:t> __init__(self, nom, poste):</a:t>
            </a:r>
          </a:p>
          <a:p>
            <a:pPr marL="0" indent="0">
              <a:buNone/>
            </a:pPr>
            <a:r>
              <a:rPr lang="fr-FR" dirty="0"/>
              <a:t>        </a:t>
            </a:r>
            <a:r>
              <a:rPr lang="fr-FR" dirty="0" err="1"/>
              <a:t>self.nom</a:t>
            </a:r>
            <a:r>
              <a:rPr lang="fr-FR" dirty="0"/>
              <a:t> = nom</a:t>
            </a:r>
          </a:p>
          <a:p>
            <a:pPr marL="0" indent="0">
              <a:buNone/>
            </a:pPr>
            <a:r>
              <a:rPr lang="fr-FR" dirty="0"/>
              <a:t>        </a:t>
            </a:r>
            <a:r>
              <a:rPr lang="fr-FR" dirty="0" err="1"/>
              <a:t>self.poste</a:t>
            </a:r>
            <a:r>
              <a:rPr lang="fr-FR" dirty="0"/>
              <a:t> = poste</a:t>
            </a:r>
          </a:p>
          <a:p>
            <a:pPr marL="0" indent="0">
              <a:buNone/>
            </a:pPr>
            <a:r>
              <a:rPr lang="fr-FR" dirty="0"/>
              <a:t>    </a:t>
            </a:r>
          </a:p>
          <a:p>
            <a:pPr marL="0" indent="0">
              <a:buNone/>
            </a:pPr>
            <a:r>
              <a:rPr lang="fr-FR" dirty="0"/>
              <a:t>    </a:t>
            </a:r>
            <a:r>
              <a:rPr lang="fr-FR" dirty="0" err="1"/>
              <a:t>def</a:t>
            </a:r>
            <a:r>
              <a:rPr lang="fr-FR" dirty="0"/>
              <a:t> </a:t>
            </a:r>
            <a:r>
              <a:rPr lang="fr-FR" dirty="0" err="1"/>
              <a:t>nourrir_animaux</a:t>
            </a:r>
            <a:r>
              <a:rPr lang="fr-FR" dirty="0"/>
              <a:t>(self):</a:t>
            </a:r>
          </a:p>
          <a:p>
            <a:pPr marL="0" indent="0">
              <a:buNone/>
            </a:pPr>
            <a:r>
              <a:rPr lang="fr-FR" dirty="0"/>
              <a:t>        </a:t>
            </a:r>
            <a:r>
              <a:rPr lang="fr-FR" dirty="0" err="1"/>
              <a:t>print</a:t>
            </a:r>
            <a:r>
              <a:rPr lang="fr-FR" dirty="0"/>
              <a:t>(f"{</a:t>
            </a:r>
            <a:r>
              <a:rPr lang="fr-FR" dirty="0" err="1"/>
              <a:t>self.nom</a:t>
            </a:r>
            <a:r>
              <a:rPr lang="fr-FR" dirty="0"/>
              <a:t>} nourrit les animaux")</a:t>
            </a:r>
          </a:p>
          <a:p>
            <a:pPr marL="0" indent="0">
              <a:buNone/>
            </a:pPr>
            <a:r>
              <a:rPr lang="fr-FR" dirty="0"/>
              <a:t>    </a:t>
            </a:r>
          </a:p>
          <a:p>
            <a:pPr marL="0" indent="0">
              <a:buNone/>
            </a:pPr>
            <a:r>
              <a:rPr lang="fr-FR" dirty="0"/>
              <a:t>    </a:t>
            </a:r>
            <a:r>
              <a:rPr lang="fr-FR" dirty="0" err="1"/>
              <a:t>def</a:t>
            </a:r>
            <a:r>
              <a:rPr lang="fr-FR" dirty="0"/>
              <a:t> </a:t>
            </a:r>
            <a:r>
              <a:rPr lang="fr-FR" dirty="0" err="1"/>
              <a:t>soigner_animaux</a:t>
            </a:r>
            <a:r>
              <a:rPr lang="fr-FR" dirty="0"/>
              <a:t>(self):</a:t>
            </a:r>
          </a:p>
          <a:p>
            <a:pPr marL="0" indent="0">
              <a:buNone/>
            </a:pPr>
            <a:r>
              <a:rPr lang="fr-FR" dirty="0"/>
              <a:t>        </a:t>
            </a:r>
            <a:r>
              <a:rPr lang="fr-FR" dirty="0" err="1"/>
              <a:t>print</a:t>
            </a:r>
            <a:r>
              <a:rPr lang="fr-FR" dirty="0"/>
              <a:t>(f"{</a:t>
            </a:r>
            <a:r>
              <a:rPr lang="fr-FR" dirty="0" err="1"/>
              <a:t>self.nom</a:t>
            </a:r>
            <a:r>
              <a:rPr lang="fr-FR" dirty="0"/>
              <a:t>} soigne les animaux")</a:t>
            </a:r>
          </a:p>
          <a:p>
            <a:pPr marL="0" indent="0">
              <a:buNone/>
            </a:pPr>
            <a:endParaRPr lang="fr-FR" dirty="0"/>
          </a:p>
        </p:txBody>
      </p:sp>
    </p:spTree>
    <p:extLst>
      <p:ext uri="{BB962C8B-B14F-4D97-AF65-F5344CB8AC3E}">
        <p14:creationId xmlns:p14="http://schemas.microsoft.com/office/powerpoint/2010/main" val="1936673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E802A-F233-DDE6-F488-53C6956BA2E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B43680-392B-B12C-7837-8B015129900B}"/>
              </a:ext>
            </a:extLst>
          </p:cNvPr>
          <p:cNvSpPr>
            <a:spLocks noGrp="1"/>
          </p:cNvSpPr>
          <p:nvPr>
            <p:ph idx="1"/>
          </p:nvPr>
        </p:nvSpPr>
        <p:spPr>
          <a:xfrm>
            <a:off x="304799" y="352425"/>
            <a:ext cx="11458575" cy="6134100"/>
          </a:xfrm>
        </p:spPr>
        <p:txBody>
          <a:bodyPr>
            <a:normAutofit fontScale="85000" lnSpcReduction="20000"/>
          </a:bodyPr>
          <a:lstStyle/>
          <a:p>
            <a:pPr marL="0" indent="0">
              <a:buNone/>
            </a:pPr>
            <a:r>
              <a:rPr lang="fr-FR" b="1" dirty="0"/>
              <a:t>Classe Enclos (zoo)</a:t>
            </a:r>
          </a:p>
          <a:p>
            <a:pPr marL="0" indent="0">
              <a:buNone/>
            </a:pPr>
            <a:r>
              <a:rPr lang="fr-FR" dirty="0"/>
              <a:t>Classe Enclos avec nom, taille et liste d'animaux, méthodes pour ajouter animal et nettoyer.</a:t>
            </a:r>
          </a:p>
          <a:p>
            <a:pPr marL="0" indent="0">
              <a:buNone/>
            </a:pPr>
            <a:endParaRPr lang="fr-FR" dirty="0"/>
          </a:p>
          <a:p>
            <a:pPr marL="0" indent="0">
              <a:buNone/>
            </a:pPr>
            <a:r>
              <a:rPr lang="fr-FR" dirty="0"/>
              <a:t>class Enclos:</a:t>
            </a:r>
          </a:p>
          <a:p>
            <a:pPr marL="0" indent="0">
              <a:buNone/>
            </a:pPr>
            <a:r>
              <a:rPr lang="fr-FR" dirty="0"/>
              <a:t>    </a:t>
            </a:r>
            <a:r>
              <a:rPr lang="fr-FR" dirty="0" err="1"/>
              <a:t>def</a:t>
            </a:r>
            <a:r>
              <a:rPr lang="fr-FR" dirty="0"/>
              <a:t> __init__(self, nom, taille):</a:t>
            </a:r>
          </a:p>
          <a:p>
            <a:pPr marL="0" indent="0">
              <a:buNone/>
            </a:pPr>
            <a:r>
              <a:rPr lang="fr-FR" dirty="0"/>
              <a:t>        </a:t>
            </a:r>
            <a:r>
              <a:rPr lang="fr-FR" dirty="0" err="1"/>
              <a:t>self.nom</a:t>
            </a:r>
            <a:r>
              <a:rPr lang="fr-FR" dirty="0"/>
              <a:t> = nom</a:t>
            </a:r>
          </a:p>
          <a:p>
            <a:pPr marL="0" indent="0">
              <a:buNone/>
            </a:pPr>
            <a:r>
              <a:rPr lang="fr-FR" dirty="0"/>
              <a:t>        </a:t>
            </a:r>
            <a:r>
              <a:rPr lang="fr-FR" dirty="0" err="1"/>
              <a:t>self.taille</a:t>
            </a:r>
            <a:r>
              <a:rPr lang="fr-FR" dirty="0"/>
              <a:t> = taille</a:t>
            </a:r>
          </a:p>
          <a:p>
            <a:pPr marL="0" indent="0">
              <a:buNone/>
            </a:pPr>
            <a:r>
              <a:rPr lang="fr-FR" dirty="0"/>
              <a:t>        </a:t>
            </a:r>
            <a:r>
              <a:rPr lang="fr-FR" dirty="0" err="1"/>
              <a:t>self.liste_animaux</a:t>
            </a:r>
            <a:r>
              <a:rPr lang="fr-FR" dirty="0"/>
              <a:t> = []</a:t>
            </a:r>
          </a:p>
          <a:p>
            <a:pPr marL="0" indent="0">
              <a:buNone/>
            </a:pPr>
            <a:r>
              <a:rPr lang="fr-FR" dirty="0"/>
              <a:t>    </a:t>
            </a:r>
          </a:p>
          <a:p>
            <a:pPr marL="0" indent="0">
              <a:buNone/>
            </a:pPr>
            <a:r>
              <a:rPr lang="fr-FR" dirty="0"/>
              <a:t>    </a:t>
            </a:r>
            <a:r>
              <a:rPr lang="fr-FR" dirty="0" err="1"/>
              <a:t>def</a:t>
            </a:r>
            <a:r>
              <a:rPr lang="fr-FR" dirty="0"/>
              <a:t> </a:t>
            </a:r>
            <a:r>
              <a:rPr lang="fr-FR" dirty="0" err="1"/>
              <a:t>ajouter_animal</a:t>
            </a:r>
            <a:r>
              <a:rPr lang="fr-FR" dirty="0"/>
              <a:t>(self, animal):</a:t>
            </a:r>
          </a:p>
          <a:p>
            <a:pPr marL="0" indent="0">
              <a:buNone/>
            </a:pPr>
            <a:r>
              <a:rPr lang="fr-FR" dirty="0"/>
              <a:t>        </a:t>
            </a:r>
            <a:r>
              <a:rPr lang="fr-FR" dirty="0" err="1"/>
              <a:t>self.liste_animaux.append</a:t>
            </a:r>
            <a:r>
              <a:rPr lang="fr-FR" dirty="0"/>
              <a:t>(animal)</a:t>
            </a:r>
          </a:p>
          <a:p>
            <a:pPr marL="0" indent="0">
              <a:buNone/>
            </a:pPr>
            <a:r>
              <a:rPr lang="fr-FR" dirty="0"/>
              <a:t>        </a:t>
            </a:r>
            <a:r>
              <a:rPr lang="fr-FR" dirty="0" err="1"/>
              <a:t>print</a:t>
            </a:r>
            <a:r>
              <a:rPr lang="fr-FR" dirty="0"/>
              <a:t>(</a:t>
            </a:r>
            <a:r>
              <a:rPr lang="fr-FR" dirty="0" err="1"/>
              <a:t>f"Animal</a:t>
            </a:r>
            <a:r>
              <a:rPr lang="fr-FR" dirty="0"/>
              <a:t> {</a:t>
            </a:r>
            <a:r>
              <a:rPr lang="fr-FR" dirty="0" err="1"/>
              <a:t>animal.nom</a:t>
            </a:r>
            <a:r>
              <a:rPr lang="fr-FR" dirty="0"/>
              <a:t>} ajouté à l'enclos {</a:t>
            </a:r>
            <a:r>
              <a:rPr lang="fr-FR" dirty="0" err="1"/>
              <a:t>self.nom</a:t>
            </a:r>
            <a:r>
              <a:rPr lang="fr-FR" dirty="0"/>
              <a:t>}")</a:t>
            </a:r>
          </a:p>
          <a:p>
            <a:pPr marL="0" indent="0">
              <a:buNone/>
            </a:pPr>
            <a:r>
              <a:rPr lang="fr-FR" dirty="0"/>
              <a:t>    </a:t>
            </a:r>
          </a:p>
          <a:p>
            <a:pPr marL="0" indent="0">
              <a:buNone/>
            </a:pPr>
            <a:r>
              <a:rPr lang="fr-FR" dirty="0"/>
              <a:t>    </a:t>
            </a:r>
            <a:r>
              <a:rPr lang="fr-FR" dirty="0" err="1"/>
              <a:t>def</a:t>
            </a:r>
            <a:r>
              <a:rPr lang="fr-FR" dirty="0"/>
              <a:t> nettoyer(self):</a:t>
            </a:r>
          </a:p>
          <a:p>
            <a:pPr marL="0" indent="0">
              <a:buNone/>
            </a:pPr>
            <a:r>
              <a:rPr lang="fr-FR" dirty="0"/>
              <a:t>        </a:t>
            </a:r>
            <a:r>
              <a:rPr lang="fr-FR" dirty="0" err="1"/>
              <a:t>print</a:t>
            </a:r>
            <a:r>
              <a:rPr lang="fr-FR" dirty="0"/>
              <a:t>(</a:t>
            </a:r>
            <a:r>
              <a:rPr lang="fr-FR" dirty="0" err="1"/>
              <a:t>f"Enclos</a:t>
            </a:r>
            <a:r>
              <a:rPr lang="fr-FR" dirty="0"/>
              <a:t> {</a:t>
            </a:r>
            <a:r>
              <a:rPr lang="fr-FR" dirty="0" err="1"/>
              <a:t>self.nom</a:t>
            </a:r>
            <a:r>
              <a:rPr lang="fr-FR" dirty="0"/>
              <a:t>} nettoyé")</a:t>
            </a:r>
          </a:p>
          <a:p>
            <a:pPr marL="0" indent="0">
              <a:buNone/>
            </a:pPr>
            <a:endParaRPr lang="fr-FR" dirty="0"/>
          </a:p>
        </p:txBody>
      </p:sp>
    </p:spTree>
    <p:extLst>
      <p:ext uri="{BB962C8B-B14F-4D97-AF65-F5344CB8AC3E}">
        <p14:creationId xmlns:p14="http://schemas.microsoft.com/office/powerpoint/2010/main" val="281224102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docProps/app.xml><?xml version="1.0" encoding="utf-8"?>
<Properties xmlns="http://schemas.openxmlformats.org/officeDocument/2006/extended-properties" xmlns:vt="http://schemas.openxmlformats.org/officeDocument/2006/docPropsVTypes">
  <Template>Office 2013 - 2022 Theme</Template>
  <TotalTime>167</TotalTime>
  <Words>2461</Words>
  <Application>Microsoft Office PowerPoint</Application>
  <PresentationFormat>Grand écran</PresentationFormat>
  <Paragraphs>329</Paragraphs>
  <Slides>48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48</vt:i4>
      </vt:variant>
    </vt:vector>
  </HeadingPairs>
  <TitlesOfParts>
    <vt:vector size="52" baseType="lpstr">
      <vt:lpstr>Arial</vt:lpstr>
      <vt:lpstr>Calibri</vt:lpstr>
      <vt:lpstr>Calibri Light</vt:lpstr>
      <vt:lpstr>Thème Office</vt:lpstr>
      <vt:lpstr>POO sous Python séance num 2</vt:lpstr>
      <vt:lpstr>Présentation PowerPoint</vt:lpstr>
      <vt:lpstr>Présentation PowerPoint</vt:lpstr>
      <vt:lpstr>Présentation PowerPoint</vt:lpstr>
      <vt:lpstr>Présentation PowerPoint</vt:lpstr>
      <vt:lpstr>Présentation PowerPoint</vt:lpstr>
      <vt:lpstr>Présentation PowerPoint</vt:lpstr>
      <vt:lpstr>Allons donc instancier un produit (créer un produit nommé p1)</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Que va afficher print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Et si on essaye de tricher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chtouki fatima</dc:creator>
  <cp:lastModifiedBy>chtouki fatima</cp:lastModifiedBy>
  <cp:revision>24</cp:revision>
  <dcterms:created xsi:type="dcterms:W3CDTF">2025-10-28T23:18:45Z</dcterms:created>
  <dcterms:modified xsi:type="dcterms:W3CDTF">2025-10-29T10:54:37Z</dcterms:modified>
</cp:coreProperties>
</file>