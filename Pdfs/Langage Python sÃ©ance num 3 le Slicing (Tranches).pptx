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360" r:id="rId3"/>
    <p:sldId id="361" r:id="rId4"/>
    <p:sldId id="362" r:id="rId5"/>
    <p:sldId id="365" r:id="rId6"/>
    <p:sldId id="366" r:id="rId7"/>
    <p:sldId id="363" r:id="rId8"/>
    <p:sldId id="364" r:id="rId9"/>
    <p:sldId id="367" r:id="rId10"/>
    <p:sldId id="368" r:id="rId11"/>
    <p:sldId id="380" r:id="rId12"/>
    <p:sldId id="381" r:id="rId13"/>
    <p:sldId id="382" r:id="rId14"/>
    <p:sldId id="383" r:id="rId15"/>
    <p:sldId id="384" r:id="rId16"/>
    <p:sldId id="379" r:id="rId17"/>
    <p:sldId id="385" r:id="rId18"/>
    <p:sldId id="369" r:id="rId19"/>
    <p:sldId id="370" r:id="rId20"/>
    <p:sldId id="371" r:id="rId21"/>
    <p:sldId id="372" r:id="rId22"/>
    <p:sldId id="373" r:id="rId23"/>
    <p:sldId id="376" r:id="rId24"/>
    <p:sldId id="374" r:id="rId25"/>
    <p:sldId id="390" r:id="rId26"/>
    <p:sldId id="389" r:id="rId27"/>
    <p:sldId id="387" r:id="rId28"/>
    <p:sldId id="388" r:id="rId29"/>
    <p:sldId id="386" r:id="rId30"/>
    <p:sldId id="375" r:id="rId31"/>
    <p:sldId id="377" r:id="rId32"/>
    <p:sldId id="37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4C2D1-F9CF-4686-BB0E-158E94DEBF42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07F0D-C1C6-4176-A3BD-C6CF8C5673D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26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7070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9906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601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687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91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7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0172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066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078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176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72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A63AF-F6DF-410A-B6C7-458FD1864C85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035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129048-E63C-F85C-6F66-80A8DF846A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Slicing</a:t>
            </a:r>
            <a:r>
              <a:rPr lang="fr-FR" dirty="0"/>
              <a:t> (Tranches) en Python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8B92BB-837F-5246-5DF9-B7327EC1EE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  <a:p>
            <a:pPr algn="r"/>
            <a:r>
              <a:rPr lang="fr-FR" dirty="0"/>
              <a:t>Enseignant : GHANEM</a:t>
            </a:r>
          </a:p>
        </p:txBody>
      </p:sp>
    </p:spTree>
    <p:extLst>
      <p:ext uri="{BB962C8B-B14F-4D97-AF65-F5344CB8AC3E}">
        <p14:creationId xmlns:p14="http://schemas.microsoft.com/office/powerpoint/2010/main" val="960380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D5A2FF-93D2-923F-F2F2-4047FD083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Définition</a:t>
            </a:r>
          </a:p>
          <a:p>
            <a:r>
              <a:rPr lang="fr-FR" dirty="0"/>
              <a:t>Le </a:t>
            </a:r>
            <a:r>
              <a:rPr lang="fr-FR" b="1" dirty="0" err="1"/>
              <a:t>slicing</a:t>
            </a:r>
            <a:r>
              <a:rPr lang="fr-FR" dirty="0"/>
              <a:t> (tranches) est une technique qui permet d'extraire une partie d'une séquence (liste, chaîne, tuple, etc.) en spécifiant un début, une fin et un pas.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Syntaxe de base</a:t>
            </a:r>
          </a:p>
          <a:p>
            <a:endParaRPr lang="fr-FR" dirty="0"/>
          </a:p>
          <a:p>
            <a:r>
              <a:rPr lang="fr-FR" dirty="0"/>
              <a:t>séquence[</a:t>
            </a:r>
            <a:r>
              <a:rPr lang="fr-FR" dirty="0" err="1"/>
              <a:t>début:fin:pas</a:t>
            </a:r>
            <a:r>
              <a:rPr lang="fr-FR" dirty="0"/>
              <a:t>]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3720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D7879-45EA-E749-31C5-99C38CC8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2F567B-8BD5-DE44-C1FF-BE1776EB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pPr marL="0" indent="0">
              <a:buNone/>
            </a:pPr>
            <a:endParaRPr lang="fr-FR" sz="3600" dirty="0"/>
          </a:p>
          <a:p>
            <a:pPr marL="0" indent="0">
              <a:buNone/>
            </a:pPr>
            <a:endParaRPr lang="fr-FR" sz="3600" dirty="0"/>
          </a:p>
          <a:p>
            <a:pPr marL="0" indent="0">
              <a:buNone/>
            </a:pPr>
            <a:r>
              <a:rPr lang="fr-FR" sz="3600" dirty="0"/>
              <a:t>                      séquence[</a:t>
            </a:r>
            <a:r>
              <a:rPr lang="fr-FR" sz="3600" dirty="0" err="1"/>
              <a:t>début:fin:pas</a:t>
            </a:r>
            <a:r>
              <a:rPr lang="fr-FR" sz="3600" dirty="0"/>
              <a:t>]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CBF42C1F-1DAB-5263-2912-08B827077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274747"/>
              </p:ext>
            </p:extLst>
          </p:nvPr>
        </p:nvGraphicFramePr>
        <p:xfrm>
          <a:off x="838200" y="2543175"/>
          <a:ext cx="9220200" cy="292116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073400">
                  <a:extLst>
                    <a:ext uri="{9D8B030D-6E8A-4147-A177-3AD203B41FA5}">
                      <a16:colId xmlns:a16="http://schemas.microsoft.com/office/drawing/2014/main" val="2497238279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878209813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681604065"/>
                    </a:ext>
                  </a:extLst>
                </a:gridCol>
              </a:tblGrid>
              <a:tr h="60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Paramètre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Valeur par défaut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78071"/>
                  </a:ext>
                </a:extLst>
              </a:tr>
              <a:tr h="60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début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 de départ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1527098"/>
                  </a:ext>
                </a:extLst>
              </a:tr>
              <a:tr h="1095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 de fin (exclusif)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len(sequence)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086505"/>
                  </a:ext>
                </a:extLst>
              </a:tr>
              <a:tr h="60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Pas/incrément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571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513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BBD68-85A7-25C9-E8C1-A32769DD8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33B52F-4044-10EF-C8A9-1BE611B50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Exemples</a:t>
            </a:r>
          </a:p>
          <a:p>
            <a:pPr marL="0" indent="0">
              <a:buNone/>
            </a:pPr>
            <a:r>
              <a:rPr lang="fr-FR" b="1" dirty="0"/>
              <a:t>1. </a:t>
            </a:r>
            <a:r>
              <a:rPr lang="fr-FR" b="1" dirty="0" err="1"/>
              <a:t>Slicing</a:t>
            </a:r>
            <a:r>
              <a:rPr lang="fr-FR" b="1" dirty="0"/>
              <a:t> basique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liste = [0, 1, 2, 3, 4, 5, 6, 7, 8, 9]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(liste[2:5])      # [2, 3, 4] (index 2 à 4)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(liste[:4])       # [0, 1, 2, 3] (du début à index 3)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(liste[6:])       # [6, 7, 8, 9] (de index 6 à la fin)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(liste[:])        # [0, 1, 2, 3, 4, 5, 6, 7, 8, 9] (copie complète)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051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B889B-690F-D0FA-FB9E-60DFACCBB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564510-8B2E-45AD-16DD-9CF69E55D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On veut inverser les éléments de la liste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           [9, 8, 7, 6, 5, 4, 3, 2, 1, 0]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 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          </a:t>
            </a:r>
            <a:r>
              <a:rPr lang="fr-FR" b="1" dirty="0">
                <a:solidFill>
                  <a:srgbClr val="EE0000"/>
                </a:solidFill>
              </a:rPr>
              <a:t>Donner le code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9039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99A71-CBCD-2632-A696-B450A2708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6E6FA0-6C98-6C73-08E3-1A44C9E06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   liste[::-1]</a:t>
            </a:r>
          </a:p>
        </p:txBody>
      </p:sp>
    </p:spTree>
    <p:extLst>
      <p:ext uri="{BB962C8B-B14F-4D97-AF65-F5344CB8AC3E}">
        <p14:creationId xmlns:p14="http://schemas.microsoft.com/office/powerpoint/2010/main" val="1905023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98485-E987-C32E-01B5-002DCD38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6FD5A5-62FE-44E6-E551-7F7D19817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r>
              <a:rPr lang="fr-FR" dirty="0"/>
              <a:t>Exercice :</a:t>
            </a:r>
            <a:br>
              <a:rPr lang="fr-FR" dirty="0"/>
            </a:br>
            <a:br>
              <a:rPr lang="fr-FR" dirty="0"/>
            </a:br>
            <a:r>
              <a:rPr lang="fr-FR" dirty="0"/>
              <a:t>liste = [0, 1, 2, 3, 4, 5, 6, 7, 8, 9]</a:t>
            </a:r>
            <a:br>
              <a:rPr lang="fr-FR" dirty="0"/>
            </a:br>
            <a:br>
              <a:rPr lang="fr-FR" dirty="0"/>
            </a:br>
            <a:endParaRPr lang="fr-FR" dirty="0"/>
          </a:p>
          <a:p>
            <a:pPr marL="0" indent="0">
              <a:buNone/>
            </a:pPr>
            <a:r>
              <a:rPr lang="fr-FR" dirty="0"/>
              <a:t>On veut afficher la liste des nombres impairs  en ordre décroissant:</a:t>
            </a:r>
          </a:p>
          <a:p>
            <a:pPr marL="0" indent="0">
              <a:buNone/>
            </a:pPr>
            <a:r>
              <a:rPr lang="fr-FR" dirty="0"/>
              <a:t>                             [9, 7, 5, 3, 1]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b="1" dirty="0">
                <a:solidFill>
                  <a:srgbClr val="EE0000"/>
                </a:solidFill>
              </a:rPr>
              <a:t>Donner le code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4800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87C62-492C-8724-E875-CDE314C8F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5E41A5-ED06-5E61-66AD-3A2E44F2E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liste[9:0:-2]</a:t>
            </a:r>
          </a:p>
        </p:txBody>
      </p:sp>
    </p:spTree>
    <p:extLst>
      <p:ext uri="{BB962C8B-B14F-4D97-AF65-F5344CB8AC3E}">
        <p14:creationId xmlns:p14="http://schemas.microsoft.com/office/powerpoint/2010/main" val="3779744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FB436-A69C-CE06-2409-24EE9A32A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42297E-B520-B16C-6A75-A543E3D5E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r>
              <a:rPr lang="fr-FR" b="1" dirty="0"/>
              <a:t>2. </a:t>
            </a:r>
            <a:r>
              <a:rPr lang="fr-FR" b="1" dirty="0" err="1"/>
              <a:t>Slicing</a:t>
            </a:r>
            <a:r>
              <a:rPr lang="fr-FR" b="1" dirty="0"/>
              <a:t> avec pas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liste = [0, 1, 2, 3, 4, 5, 6, 7, 8, 9]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(liste[::2])      # [0, 2, 4, 6, 8] (un élément sur deux)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(liste[1::2])     # [1, 3, 5, 7, 9] (éléments impairs)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(liste[2:8:3])    # [2, 5] (de index 2 à 7, pas de 3)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9551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66C9F-4BB3-8336-94AF-935994A3B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A9C18A-8FC9-63CB-E78F-7290FFD37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r>
              <a:rPr lang="fr-FR" b="1" dirty="0"/>
              <a:t>3. </a:t>
            </a:r>
            <a:r>
              <a:rPr lang="fr-FR" b="1" dirty="0" err="1"/>
              <a:t>Slicing</a:t>
            </a:r>
            <a:r>
              <a:rPr lang="fr-FR" b="1" dirty="0"/>
              <a:t> négatif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Les </a:t>
            </a:r>
            <a:r>
              <a:rPr lang="fr-FR" b="1" dirty="0"/>
              <a:t>index négatifs</a:t>
            </a:r>
            <a:r>
              <a:rPr lang="fr-FR" dirty="0"/>
              <a:t> comptent </a:t>
            </a:r>
            <a:r>
              <a:rPr lang="fr-FR" b="1" dirty="0"/>
              <a:t>à partir de la fin</a:t>
            </a:r>
            <a:r>
              <a:rPr lang="fr-FR" dirty="0"/>
              <a:t> de la séquence :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 err="1"/>
              <a:t>mon_tuple</a:t>
            </a:r>
            <a:r>
              <a:rPr lang="fr-FR" dirty="0"/>
              <a:t> =       ('a’,  'b’,   'c’,   'd’,   'e')</a:t>
            </a:r>
          </a:p>
          <a:p>
            <a:pPr marL="0" indent="0">
              <a:buNone/>
            </a:pPr>
            <a:r>
              <a:rPr lang="fr-FR" dirty="0"/>
              <a:t># Index positifs:    0     1     2      3      4</a:t>
            </a:r>
          </a:p>
          <a:p>
            <a:pPr marL="0" indent="0">
              <a:buNone/>
            </a:pPr>
            <a:r>
              <a:rPr lang="fr-FR" dirty="0"/>
              <a:t># Index négatifs:  -5   -4    -3     -2    -1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8251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5C76B-576D-7161-9250-270ACD9BF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D50DA9-A2EB-506E-7141-7E9323F87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r>
              <a:rPr lang="fr-FR" b="1" dirty="0"/>
              <a:t>3. </a:t>
            </a:r>
            <a:r>
              <a:rPr lang="fr-FR" b="1" dirty="0" err="1"/>
              <a:t>Slicing</a:t>
            </a:r>
            <a:r>
              <a:rPr lang="fr-FR" b="1" dirty="0"/>
              <a:t> négatif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Signification des index négatifs</a:t>
            </a:r>
          </a:p>
          <a:p>
            <a:r>
              <a:rPr lang="fr-FR" dirty="0"/>
              <a:t>-1 = dernier élément</a:t>
            </a:r>
          </a:p>
          <a:p>
            <a:r>
              <a:rPr lang="fr-FR" dirty="0"/>
              <a:t>-2 = avant-dernier élément</a:t>
            </a:r>
          </a:p>
          <a:p>
            <a:r>
              <a:rPr lang="fr-FR" dirty="0"/>
              <a:t>-3 = troisième en partant de la fin</a:t>
            </a:r>
          </a:p>
          <a:p>
            <a:r>
              <a:rPr lang="fr-FR" dirty="0"/>
              <a:t>etc.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3640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6DF41-64AC-D0AC-9E03-61A35C68C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CC98E1-DA56-DC78-CD17-C60050BE9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r>
              <a:rPr lang="fr-FR" b="1" dirty="0"/>
              <a:t>3. </a:t>
            </a:r>
            <a:r>
              <a:rPr lang="fr-FR" b="1" dirty="0" err="1"/>
              <a:t>Slicing</a:t>
            </a:r>
            <a:r>
              <a:rPr lang="fr-FR" b="1" dirty="0"/>
              <a:t> négatif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mon_tuple</a:t>
            </a:r>
            <a:r>
              <a:rPr lang="fr-FR" dirty="0"/>
              <a:t> = ('a', 'b', 'c', 'd', 'e')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mon_tuple</a:t>
            </a:r>
            <a:r>
              <a:rPr lang="fr-FR" dirty="0"/>
              <a:t>[-1])  # 'e' (dernier)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mon_tuple</a:t>
            </a:r>
            <a:r>
              <a:rPr lang="fr-FR" dirty="0"/>
              <a:t>[-2])  # 'd' (avant-dernier)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mon_tuple</a:t>
            </a:r>
            <a:r>
              <a:rPr lang="fr-FR" dirty="0"/>
              <a:t>[-3])  # 'c' (troisième depuis la fin)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mon_tuple</a:t>
            </a:r>
            <a:r>
              <a:rPr lang="fr-FR" dirty="0"/>
              <a:t>[-4])  # 'b'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mon_tuple</a:t>
            </a:r>
            <a:r>
              <a:rPr lang="fr-FR" dirty="0"/>
              <a:t>[-5])  # 'a'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9159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EFD2A-12D8-0290-77F9-8CA2A103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DC3504-3FA1-6C07-A610-1557418ED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r>
              <a:rPr lang="fr-FR" b="1" dirty="0"/>
              <a:t>3. </a:t>
            </a:r>
            <a:r>
              <a:rPr lang="fr-FR" b="1" dirty="0" err="1"/>
              <a:t>Slicing</a:t>
            </a:r>
            <a:r>
              <a:rPr lang="fr-FR" b="1" dirty="0"/>
              <a:t> négatif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mon_tuple</a:t>
            </a:r>
            <a:r>
              <a:rPr lang="fr-FR" dirty="0"/>
              <a:t> = ('a', 'b', 'c', 'd', 'e’)</a:t>
            </a:r>
          </a:p>
          <a:p>
            <a:pPr marL="0" indent="0">
              <a:buNone/>
            </a:pPr>
            <a:r>
              <a:rPr lang="fr-FR" dirty="0"/>
              <a:t>      # Index:    -5   -4   -3   -2   -1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mon_tuple</a:t>
            </a:r>
            <a:r>
              <a:rPr lang="fr-FR" dirty="0"/>
              <a:t>[-2:])  # ('d', 'e’)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Explication 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-2: signifie : "</a:t>
            </a:r>
            <a:r>
              <a:rPr lang="fr-FR" b="1" dirty="0"/>
              <a:t>commence à l'index -2</a:t>
            </a:r>
            <a:r>
              <a:rPr lang="fr-FR" dirty="0"/>
              <a:t> et </a:t>
            </a:r>
            <a:r>
              <a:rPr lang="fr-FR" b="1" dirty="0"/>
              <a:t>va jusqu'à la fin</a:t>
            </a:r>
            <a:r>
              <a:rPr lang="fr-FR" dirty="0"/>
              <a:t>"</a:t>
            </a:r>
          </a:p>
          <a:p>
            <a:pPr marL="0" indent="0">
              <a:buNone/>
            </a:pPr>
            <a:r>
              <a:rPr lang="fr-FR" dirty="0"/>
              <a:t>Index -2 = 'd'</a:t>
            </a:r>
          </a:p>
          <a:p>
            <a:pPr marL="0" indent="0">
              <a:buNone/>
            </a:pPr>
            <a:r>
              <a:rPr lang="fr-FR" dirty="0"/>
              <a:t>Jusqu'à la fin = 'd' et 'e'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0857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B2F0F-EC31-2CE4-B871-4277E47DE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36204D-359F-71C8-8C76-14AF729B3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r>
              <a:rPr lang="fr-FR" b="1" dirty="0"/>
              <a:t>3. </a:t>
            </a:r>
            <a:r>
              <a:rPr lang="fr-FR" b="1" dirty="0" err="1"/>
              <a:t>Slicing</a:t>
            </a:r>
            <a:r>
              <a:rPr lang="fr-FR" b="1" dirty="0"/>
              <a:t> négatif</a:t>
            </a:r>
          </a:p>
          <a:p>
            <a:pPr marL="0" indent="0">
              <a:buNone/>
            </a:pPr>
            <a:r>
              <a:rPr lang="fr-FR" dirty="0"/>
              <a:t>Exemples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liste = [10, 20, 30, 40, 50]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(liste[-1:])    # [50] (dernier élément)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(liste[-3:])    # [30, 40, 50] (3 derniers)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(liste[:-2])    # [10, 20, 30] (tout sauf les 2 derniers)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(liste[-4:-1])  # [20, 30, 40] (index -4 à -2, -1 exclus)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5164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D468B-BAA0-4D39-969B-5156AC48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2D6D91-1DF0-C647-6AD3-8BBC70350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r>
              <a:rPr lang="fr-FR" b="1" dirty="0"/>
              <a:t>3. </a:t>
            </a:r>
            <a:r>
              <a:rPr lang="fr-FR" b="1" dirty="0" err="1"/>
              <a:t>Slicing</a:t>
            </a:r>
            <a:r>
              <a:rPr lang="fr-FR" b="1" dirty="0"/>
              <a:t> négatif</a:t>
            </a:r>
          </a:p>
          <a:p>
            <a:pPr marL="0" indent="0">
              <a:buNone/>
            </a:pPr>
            <a:r>
              <a:rPr lang="fr-FR" sz="3600" b="1" dirty="0">
                <a:solidFill>
                  <a:srgbClr val="00B050"/>
                </a:solidFill>
              </a:rPr>
              <a:t>Un exemple Pour ne jamais oublier le principe: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sequence</a:t>
            </a:r>
            <a:r>
              <a:rPr lang="fr-FR" dirty="0"/>
              <a:t> = ['A',     'B',       'C',    'D',    'E']</a:t>
            </a:r>
          </a:p>
          <a:p>
            <a:pPr marL="0" indent="0">
              <a:buNone/>
            </a:pPr>
            <a:r>
              <a:rPr lang="fr-FR" dirty="0"/>
              <a:t>           # Index:   0        1          2       3       4</a:t>
            </a:r>
          </a:p>
          <a:p>
            <a:pPr marL="0" indent="0">
              <a:buNone/>
            </a:pPr>
            <a:r>
              <a:rPr lang="fr-FR" dirty="0"/>
              <a:t>       # Négatifs: -5      -4         -3      -2      -1</a:t>
            </a:r>
          </a:p>
          <a:p>
            <a:endParaRPr lang="fr-FR" dirty="0"/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sequence</a:t>
            </a:r>
            <a:r>
              <a:rPr lang="fr-FR" dirty="0"/>
              <a:t>[1:4])    # ['B', 'C', 'D']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sequence</a:t>
            </a:r>
            <a:r>
              <a:rPr lang="fr-FR" dirty="0"/>
              <a:t>[-4:-1])  # ['B', 'C', 'D'] (Même résultat !)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2510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34950-E0BD-36E4-5D35-49090B69D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967CEC-5D35-AD56-68C8-DA0459AC4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r>
              <a:rPr lang="fr-FR" b="1" dirty="0"/>
              <a:t>3. </a:t>
            </a:r>
            <a:r>
              <a:rPr lang="fr-FR" b="1" dirty="0" err="1"/>
              <a:t>Slicing</a:t>
            </a:r>
            <a:r>
              <a:rPr lang="fr-FR" b="1" dirty="0"/>
              <a:t> négatif</a:t>
            </a:r>
          </a:p>
          <a:p>
            <a:pPr marL="0" indent="0">
              <a:buNone/>
            </a:pPr>
            <a:r>
              <a:rPr lang="fr-FR" dirty="0"/>
              <a:t>                                           </a:t>
            </a:r>
            <a:r>
              <a:rPr lang="fr-FR" sz="3600" b="1" dirty="0">
                <a:solidFill>
                  <a:srgbClr val="EE0000"/>
                </a:solidFill>
              </a:rPr>
              <a:t>EXRCICE</a:t>
            </a:r>
            <a:endParaRPr lang="fr-FR" b="1" dirty="0">
              <a:solidFill>
                <a:srgbClr val="EE0000"/>
              </a:solidFill>
            </a:endParaRPr>
          </a:p>
          <a:p>
            <a:pPr marL="0" indent="0">
              <a:buNone/>
            </a:pPr>
            <a:r>
              <a:rPr lang="fr-FR" dirty="0"/>
              <a:t>liste = [0, 1, 2, 3, 4, 5, 6, 7, 8, 9]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(liste[-3:])      # ??????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(liste[:-3])      # ??????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(liste[-5:-2])    # ?????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09337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2390A-B441-7C8E-EB67-C8FAB88E2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DC9A29-9CAD-07E5-2636-2C9B6ED61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r>
              <a:rPr lang="fr-FR" b="1" dirty="0"/>
              <a:t>3. </a:t>
            </a:r>
            <a:r>
              <a:rPr lang="fr-FR" b="1" dirty="0" err="1"/>
              <a:t>Slicing</a:t>
            </a:r>
            <a:r>
              <a:rPr lang="fr-FR" b="1" dirty="0"/>
              <a:t> négatif</a:t>
            </a:r>
          </a:p>
          <a:p>
            <a:pPr marL="0" indent="0">
              <a:buNone/>
            </a:pPr>
            <a:r>
              <a:rPr lang="fr-FR" dirty="0"/>
              <a:t>                                           </a:t>
            </a:r>
            <a:r>
              <a:rPr lang="fr-FR" sz="3600" b="1" dirty="0">
                <a:solidFill>
                  <a:srgbClr val="EE0000"/>
                </a:solidFill>
              </a:rPr>
              <a:t>Résultats </a:t>
            </a:r>
            <a:endParaRPr lang="fr-FR" b="1" dirty="0">
              <a:solidFill>
                <a:srgbClr val="EE0000"/>
              </a:solidFill>
            </a:endParaRPr>
          </a:p>
          <a:p>
            <a:pPr marL="0" indent="0">
              <a:buNone/>
            </a:pPr>
            <a:r>
              <a:rPr lang="fr-FR" dirty="0"/>
              <a:t>liste = [0, 1, 2, 3, 4, 5, 6, 7, 8, 9]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(liste[-3:])      # [7, 8, 9] (3 derniers éléments)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(liste[:-3])      # [0, 1, 2, 3, 4, 5, 6] (tout sauf les 3 derniers)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(liste[-5:-2])    # [5, 6, 7] (de l'avant-dernier au 5ème en partant de la fin)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8199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0B867-52E0-6790-C22A-38BC698C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A0F748-25BB-0F12-9A38-E25C09249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r>
              <a:rPr lang="fr-FR" b="1" dirty="0"/>
              <a:t>4. </a:t>
            </a:r>
            <a:r>
              <a:rPr lang="fr-FR" b="1" dirty="0" err="1"/>
              <a:t>Slicing</a:t>
            </a:r>
            <a:r>
              <a:rPr lang="fr-FR" b="1" dirty="0"/>
              <a:t> avec pas négatif (inversion)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liste = [0, 1, 2, 3, 4, 5]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(liste[::-1])     # [5, 4, 3, 2, 1, 0] (inverse complet)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(liste[4:1:-1])   # [4, 3, 2] (de index 4 à 2 en descendant)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(liste[5:0:-2])   # [5, 3, 1] (de la fin au début, pas de -2)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9953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9BFC1-BBB5-EAF2-67FA-6E39434F1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0F1737-B1F4-FEBB-1B80-A3599CE54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pPr marL="0" indent="0" algn="ctr">
              <a:buNone/>
            </a:pPr>
            <a:r>
              <a:rPr lang="fr-FR" b="1" dirty="0"/>
              <a:t>Applications pratiques</a:t>
            </a:r>
          </a:p>
          <a:p>
            <a:pPr marL="0" indent="0">
              <a:buNone/>
            </a:pPr>
            <a:r>
              <a:rPr lang="fr-FR" b="1" dirty="0"/>
              <a:t>Avec les chaînes de caractères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texte = "Bonjour le monde"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(texte[0:7])      # "Bonjour"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(texte[8:10])     # "le"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(texte[::-1])     # "</a:t>
            </a:r>
            <a:r>
              <a:rPr lang="fr-FR" dirty="0" err="1"/>
              <a:t>ednom</a:t>
            </a:r>
            <a:r>
              <a:rPr lang="fr-FR" dirty="0"/>
              <a:t> el </a:t>
            </a:r>
            <a:r>
              <a:rPr lang="fr-FR" dirty="0" err="1"/>
              <a:t>ruojnoB</a:t>
            </a:r>
            <a:r>
              <a:rPr lang="fr-FR" dirty="0"/>
              <a:t>"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(texte[::2])      # "</a:t>
            </a:r>
            <a:r>
              <a:rPr lang="fr-FR" dirty="0" err="1"/>
              <a:t>Bnorl</a:t>
            </a:r>
            <a:r>
              <a:rPr lang="fr-FR" dirty="0"/>
              <a:t> </a:t>
            </a:r>
            <a:r>
              <a:rPr lang="fr-FR" dirty="0" err="1"/>
              <a:t>od</a:t>
            </a:r>
            <a:r>
              <a:rPr lang="fr-FR" dirty="0"/>
              <a:t>"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522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FB948-E2FB-F65F-48FE-DBFFA494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B73613-D0C5-4EEA-1BBC-76ED7F810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r>
              <a:rPr lang="fr-FR" b="1" dirty="0"/>
              <a:t>Avec les tuples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mon_tuple</a:t>
            </a:r>
            <a:r>
              <a:rPr lang="fr-FR" dirty="0"/>
              <a:t> = ('a', 'b', 'c', 'd', 'e')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mon_tuple</a:t>
            </a:r>
            <a:r>
              <a:rPr lang="fr-FR" dirty="0"/>
              <a:t>[1:4])  # ('b', 'c', 'd')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mon_tuple</a:t>
            </a:r>
            <a:r>
              <a:rPr lang="fr-FR" dirty="0"/>
              <a:t>[-2:])  # ('d', 'e')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9198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53202-9823-AC89-5275-CA9F2A107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D86917-5EA3-763E-EA19-B6A208564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dirty="0"/>
              <a:t>Cas d'utilisation avancés</a:t>
            </a:r>
          </a:p>
          <a:p>
            <a:pPr marL="0" indent="0" algn="ctr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dirty="0"/>
              <a:t># Extraire une sous-liste</a:t>
            </a:r>
          </a:p>
          <a:p>
            <a:pPr marL="0" indent="0">
              <a:buNone/>
            </a:pPr>
            <a:r>
              <a:rPr lang="fr-FR" dirty="0"/>
              <a:t>jours = ["lundi", "mardi", "mercredi", "jeudi", "vendredi", "samedi", "dimanche"]</a:t>
            </a:r>
          </a:p>
          <a:p>
            <a:pPr marL="0" indent="0">
              <a:buNone/>
            </a:pPr>
            <a:r>
              <a:rPr lang="fr-FR" dirty="0" err="1"/>
              <a:t>semaine_travail</a:t>
            </a:r>
            <a:r>
              <a:rPr lang="fr-FR" dirty="0"/>
              <a:t> = jours[0:5]  # ["lundi", "mardi", "mercredi", "jeudi", "vendredi"]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2449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6F37C-0D60-F77B-394D-558E8B24E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33267C-DAEF-288E-12B4-6532B41F2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Inverser une chaîne</a:t>
            </a:r>
          </a:p>
          <a:p>
            <a:pPr marL="0" indent="0">
              <a:buNone/>
            </a:pPr>
            <a:r>
              <a:rPr lang="fr-FR" dirty="0"/>
              <a:t>palindrome = "radar"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(palindrome == palindrome[::-1])  # </a:t>
            </a:r>
            <a:r>
              <a:rPr lang="fr-FR" dirty="0" err="1"/>
              <a:t>True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3419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CC1C0-80C8-E554-AC54-3AEC296D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863251-08CB-36CE-6BF2-E0B6DF55A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pPr marL="0" indent="0" algn="ctr">
              <a:buNone/>
            </a:pPr>
            <a:r>
              <a:rPr lang="fr-FR" sz="4400" b="1" dirty="0">
                <a:solidFill>
                  <a:srgbClr val="EE0000"/>
                </a:solidFill>
              </a:rPr>
              <a:t>DÉFI PROGRAMMATION</a:t>
            </a:r>
            <a:endParaRPr lang="fr-FR" sz="4400" dirty="0">
              <a:solidFill>
                <a:srgbClr val="EE0000"/>
              </a:solidFill>
            </a:endParaRPr>
          </a:p>
          <a:p>
            <a:r>
              <a:rPr lang="fr-FR" dirty="0"/>
              <a:t>Y a-t-il parmi nous des étudiants compétents en langage C, capables d'écrire rapidement un code pour une idée simple ?</a:t>
            </a:r>
          </a:p>
          <a:p>
            <a:r>
              <a:rPr lang="fr-FR" b="1" dirty="0"/>
              <a:t>C'est parti !</a:t>
            </a:r>
            <a:r>
              <a:rPr lang="fr-FR" dirty="0"/>
              <a:t> Nous lançons le chronomètre :</a:t>
            </a:r>
          </a:p>
          <a:p>
            <a:r>
              <a:rPr lang="fr-FR" dirty="0"/>
              <a:t>Un étudiant écrit un programme en </a:t>
            </a:r>
            <a:r>
              <a:rPr lang="fr-FR" b="1" dirty="0"/>
              <a:t>Python</a:t>
            </a:r>
            <a:r>
              <a:rPr lang="fr-FR" dirty="0"/>
              <a:t> sur papier</a:t>
            </a:r>
          </a:p>
          <a:p>
            <a:r>
              <a:rPr lang="fr-FR" dirty="0"/>
              <a:t>Un autre écrit le même programme en </a:t>
            </a:r>
            <a:r>
              <a:rPr lang="fr-FR" b="1" dirty="0"/>
              <a:t>langage C</a:t>
            </a:r>
            <a:r>
              <a:rPr lang="fr-FR" dirty="0"/>
              <a:t> sur papier</a:t>
            </a:r>
          </a:p>
          <a:p>
            <a:r>
              <a:rPr lang="fr-FR" b="1" dirty="0"/>
              <a:t>Objectif :</a:t>
            </a:r>
            <a:r>
              <a:rPr lang="fr-FR" dirty="0"/>
              <a:t> </a:t>
            </a:r>
          </a:p>
          <a:p>
            <a:r>
              <a:rPr lang="fr-FR" dirty="0"/>
              <a:t>Les deux codes doivent afficher les multiples de 3 compris entre 0 et 30.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161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9CA72-9162-8F8F-AFC4-FDA7C5129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8A8596-407A-22CF-4121-F8A85CDE5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a = </a:t>
            </a:r>
            <a:r>
              <a:rPr lang="fr-FR" dirty="0" err="1"/>
              <a:t>list</a:t>
            </a:r>
            <a:r>
              <a:rPr lang="fr-FR" dirty="0"/>
              <a:t>(range(31))</a:t>
            </a:r>
          </a:p>
          <a:p>
            <a:pPr marL="0" indent="0">
              <a:buNone/>
            </a:pPr>
            <a:r>
              <a:rPr lang="fr-FR" dirty="0"/>
              <a:t>b= a[::3] </a:t>
            </a:r>
          </a:p>
          <a:p>
            <a:pPr marL="0" indent="0">
              <a:buNone/>
            </a:pPr>
            <a:r>
              <a:rPr lang="fr-FR" dirty="0"/>
              <a:t>b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287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DB4CE-53F8-372A-78E9-FFCC7EB94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8B2496-12E7-9BE3-B208-CC7C72E2F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endParaRPr lang="fr-FR" dirty="0"/>
          </a:p>
          <a:p>
            <a:r>
              <a:rPr lang="fr-FR" dirty="0"/>
              <a:t>Version avec  l’utilisation de </a:t>
            </a:r>
            <a:r>
              <a:rPr lang="fr-FR" dirty="0" err="1"/>
              <a:t>print</a:t>
            </a:r>
            <a:r>
              <a:rPr lang="fr-FR" dirty="0"/>
              <a:t> ( l’ autre version ne marche que en mode console)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a = </a:t>
            </a:r>
            <a:r>
              <a:rPr lang="fr-FR" dirty="0" err="1"/>
              <a:t>list</a:t>
            </a:r>
            <a:r>
              <a:rPr lang="fr-FR" dirty="0"/>
              <a:t>(range(31))</a:t>
            </a:r>
          </a:p>
          <a:p>
            <a:pPr marL="0" indent="0">
              <a:buNone/>
            </a:pPr>
            <a:r>
              <a:rPr lang="fr-FR" dirty="0"/>
              <a:t>b= a[::3] 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(b)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2439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4B086F-F70B-789B-5C8A-6DD7600D1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Nous aborderons la signification et l'utilisation de la fonction range() dans les prochaines séances de cours.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5321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7E1785-4538-6B97-9B12-D97043180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Une autre utilisation de [:]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9A4389-DB72-4A27-0B69-4EA6C505A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pour une « Copie superficielle »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5330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2A6F40-8718-36A4-302A-54A1D8559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Faisons tout d'abord une copie classique pour comparer :</a:t>
            </a:r>
          </a:p>
        </p:txBody>
      </p:sp>
    </p:spTree>
    <p:extLst>
      <p:ext uri="{BB962C8B-B14F-4D97-AF65-F5344CB8AC3E}">
        <p14:creationId xmlns:p14="http://schemas.microsoft.com/office/powerpoint/2010/main" val="25364403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781ADC-1B5E-3385-D14C-50C3205E6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57200"/>
            <a:ext cx="11334750" cy="59340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dirty="0"/>
              <a:t>originale = [[1, 2], [3, 4]]</a:t>
            </a:r>
          </a:p>
          <a:p>
            <a:pPr marL="0" indent="0">
              <a:buNone/>
            </a:pPr>
            <a:r>
              <a:rPr lang="fr-FR" dirty="0"/>
              <a:t>copie = originale  </a:t>
            </a:r>
            <a:r>
              <a:rPr lang="fr-FR" sz="3600" b="1" dirty="0">
                <a:solidFill>
                  <a:srgbClr val="EE0000"/>
                </a:solidFill>
              </a:rPr>
              <a:t># copie et originale seront exactement la même chose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("Avant modification:")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(originale) 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(copie)</a:t>
            </a:r>
          </a:p>
          <a:p>
            <a:pPr marL="0" indent="0">
              <a:buNone/>
            </a:pPr>
            <a:r>
              <a:rPr lang="fr-FR" dirty="0"/>
              <a:t># Modifions la liste principale (ajout d'un élément)</a:t>
            </a:r>
          </a:p>
          <a:p>
            <a:pPr marL="0" indent="0">
              <a:buNone/>
            </a:pPr>
            <a:r>
              <a:rPr lang="fr-FR" dirty="0" err="1"/>
              <a:t>copie.append</a:t>
            </a:r>
            <a:r>
              <a:rPr lang="fr-FR" dirty="0"/>
              <a:t>([5, 6])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</a:t>
            </a:r>
            <a:r>
              <a:rPr lang="fr-FR" dirty="0" err="1"/>
              <a:t>nAprès</a:t>
            </a:r>
            <a:r>
              <a:rPr lang="fr-FR" dirty="0"/>
              <a:t> modification de la liste principale:")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(originale) 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(copie)</a:t>
            </a:r>
          </a:p>
          <a:p>
            <a:pPr marL="0" indent="0">
              <a:buNone/>
            </a:pPr>
            <a:r>
              <a:rPr lang="fr-FR" dirty="0"/>
              <a:t>copie[0][0] = 999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</a:t>
            </a:r>
            <a:r>
              <a:rPr lang="fr-FR" dirty="0" err="1"/>
              <a:t>nAprès</a:t>
            </a:r>
            <a:r>
              <a:rPr lang="fr-FR" dirty="0"/>
              <a:t> modification d'une sous-liste:")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(originale) 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(copie)</a:t>
            </a:r>
          </a:p>
        </p:txBody>
      </p:sp>
    </p:spTree>
    <p:extLst>
      <p:ext uri="{BB962C8B-B14F-4D97-AF65-F5344CB8AC3E}">
        <p14:creationId xmlns:p14="http://schemas.microsoft.com/office/powerpoint/2010/main" val="3492531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F8E98-5D0A-E714-EB80-CF5B76515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48C84D-10D9-A418-82DC-192F39B6E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pPr marL="0" indent="0" algn="ctr">
              <a:buNone/>
            </a:pPr>
            <a:r>
              <a:rPr lang="fr-FR" dirty="0"/>
              <a:t> Copie superficielle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originale = [[1, 2], [3, 4]]</a:t>
            </a:r>
          </a:p>
          <a:p>
            <a:pPr marL="0" indent="0">
              <a:buNone/>
            </a:pPr>
            <a:r>
              <a:rPr lang="fr-FR" dirty="0"/>
              <a:t>copie = originale[:] # Copie superficielle</a:t>
            </a:r>
          </a:p>
        </p:txBody>
      </p:sp>
    </p:spTree>
    <p:extLst>
      <p:ext uri="{BB962C8B-B14F-4D97-AF65-F5344CB8AC3E}">
        <p14:creationId xmlns:p14="http://schemas.microsoft.com/office/powerpoint/2010/main" val="1416136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BB78D-240C-119D-3719-9025BEE2D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313A46-D35A-A815-967D-BB6E67935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dirty="0"/>
              <a:t>originale = [[1, 2], [3, 4]]</a:t>
            </a:r>
          </a:p>
          <a:p>
            <a:pPr marL="0" indent="0">
              <a:buNone/>
            </a:pPr>
            <a:r>
              <a:rPr lang="fr-FR" dirty="0"/>
              <a:t>copie = originale[:]  # Copie superficielle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("Avant modification:")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(originale)  # [[1, 2], [3, 4]]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(copie)          # [[1, 2], [3, 4]]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Modifions la liste principale (ajout d'un élément)</a:t>
            </a:r>
          </a:p>
          <a:p>
            <a:pPr marL="0" indent="0">
              <a:buNone/>
            </a:pPr>
            <a:r>
              <a:rPr lang="fr-FR" dirty="0" err="1"/>
              <a:t>copie.append</a:t>
            </a:r>
            <a:r>
              <a:rPr lang="fr-FR" dirty="0"/>
              <a:t>([5, 6])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</a:t>
            </a:r>
            <a:r>
              <a:rPr lang="fr-FR" dirty="0" err="1"/>
              <a:t>nAprès</a:t>
            </a:r>
            <a:r>
              <a:rPr lang="fr-FR" dirty="0"/>
              <a:t> modification de la liste principale:")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(originale)  # [[1, 2], [3, 4]] ← </a:t>
            </a:r>
            <a:r>
              <a:rPr lang="fr-FR" b="1" dirty="0">
                <a:solidFill>
                  <a:srgbClr val="EE0000"/>
                </a:solidFill>
              </a:rPr>
              <a:t>inchangée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(copie)          # [[1, 2], [3, 4], [5, 6]] </a:t>
            </a:r>
            <a:r>
              <a:rPr lang="fr-FR" b="1" dirty="0"/>
              <a:t>changée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Maintenant modifions une SOUS-liste</a:t>
            </a:r>
          </a:p>
          <a:p>
            <a:pPr marL="0" indent="0">
              <a:buNone/>
            </a:pPr>
            <a:r>
              <a:rPr lang="fr-FR" dirty="0"/>
              <a:t>copie[0][0] = 999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</a:t>
            </a:r>
            <a:r>
              <a:rPr lang="fr-FR" dirty="0" err="1"/>
              <a:t>nAprès</a:t>
            </a:r>
            <a:r>
              <a:rPr lang="fr-FR" dirty="0"/>
              <a:t> modification d'une sous-liste:")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(originale)  # [[999, 2], [3, 4]] ← </a:t>
            </a:r>
            <a:r>
              <a:rPr lang="fr-FR" b="1" dirty="0">
                <a:solidFill>
                  <a:srgbClr val="EE0000"/>
                </a:solidFill>
              </a:rPr>
              <a:t>MODIFIÉE</a:t>
            </a:r>
            <a:r>
              <a:rPr lang="fr-FR" dirty="0">
                <a:solidFill>
                  <a:srgbClr val="EE0000"/>
                </a:solidFill>
              </a:rPr>
              <a:t> !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(copie)          # [[999, 2], [3, 4], [5, 6]]</a:t>
            </a:r>
          </a:p>
        </p:txBody>
      </p:sp>
    </p:spTree>
    <p:extLst>
      <p:ext uri="{BB962C8B-B14F-4D97-AF65-F5344CB8AC3E}">
        <p14:creationId xmlns:p14="http://schemas.microsoft.com/office/powerpoint/2010/main" val="1220900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68641-908C-8ADF-4E78-172BF2FF5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705F7A-8F9B-0E12-3887-8DAA5A7B5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04800"/>
            <a:ext cx="11334750" cy="6134100"/>
          </a:xfrm>
        </p:spPr>
        <p:txBody>
          <a:bodyPr/>
          <a:lstStyle/>
          <a:p>
            <a:r>
              <a:rPr lang="fr-FR" b="1" dirty="0"/>
              <a:t>Pourquoi ça?</a:t>
            </a:r>
          </a:p>
          <a:p>
            <a:pPr marL="0" indent="0">
              <a:buNone/>
            </a:pPr>
            <a:r>
              <a:rPr lang="fr-FR" b="1" dirty="0"/>
              <a:t>En mémoire :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rgbClr val="FFFF00"/>
                </a:solidFill>
              </a:rPr>
              <a:t>originale</a:t>
            </a:r>
            <a:r>
              <a:rPr lang="fr-FR" dirty="0"/>
              <a:t> → [adresse1, adresse2]</a:t>
            </a:r>
          </a:p>
          <a:p>
            <a:pPr marL="0" indent="0">
              <a:buNone/>
            </a:pPr>
            <a:r>
              <a:rPr lang="fr-FR" dirty="0"/>
              <a:t>                         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EE0000"/>
                </a:solidFill>
              </a:rPr>
              <a:t>copie</a:t>
            </a:r>
            <a:r>
              <a:rPr lang="fr-FR" dirty="0"/>
              <a:t> → [adresse1, adresse2]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</a:t>
            </a:r>
          </a:p>
          <a:p>
            <a:r>
              <a:rPr lang="fr-FR" b="1" dirty="0" err="1">
                <a:solidFill>
                  <a:srgbClr val="00B050"/>
                </a:solidFill>
              </a:rPr>
              <a:t>copie.append</a:t>
            </a:r>
            <a:r>
              <a:rPr lang="fr-FR" b="1" dirty="0">
                <a:solidFill>
                  <a:srgbClr val="00B050"/>
                </a:solidFill>
              </a:rPr>
              <a:t>([5, 6])</a:t>
            </a:r>
          </a:p>
          <a:p>
            <a:endParaRPr lang="fr-FR"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6A00E05-82B4-12BD-D4F8-F623263B7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704046"/>
              </p:ext>
            </p:extLst>
          </p:nvPr>
        </p:nvGraphicFramePr>
        <p:xfrm>
          <a:off x="5829300" y="1628775"/>
          <a:ext cx="6229350" cy="430126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56396376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97412324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465497611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65034915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3690962390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652033750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88333823"/>
                    </a:ext>
                  </a:extLst>
                </a:gridCol>
              </a:tblGrid>
              <a:tr h="93502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845154"/>
                  </a:ext>
                </a:extLst>
              </a:tr>
              <a:tr h="935023">
                <a:tc>
                  <a:txBody>
                    <a:bodyPr/>
                    <a:lstStyle/>
                    <a:p>
                      <a:r>
                        <a:rPr lang="fr-FR" dirty="0"/>
                        <a:t> </a:t>
                      </a:r>
                    </a:p>
                    <a:p>
                      <a:r>
                        <a:rPr lang="fr-FR" dirty="0"/>
                        <a:t>Adresse1</a:t>
                      </a:r>
                    </a:p>
                    <a:p>
                      <a:r>
                        <a:rPr lang="fr-FR" dirty="0"/>
                        <a:t>[1, 2]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Adresse2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[3, 4]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869821"/>
                  </a:ext>
                </a:extLst>
              </a:tr>
              <a:tr h="37920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33670"/>
                  </a:ext>
                </a:extLst>
              </a:tr>
              <a:tr h="37920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960580"/>
                  </a:ext>
                </a:extLst>
              </a:tr>
              <a:tr h="37920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Adresse2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[5, 6]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535267"/>
                  </a:ext>
                </a:extLst>
              </a:tr>
              <a:tr h="37920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632195"/>
                  </a:ext>
                </a:extLst>
              </a:tr>
              <a:tr h="37920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935774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BD1FB7D-C30C-3985-255B-E0B808C8B9F0}"/>
              </a:ext>
            </a:extLst>
          </p:cNvPr>
          <p:cNvCxnSpPr/>
          <p:nvPr/>
        </p:nvCxnSpPr>
        <p:spPr>
          <a:xfrm>
            <a:off x="1600200" y="2276475"/>
            <a:ext cx="4219575" cy="7200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A11F02E-7B4F-B5BE-EEF3-91F59C222AF3}"/>
              </a:ext>
            </a:extLst>
          </p:cNvPr>
          <p:cNvCxnSpPr>
            <a:cxnSpLocks/>
          </p:cNvCxnSpPr>
          <p:nvPr/>
        </p:nvCxnSpPr>
        <p:spPr>
          <a:xfrm>
            <a:off x="6810375" y="2996475"/>
            <a:ext cx="1590675" cy="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" name="Arc 14">
            <a:extLst>
              <a:ext uri="{FF2B5EF4-FFF2-40B4-BE49-F238E27FC236}">
                <a16:creationId xmlns:a16="http://schemas.microsoft.com/office/drawing/2014/main" id="{2725B62E-FDC4-67D7-36AC-5019BA28A2F4}"/>
              </a:ext>
            </a:extLst>
          </p:cNvPr>
          <p:cNvSpPr/>
          <p:nvPr/>
        </p:nvSpPr>
        <p:spPr>
          <a:xfrm flipV="1">
            <a:off x="885825" y="2886075"/>
            <a:ext cx="5353050" cy="1085850"/>
          </a:xfrm>
          <a:prstGeom prst="arc">
            <a:avLst>
              <a:gd name="adj1" fmla="val 10627233"/>
              <a:gd name="adj2" fmla="val 0"/>
            </a:avLst>
          </a:prstGeom>
          <a:ln w="57150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56921A16-038E-047E-F9F6-1F053B40090E}"/>
              </a:ext>
            </a:extLst>
          </p:cNvPr>
          <p:cNvCxnSpPr/>
          <p:nvPr/>
        </p:nvCxnSpPr>
        <p:spPr>
          <a:xfrm flipV="1">
            <a:off x="6686550" y="3219450"/>
            <a:ext cx="1819275" cy="152400"/>
          </a:xfrm>
          <a:prstGeom prst="line">
            <a:avLst/>
          </a:prstGeom>
          <a:ln w="57150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67D0F364-1CDF-33D2-2D95-9CB0EAB4743E}"/>
              </a:ext>
            </a:extLst>
          </p:cNvPr>
          <p:cNvCxnSpPr/>
          <p:nvPr/>
        </p:nvCxnSpPr>
        <p:spPr>
          <a:xfrm flipH="1">
            <a:off x="8505825" y="3219450"/>
            <a:ext cx="523875" cy="1095375"/>
          </a:xfrm>
          <a:prstGeom prst="line">
            <a:avLst/>
          </a:prstGeom>
          <a:ln w="57150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4706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387</TotalTime>
  <Words>1793</Words>
  <Application>Microsoft Office PowerPoint</Application>
  <PresentationFormat>Grand écran</PresentationFormat>
  <Paragraphs>246</Paragraphs>
  <Slides>32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Thème Office</vt:lpstr>
      <vt:lpstr>le Slicing (Tranches) en Python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Une autre utilisation de [:]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chtouki fatima</dc:creator>
  <cp:lastModifiedBy>chtouki fatima</cp:lastModifiedBy>
  <cp:revision>42</cp:revision>
  <dcterms:created xsi:type="dcterms:W3CDTF">2025-10-28T19:59:45Z</dcterms:created>
  <dcterms:modified xsi:type="dcterms:W3CDTF">2025-10-30T23:49:02Z</dcterms:modified>
</cp:coreProperties>
</file>