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3"/>
  </p:notesMasterIdLst>
  <p:sldIdLst>
    <p:sldId id="256" r:id="rId2"/>
    <p:sldId id="359" r:id="rId3"/>
    <p:sldId id="360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357" r:id="rId52"/>
    <p:sldId id="358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C2D1-F9CF-4686-BB0E-158E94DEBF42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07F0D-C1C6-4176-A3BD-C6CF8C5673D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26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07F0D-C1C6-4176-A3BD-C6CF8C5673D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079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07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90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60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87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1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7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17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66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07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76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2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A63AF-F6DF-410A-B6C7-458FD1864C85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FE08E-B53A-4212-BE19-FF3343AA5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035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129048-E63C-F85C-6F66-80A8DF846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POO sous Python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8B92BB-837F-5246-5DF9-B7327EC1E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Exercices concernant le contenu des deux fichiers </a:t>
            </a:r>
            <a:r>
              <a:rPr lang="fr-FR" dirty="0" err="1"/>
              <a:t>ppt</a:t>
            </a:r>
            <a:r>
              <a:rPr lang="fr-FR" dirty="0"/>
              <a:t> du Rappel</a:t>
            </a:r>
          </a:p>
          <a:p>
            <a:endParaRPr lang="fr-FR" dirty="0"/>
          </a:p>
          <a:p>
            <a:pPr algn="r"/>
            <a:r>
              <a:rPr lang="fr-FR" dirty="0"/>
              <a:t>Enseignant : GHANEM</a:t>
            </a:r>
          </a:p>
        </p:txBody>
      </p:sp>
    </p:spTree>
    <p:extLst>
      <p:ext uri="{BB962C8B-B14F-4D97-AF65-F5344CB8AC3E}">
        <p14:creationId xmlns:p14="http://schemas.microsoft.com/office/powerpoint/2010/main" val="960380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DE2CCD-0124-BF33-FCBA-1BC54C79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F3C76C-F733-7C1D-4640-537242720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sz="3600" b="1" dirty="0"/>
              <a:t>Les fonctions principales pour chaque type </a:t>
            </a:r>
          </a:p>
        </p:txBody>
      </p:sp>
    </p:spTree>
    <p:extLst>
      <p:ext uri="{BB962C8B-B14F-4D97-AF65-F5344CB8AC3E}">
        <p14:creationId xmlns:p14="http://schemas.microsoft.com/office/powerpoint/2010/main" val="1885848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F05FAFC-1B54-E42C-D74E-BE6B242F1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024023"/>
              </p:ext>
            </p:extLst>
          </p:nvPr>
        </p:nvGraphicFramePr>
        <p:xfrm>
          <a:off x="571500" y="1477327"/>
          <a:ext cx="10515600" cy="4541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72811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05630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26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int("25")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Convertit une chaîne en entier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78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abs(-5)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la valeur absolue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86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pow(2,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Calcule 2 puissance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841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divmod(10,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(quotient, reste)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2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Convertit en binaire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205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hex(255)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Convertit en hexadécimal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75543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249C3D0-A08F-895F-56C0-AEC6F90D9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0" y="606980"/>
            <a:ext cx="58674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pour les entiers (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72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656F6-5781-B7A6-4221-9E69B551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A8C49DC7-3B91-87DE-F06A-080324B1AD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599234"/>
              </p:ext>
            </p:extLst>
          </p:nvPr>
        </p:nvGraphicFramePr>
        <p:xfrm>
          <a:off x="533400" y="1544002"/>
          <a:ext cx="10515600" cy="36271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469932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75589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45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float("3.14")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Convertit en nombre décimal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80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round(3.14159,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Arrondit à 2 décimales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727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abs(-2.5)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la valeur absolue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422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max(1.5, 2.7)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plus grand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294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min(1.5, 2.7)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plus petit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46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int(3.99)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Convertit en entier (troncature)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61854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82B7B09-2A7C-5198-F05B-075AE499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15621"/>
            <a:ext cx="721995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pour les flottants (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float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052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45679-D0E6-8343-31FC-7928C655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DFA8CBB4-11F1-78E3-7D5D-975DEA059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577023"/>
              </p:ext>
            </p:extLst>
          </p:nvPr>
        </p:nvGraphicFramePr>
        <p:xfrm>
          <a:off x="552450" y="1947546"/>
          <a:ext cx="10629900" cy="3962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314950">
                  <a:extLst>
                    <a:ext uri="{9D8B030D-6E8A-4147-A177-3AD203B41FA5}">
                      <a16:colId xmlns:a16="http://schemas.microsoft.com/office/drawing/2014/main" val="495738245"/>
                    </a:ext>
                  </a:extLst>
                </a:gridCol>
                <a:gridCol w="5314950">
                  <a:extLst>
                    <a:ext uri="{9D8B030D-6E8A-4147-A177-3AD203B41FA5}">
                      <a16:colId xmlns:a16="http://schemas.microsoft.com/office/drawing/2014/main" val="834035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4161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complex(2,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Crée 2+3j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514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z.real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la partie réelle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95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z.imag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la partie imaginaire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3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z.conjugate</a:t>
                      </a:r>
                      <a:r>
                        <a:rPr lang="fr-F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conjugué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17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abs(z)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21560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3738DB7-36C6-54BA-4668-AA90432F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760969"/>
            <a:ext cx="66579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pour les complexes (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005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5378-32B4-56FD-A60F-627DA560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9B2D6690-4B2D-2114-3C2C-BAFC2D132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0589582"/>
              </p:ext>
            </p:extLst>
          </p:nvPr>
        </p:nvGraphicFramePr>
        <p:xfrm>
          <a:off x="838200" y="1644967"/>
          <a:ext cx="10515600" cy="46634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25426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58690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986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s.upper()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Convertit en majuscules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996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s.lower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Convertit en minuscules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12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s.strip()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Supprime les espaces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133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s.split(",")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Sépare en liste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593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s.replace("a", "b")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Remplace a par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379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s.find("mot")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Cherche la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686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la longueur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918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s.startswith("A")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Vérifie si commence par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371226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1B3EC63-8104-D51D-0224-3E99DB957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740034"/>
            <a:ext cx="6867525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pour les chaînes (</a:t>
            </a:r>
            <a:r>
              <a:rPr kumimoji="0" lang="fr-FR" altLang="fr-F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</a:t>
            </a: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85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D575-089B-3F9F-BF7E-A7E17D9E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7180C73A-634E-5BCA-5625-6AD4C73CB1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72057"/>
              </p:ext>
            </p:extLst>
          </p:nvPr>
        </p:nvGraphicFramePr>
        <p:xfrm>
          <a:off x="647700" y="1566108"/>
          <a:ext cx="10515600" cy="46634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1064852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64697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01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liste.append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Ajoute un élément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597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liste.extend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([6,7])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Ajoute plusieurs éléments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71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liste.insert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(0, "a")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Insère à une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88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liste.remove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Supprime un élément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52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liste.pop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Supprime le dernier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33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liste.sort()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Trie la liste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052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liste.reverse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Inverse l'ordre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805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(liste)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la longueur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96809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1529E28-06AD-F078-2555-93E7C167F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628452"/>
            <a:ext cx="5334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pour les listes (</a:t>
            </a:r>
            <a:r>
              <a:rPr kumimoji="0" lang="fr-FR" altLang="fr-F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864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65CD-1A2A-CCA5-AD3D-B2F7E4DC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0A7F6687-6586-8014-8C72-5A27E6558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760796"/>
              </p:ext>
            </p:extLst>
          </p:nvPr>
        </p:nvGraphicFramePr>
        <p:xfrm>
          <a:off x="752475" y="1704022"/>
          <a:ext cx="10515600" cy="41452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826928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58143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837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tuple([1,2,3])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Convertit en tuple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985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t.count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Compte les occurrences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28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t.index(3)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Trouve la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46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len(t)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la longueur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933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+ (4,5)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Concatène des tuples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637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max(t)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maximum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50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min(t)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minimum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8638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4EBAC9D-C699-7C78-3F10-E5DEEE3C8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591107"/>
            <a:ext cx="600075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pour les tuples (tuple)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8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E4B56-60AE-84F2-CBF9-7A09F1E4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0231C69C-613C-39A4-3AF3-C7ABAF331C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1515561"/>
              </p:ext>
            </p:extLst>
          </p:nvPr>
        </p:nvGraphicFramePr>
        <p:xfrm>
          <a:off x="714375" y="1492250"/>
          <a:ext cx="10515600" cy="46634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954713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67934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22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d.keys()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Retourne les clés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232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d.values()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Retourne les valeurs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347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d.items()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Retourne les paires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93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d.get("clé")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Retourne la valeur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198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d.pop</a:t>
                      </a:r>
                      <a:r>
                        <a:rPr lang="fr-F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("clé")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Supprime une clé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612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d.update</a:t>
                      </a:r>
                      <a:r>
                        <a:rPr lang="fr-F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({"a":1})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Ajoute/modifie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074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len(d)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Retourne le nombre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672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"clé" in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Vérifie si clé existe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41864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27504E8-98CA-66F7-E13D-93384BEAB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408544"/>
            <a:ext cx="691515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pour les dictionnaires (dict)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292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15BA-BAE4-C0D8-2984-90CA2A05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68E8EAC1-553B-F1C3-4FC2-7A33D34258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740803"/>
              </p:ext>
            </p:extLst>
          </p:nvPr>
        </p:nvGraphicFramePr>
        <p:xfrm>
          <a:off x="600075" y="1530667"/>
          <a:ext cx="10515600" cy="46634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466682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82777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Fonction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Description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188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/>
                        <a:t>s.add</a:t>
                      </a:r>
                      <a:r>
                        <a:rPr lang="fr-FR" sz="2800" dirty="0"/>
                        <a:t>(5)</a:t>
                      </a:r>
                      <a:endParaRPr lang="fr-FR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Ajoute un élément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39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s.remove(5)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Supprime un élément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839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s.union(t)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Retourne l'union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590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s.intersection(t)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Retourne l'intersection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253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s.difference(t)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Retourne la différence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305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/>
                        <a:t>len</a:t>
                      </a:r>
                      <a:r>
                        <a:rPr lang="fr-FR" sz="2800" dirty="0"/>
                        <a:t>(s)</a:t>
                      </a:r>
                      <a:endParaRPr lang="fr-FR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Retourne la taille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15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5 in s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Vérifie si présent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90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/>
                        <a:t>s.clear()</a:t>
                      </a:r>
                      <a:endParaRPr lang="fr-FR" sz="2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/>
                        <a:t>Vide l'ensemble</a:t>
                      </a:r>
                      <a:endParaRPr lang="fr-FR" sz="2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0234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F1A10745-0732-76A3-58CA-7D71C62F8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84769"/>
            <a:ext cx="630555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pour les ensembles (set)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31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7CAC5-CB39-75BB-3BD8-E31832D2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E44DD57A-8409-CF15-81AF-3F0036BFDA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270285"/>
              </p:ext>
            </p:extLst>
          </p:nvPr>
        </p:nvGraphicFramePr>
        <p:xfrm>
          <a:off x="838200" y="1501775"/>
          <a:ext cx="10515600" cy="466344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681505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33934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568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076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len(x)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la longueur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0302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max(x)    exemple : max ( 5,7,8)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maximum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90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le minimum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78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(x)     </a:t>
                      </a: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([5,7,0,8])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Retourne trié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068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(x)      </a:t>
                      </a: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([5,7,0,8])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Calcule la somme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8875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 si un élément vrai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633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r>
                        <a:rPr lang="fr-F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 tous vrais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98732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C8E2F1A-AA9B-E93B-12CE-3BC3A4A6B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82771"/>
            <a:ext cx="65151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Fonctions universelles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55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7F41B2-9387-2026-838F-53DDC30F0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</a:t>
            </a:r>
          </a:p>
          <a:p>
            <a:r>
              <a:rPr lang="fr-FR" dirty="0"/>
              <a:t>Créez une variable </a:t>
            </a:r>
            <a:r>
              <a:rPr lang="fr-FR" dirty="0" err="1"/>
              <a:t>temperature</a:t>
            </a:r>
            <a:r>
              <a:rPr lang="fr-FR" dirty="0"/>
              <a:t> avec la valeur 23.5 et affichez-la</a:t>
            </a:r>
          </a:p>
        </p:txBody>
      </p:sp>
    </p:spTree>
    <p:extLst>
      <p:ext uri="{BB962C8B-B14F-4D97-AF65-F5344CB8AC3E}">
        <p14:creationId xmlns:p14="http://schemas.microsoft.com/office/powerpoint/2010/main" val="1809815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822F3-99FE-3EA7-B58C-FDF016A65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E98312-D9B6-AE64-BDF6-AAE321128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</a:t>
            </a:r>
          </a:p>
          <a:p>
            <a:endParaRPr lang="fr-FR" dirty="0"/>
          </a:p>
          <a:p>
            <a:r>
              <a:rPr lang="fr-FR" dirty="0" err="1"/>
              <a:t>temperature</a:t>
            </a:r>
            <a:r>
              <a:rPr lang="fr-FR" dirty="0"/>
              <a:t> = 23.5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temperature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024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660B4-C26A-B4F7-83CF-41EA4A9F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92AB2-55DB-2DA1-9792-14D345E10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</a:t>
            </a:r>
          </a:p>
          <a:p>
            <a:r>
              <a:rPr lang="fr-FR" dirty="0"/>
              <a:t>Convertissez la chaîne "125" en entier et stockez-la dans nombre</a:t>
            </a:r>
          </a:p>
        </p:txBody>
      </p:sp>
    </p:spTree>
    <p:extLst>
      <p:ext uri="{BB962C8B-B14F-4D97-AF65-F5344CB8AC3E}">
        <p14:creationId xmlns:p14="http://schemas.microsoft.com/office/powerpoint/2010/main" val="2185408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0973F-B56B-F5E7-B050-602DB349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DD737D-930F-D689-46C2-B8FEA366C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</a:t>
            </a:r>
          </a:p>
          <a:p>
            <a:endParaRPr lang="fr-FR" dirty="0"/>
          </a:p>
          <a:p>
            <a:r>
              <a:rPr lang="fr-FR" dirty="0"/>
              <a:t>nombre = </a:t>
            </a:r>
            <a:r>
              <a:rPr lang="fr-FR" dirty="0" err="1"/>
              <a:t>int</a:t>
            </a:r>
            <a:r>
              <a:rPr lang="fr-FR" dirty="0"/>
              <a:t>("125")</a:t>
            </a:r>
          </a:p>
          <a:p>
            <a:r>
              <a:rPr lang="fr-FR" dirty="0" err="1"/>
              <a:t>print</a:t>
            </a:r>
            <a:r>
              <a:rPr lang="fr-FR" dirty="0"/>
              <a:t>(nombre)</a:t>
            </a:r>
          </a:p>
        </p:txBody>
      </p:sp>
    </p:spTree>
    <p:extLst>
      <p:ext uri="{BB962C8B-B14F-4D97-AF65-F5344CB8AC3E}">
        <p14:creationId xmlns:p14="http://schemas.microsoft.com/office/powerpoint/2010/main" val="1806970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03F8-985F-8F32-18A2-54060509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787B75-B771-E279-B77E-04B48E1D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</a:t>
            </a:r>
          </a:p>
          <a:p>
            <a:r>
              <a:rPr lang="fr-FR" dirty="0"/>
              <a:t>Concaténez votre prénom et nom avec un espace entre les deux</a:t>
            </a:r>
          </a:p>
        </p:txBody>
      </p:sp>
    </p:spTree>
    <p:extLst>
      <p:ext uri="{BB962C8B-B14F-4D97-AF65-F5344CB8AC3E}">
        <p14:creationId xmlns:p14="http://schemas.microsoft.com/office/powerpoint/2010/main" val="96963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8B1AC-597B-6653-91EB-28705CB9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431784-63CC-2845-359F-072AE7954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</a:t>
            </a:r>
          </a:p>
          <a:p>
            <a:endParaRPr lang="fr-FR" dirty="0"/>
          </a:p>
          <a:p>
            <a:r>
              <a:rPr lang="fr-FR" dirty="0" err="1"/>
              <a:t>prenom</a:t>
            </a:r>
            <a:r>
              <a:rPr lang="fr-FR" dirty="0"/>
              <a:t> = "Ahmed"</a:t>
            </a:r>
          </a:p>
          <a:p>
            <a:r>
              <a:rPr lang="fr-FR" dirty="0"/>
              <a:t>nom = "</a:t>
            </a:r>
            <a:r>
              <a:rPr lang="fr-FR" dirty="0" err="1"/>
              <a:t>Bennaceur</a:t>
            </a:r>
            <a:r>
              <a:rPr lang="fr-FR" dirty="0"/>
              <a:t>"</a:t>
            </a:r>
          </a:p>
          <a:p>
            <a:r>
              <a:rPr lang="fr-FR" dirty="0" err="1"/>
              <a:t>nom_complet</a:t>
            </a:r>
            <a:r>
              <a:rPr lang="fr-FR" dirty="0"/>
              <a:t> = </a:t>
            </a:r>
            <a:r>
              <a:rPr lang="fr-FR" dirty="0" err="1"/>
              <a:t>prenom</a:t>
            </a:r>
            <a:r>
              <a:rPr lang="fr-FR" dirty="0"/>
              <a:t> + " " + nom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nom_complet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7524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A97C-2CAE-3856-EF03-D77D903E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796D79-629B-2A2C-C1D4-B61B66E05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</a:t>
            </a:r>
          </a:p>
          <a:p>
            <a:r>
              <a:rPr lang="fr-FR" dirty="0"/>
              <a:t>Créez un nombre complexe z = 4 - 3j et affichez son conjugué</a:t>
            </a:r>
          </a:p>
        </p:txBody>
      </p:sp>
    </p:spTree>
    <p:extLst>
      <p:ext uri="{BB962C8B-B14F-4D97-AF65-F5344CB8AC3E}">
        <p14:creationId xmlns:p14="http://schemas.microsoft.com/office/powerpoint/2010/main" val="1342046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C0AD3-B096-3A90-1EE6-0F9474F6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132795-1DC9-9B3C-BA3F-C726CECA5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</a:t>
            </a:r>
          </a:p>
          <a:p>
            <a:endParaRPr lang="fr-FR" dirty="0"/>
          </a:p>
          <a:p>
            <a:r>
              <a:rPr lang="fr-FR" dirty="0"/>
              <a:t>z = 4 - 3j</a:t>
            </a:r>
          </a:p>
          <a:p>
            <a:r>
              <a:rPr lang="fr-FR" dirty="0"/>
              <a:t>conjugue = </a:t>
            </a:r>
            <a:r>
              <a:rPr lang="fr-FR" dirty="0" err="1"/>
              <a:t>z.conjugate</a:t>
            </a:r>
            <a:r>
              <a:rPr lang="fr-FR" dirty="0"/>
              <a:t>()</a:t>
            </a:r>
          </a:p>
          <a:p>
            <a:r>
              <a:rPr lang="fr-FR" dirty="0" err="1"/>
              <a:t>print</a:t>
            </a:r>
            <a:r>
              <a:rPr lang="fr-FR" dirty="0"/>
              <a:t>(conjugue)</a:t>
            </a:r>
          </a:p>
        </p:txBody>
      </p:sp>
    </p:spTree>
    <p:extLst>
      <p:ext uri="{BB962C8B-B14F-4D97-AF65-F5344CB8AC3E}">
        <p14:creationId xmlns:p14="http://schemas.microsoft.com/office/powerpoint/2010/main" val="951930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C1BA-2AC9-9FEE-35F5-593B0356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BE0CFB-8F73-519E-346B-79A895B7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5</a:t>
            </a:r>
          </a:p>
          <a:p>
            <a:r>
              <a:rPr lang="fr-FR" dirty="0"/>
              <a:t>Convertissez l'entier 42 en </a:t>
            </a:r>
            <a:r>
              <a:rPr lang="fr-FR" dirty="0" err="1"/>
              <a:t>float</a:t>
            </a:r>
            <a:r>
              <a:rPr lang="fr-FR" dirty="0"/>
              <a:t> et affichez le résultat</a:t>
            </a:r>
          </a:p>
        </p:txBody>
      </p:sp>
    </p:spTree>
    <p:extLst>
      <p:ext uri="{BB962C8B-B14F-4D97-AF65-F5344CB8AC3E}">
        <p14:creationId xmlns:p14="http://schemas.microsoft.com/office/powerpoint/2010/main" val="132393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6AE5-90D5-193C-ED2C-90FF11BE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2BF56C-368F-4CB7-7B9F-71862059D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5</a:t>
            </a:r>
          </a:p>
          <a:p>
            <a:endParaRPr lang="fr-FR" dirty="0"/>
          </a:p>
          <a:p>
            <a:r>
              <a:rPr lang="fr-FR" dirty="0" err="1"/>
              <a:t>nombre_float</a:t>
            </a:r>
            <a:r>
              <a:rPr lang="fr-FR" dirty="0"/>
              <a:t> = </a:t>
            </a:r>
            <a:r>
              <a:rPr lang="fr-FR" dirty="0" err="1"/>
              <a:t>float</a:t>
            </a:r>
            <a:r>
              <a:rPr lang="fr-FR" dirty="0"/>
              <a:t>(42)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nombre_float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2766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578F0-E1A4-B31F-BCC2-344BD8B6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5E7502-C560-E41E-D73B-52DB4F24C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6</a:t>
            </a:r>
          </a:p>
          <a:p>
            <a:r>
              <a:rPr lang="fr-FR" dirty="0"/>
              <a:t>Créez une liste mixte </a:t>
            </a:r>
            <a:r>
              <a:rPr lang="fr-FR" dirty="0" err="1"/>
              <a:t>donnees</a:t>
            </a:r>
            <a:r>
              <a:rPr lang="fr-FR" dirty="0"/>
              <a:t> contenant [10, "python", 3.14, </a:t>
            </a:r>
            <a:r>
              <a:rPr lang="fr-FR" dirty="0" err="1"/>
              <a:t>True</a:t>
            </a:r>
            <a:r>
              <a:rPr lang="fr-FR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90198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07BA-1E6C-3015-B19E-F2981113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D5E9E7-76A8-FFF9-C4B3-1F7F213E5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6</a:t>
            </a:r>
          </a:p>
          <a:p>
            <a:endParaRPr lang="fr-FR" dirty="0"/>
          </a:p>
          <a:p>
            <a:r>
              <a:rPr lang="fr-FR" dirty="0" err="1"/>
              <a:t>donnees</a:t>
            </a:r>
            <a:r>
              <a:rPr lang="fr-FR" dirty="0"/>
              <a:t> = [10, "python", 3.14, </a:t>
            </a:r>
            <a:r>
              <a:rPr lang="fr-FR" dirty="0" err="1"/>
              <a:t>True</a:t>
            </a:r>
            <a:r>
              <a:rPr lang="fr-FR" dirty="0"/>
              <a:t>]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donnees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6122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9646E-2BBC-887A-24CD-27CF7F36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FCBB2F-096E-5718-41AA-5DA3C2B25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7</a:t>
            </a:r>
          </a:p>
          <a:p>
            <a:r>
              <a:rPr lang="fr-FR" dirty="0"/>
              <a:t>À partir de nombres = [1, 2, 3, 4, 5], extrayez les éléments 2 et 3 dans une sous-liste</a:t>
            </a:r>
          </a:p>
        </p:txBody>
      </p:sp>
    </p:spTree>
    <p:extLst>
      <p:ext uri="{BB962C8B-B14F-4D97-AF65-F5344CB8AC3E}">
        <p14:creationId xmlns:p14="http://schemas.microsoft.com/office/powerpoint/2010/main" val="92254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CCABD-DAAD-3320-72C7-90D2FD87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31F4ED-079F-2D39-6081-6B999A704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7</a:t>
            </a:r>
          </a:p>
          <a:p>
            <a:endParaRPr lang="fr-FR" dirty="0"/>
          </a:p>
          <a:p>
            <a:r>
              <a:rPr lang="fr-FR" dirty="0"/>
              <a:t>nombres = [1, 2, 3, 4, 5]</a:t>
            </a:r>
          </a:p>
          <a:p>
            <a:r>
              <a:rPr lang="fr-FR" dirty="0" err="1"/>
              <a:t>sous_liste</a:t>
            </a:r>
            <a:r>
              <a:rPr lang="fr-FR" dirty="0"/>
              <a:t> = nombres[1:3]  # Index 1 et 2 (2 et 3)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sous_liste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5222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1308-DB64-8B4C-3D50-5CBDD463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1BECE3-D698-7D04-5C3B-159E0858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8</a:t>
            </a:r>
          </a:p>
          <a:p>
            <a:r>
              <a:rPr lang="fr-FR" dirty="0"/>
              <a:t>Créez une liste couleurs avec "rouge", "vert", "bleu", puis remplacez "vert" par "jaune"</a:t>
            </a:r>
          </a:p>
        </p:txBody>
      </p:sp>
    </p:spTree>
    <p:extLst>
      <p:ext uri="{BB962C8B-B14F-4D97-AF65-F5344CB8AC3E}">
        <p14:creationId xmlns:p14="http://schemas.microsoft.com/office/powerpoint/2010/main" val="3559156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F934-0529-2046-A4DD-2721843D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498BB5-45A9-F9FF-06E9-9C395CEB9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8</a:t>
            </a:r>
          </a:p>
          <a:p>
            <a:endParaRPr lang="fr-FR" dirty="0"/>
          </a:p>
          <a:p>
            <a:r>
              <a:rPr lang="fr-FR" dirty="0"/>
              <a:t>couleurs = ["rouge", "vert", "bleu"]</a:t>
            </a:r>
          </a:p>
          <a:p>
            <a:r>
              <a:rPr lang="fr-FR" dirty="0"/>
              <a:t>couleurs[1] = "jaune"</a:t>
            </a:r>
          </a:p>
          <a:p>
            <a:r>
              <a:rPr lang="fr-FR" dirty="0" err="1"/>
              <a:t>print</a:t>
            </a:r>
            <a:r>
              <a:rPr lang="fr-FR" dirty="0"/>
              <a:t>(couleurs)</a:t>
            </a:r>
          </a:p>
        </p:txBody>
      </p:sp>
    </p:spTree>
    <p:extLst>
      <p:ext uri="{BB962C8B-B14F-4D97-AF65-F5344CB8AC3E}">
        <p14:creationId xmlns:p14="http://schemas.microsoft.com/office/powerpoint/2010/main" val="3673819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1D1CD-9BD1-A37A-1882-7FBF9637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8CA005-30AA-D3B8-0EB5-370C29A6C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9</a:t>
            </a:r>
          </a:p>
          <a:p>
            <a:r>
              <a:rPr lang="fr-FR" dirty="0"/>
              <a:t>À partir de liste1 = [1, 2] et liste2 = [3, 4], créez une liste liste3 qui les combine</a:t>
            </a:r>
          </a:p>
        </p:txBody>
      </p:sp>
    </p:spTree>
    <p:extLst>
      <p:ext uri="{BB962C8B-B14F-4D97-AF65-F5344CB8AC3E}">
        <p14:creationId xmlns:p14="http://schemas.microsoft.com/office/powerpoint/2010/main" val="1275793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4DA2-DAD1-F588-7AF0-F241770D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6966C5-EE8D-BC30-A632-C1819D47C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9</a:t>
            </a:r>
          </a:p>
          <a:p>
            <a:endParaRPr lang="fr-FR" dirty="0"/>
          </a:p>
          <a:p>
            <a:r>
              <a:rPr lang="fr-FR" dirty="0"/>
              <a:t>liste1 = [1, 2]</a:t>
            </a:r>
          </a:p>
          <a:p>
            <a:r>
              <a:rPr lang="fr-FR" dirty="0"/>
              <a:t>liste2 = [3, 4]</a:t>
            </a:r>
          </a:p>
          <a:p>
            <a:r>
              <a:rPr lang="fr-FR" dirty="0"/>
              <a:t>liste3 = liste1 + liste2</a:t>
            </a:r>
          </a:p>
          <a:p>
            <a:r>
              <a:rPr lang="fr-FR" dirty="0" err="1"/>
              <a:t>print</a:t>
            </a:r>
            <a:r>
              <a:rPr lang="fr-FR" dirty="0"/>
              <a:t>(liste3)</a:t>
            </a:r>
          </a:p>
        </p:txBody>
      </p:sp>
    </p:spTree>
    <p:extLst>
      <p:ext uri="{BB962C8B-B14F-4D97-AF65-F5344CB8AC3E}">
        <p14:creationId xmlns:p14="http://schemas.microsoft.com/office/powerpoint/2010/main" val="668875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8CAA-5346-0C4E-053E-9FA503E68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DA823A-1C42-0705-F40E-83D1533B7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10</a:t>
            </a:r>
          </a:p>
          <a:p>
            <a:r>
              <a:rPr lang="fr-FR" dirty="0"/>
              <a:t>Inversez l'ordre des éléments dans la liste lettres = ['a', 'b', 'c', 'd']</a:t>
            </a:r>
          </a:p>
        </p:txBody>
      </p:sp>
    </p:spTree>
    <p:extLst>
      <p:ext uri="{BB962C8B-B14F-4D97-AF65-F5344CB8AC3E}">
        <p14:creationId xmlns:p14="http://schemas.microsoft.com/office/powerpoint/2010/main" val="2777952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D038-D855-CD7D-E885-3CE25C52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0C1095-DF97-DC83-6968-27D0F9E30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10</a:t>
            </a:r>
          </a:p>
          <a:p>
            <a:endParaRPr lang="fr-FR" dirty="0"/>
          </a:p>
          <a:p>
            <a:r>
              <a:rPr lang="fr-FR" dirty="0"/>
              <a:t>lettres = ['a', 'b', 'c', 'd']</a:t>
            </a:r>
          </a:p>
          <a:p>
            <a:r>
              <a:rPr lang="fr-FR" dirty="0" err="1"/>
              <a:t>lettres_inversees</a:t>
            </a:r>
            <a:r>
              <a:rPr lang="fr-FR" dirty="0"/>
              <a:t> = lettres[::-1]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lettres_inversees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09927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2082-E793-1334-07A2-725BEA7C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F0B1CA-B72D-4D00-56AD-945C66363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11</a:t>
            </a:r>
          </a:p>
          <a:p>
            <a:r>
              <a:rPr lang="fr-FR" dirty="0"/>
              <a:t>Créez un tuple </a:t>
            </a:r>
            <a:r>
              <a:rPr lang="fr-FR" dirty="0" err="1"/>
              <a:t>coordonnees</a:t>
            </a:r>
            <a:r>
              <a:rPr lang="fr-FR" dirty="0"/>
              <a:t> avec les valeurs (48.8566, 2.3522) et affichez la latitude</a:t>
            </a:r>
          </a:p>
        </p:txBody>
      </p:sp>
    </p:spTree>
    <p:extLst>
      <p:ext uri="{BB962C8B-B14F-4D97-AF65-F5344CB8AC3E}">
        <p14:creationId xmlns:p14="http://schemas.microsoft.com/office/powerpoint/2010/main" val="1718305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B4E93-C81C-DB7E-2540-2B8FE9AF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37B659-37C1-707A-F23F-D2398BAE9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11</a:t>
            </a:r>
          </a:p>
          <a:p>
            <a:endParaRPr lang="fr-FR" dirty="0"/>
          </a:p>
          <a:p>
            <a:r>
              <a:rPr lang="fr-FR" dirty="0" err="1"/>
              <a:t>coordonnees</a:t>
            </a:r>
            <a:r>
              <a:rPr lang="fr-FR" dirty="0"/>
              <a:t> = (48.8566, 2.3522)</a:t>
            </a:r>
          </a:p>
          <a:p>
            <a:r>
              <a:rPr lang="fr-FR" dirty="0"/>
              <a:t>latitude = </a:t>
            </a:r>
            <a:r>
              <a:rPr lang="fr-FR" dirty="0" err="1"/>
              <a:t>coordonnees</a:t>
            </a:r>
            <a:r>
              <a:rPr lang="fr-FR" dirty="0"/>
              <a:t>[0]</a:t>
            </a:r>
          </a:p>
          <a:p>
            <a:r>
              <a:rPr lang="fr-FR" dirty="0" err="1"/>
              <a:t>print</a:t>
            </a:r>
            <a:r>
              <a:rPr lang="fr-FR" dirty="0"/>
              <a:t>(latitude)</a:t>
            </a:r>
          </a:p>
        </p:txBody>
      </p:sp>
    </p:spTree>
    <p:extLst>
      <p:ext uri="{BB962C8B-B14F-4D97-AF65-F5344CB8AC3E}">
        <p14:creationId xmlns:p14="http://schemas.microsoft.com/office/powerpoint/2010/main" val="594392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B3E2-47D5-7CD5-ABEF-FAD3F13FF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0D001D-C2F6-B7F9-3AC0-A45BD3441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12</a:t>
            </a:r>
          </a:p>
          <a:p>
            <a:r>
              <a:rPr lang="fr-FR" dirty="0"/>
              <a:t>Créez un ensemble voyelles avec 'a', 'e', 'i', 'o', 'u' et ajoutez 'y'</a:t>
            </a:r>
          </a:p>
        </p:txBody>
      </p:sp>
    </p:spTree>
    <p:extLst>
      <p:ext uri="{BB962C8B-B14F-4D97-AF65-F5344CB8AC3E}">
        <p14:creationId xmlns:p14="http://schemas.microsoft.com/office/powerpoint/2010/main" val="40359909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2079-A767-ACA9-A1A9-24898276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075A95-F1DE-F80E-782D-99CACFD9F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12</a:t>
            </a:r>
          </a:p>
          <a:p>
            <a:endParaRPr lang="fr-FR" dirty="0"/>
          </a:p>
          <a:p>
            <a:r>
              <a:rPr lang="fr-FR" dirty="0"/>
              <a:t>voyelles = {'a', 'e', 'i', 'o', 'u'}</a:t>
            </a:r>
          </a:p>
          <a:p>
            <a:r>
              <a:rPr lang="fr-FR" dirty="0" err="1"/>
              <a:t>voyelles.add</a:t>
            </a:r>
            <a:r>
              <a:rPr lang="fr-FR" dirty="0"/>
              <a:t>('y')</a:t>
            </a:r>
          </a:p>
          <a:p>
            <a:r>
              <a:rPr lang="fr-FR" dirty="0" err="1"/>
              <a:t>print</a:t>
            </a:r>
            <a:r>
              <a:rPr lang="fr-FR" dirty="0"/>
              <a:t>(voyelles)</a:t>
            </a:r>
          </a:p>
        </p:txBody>
      </p:sp>
    </p:spTree>
    <p:extLst>
      <p:ext uri="{BB962C8B-B14F-4D97-AF65-F5344CB8AC3E}">
        <p14:creationId xmlns:p14="http://schemas.microsoft.com/office/powerpoint/2010/main" val="2184477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7A11-2E61-A825-5502-6A5187A0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01BCF9-BE43-A34D-C27B-67D03D0E7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13</a:t>
            </a:r>
          </a:p>
          <a:p>
            <a:r>
              <a:rPr lang="fr-FR" dirty="0"/>
              <a:t>À partir de set1 = {1, 2, 3} et set2 = {3, 4, 5}, créez leur union</a:t>
            </a:r>
          </a:p>
        </p:txBody>
      </p:sp>
    </p:spTree>
    <p:extLst>
      <p:ext uri="{BB962C8B-B14F-4D97-AF65-F5344CB8AC3E}">
        <p14:creationId xmlns:p14="http://schemas.microsoft.com/office/powerpoint/2010/main" val="2579461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9B5D0-BDBD-9988-14C8-076CE0A1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B104BF-8085-8BBB-AD9A-5CEE19EA1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en-US" b="1" dirty="0"/>
              <a:t>Solution de </a:t>
            </a:r>
            <a:r>
              <a:rPr lang="en-US" b="1" dirty="0" err="1"/>
              <a:t>l'exercice</a:t>
            </a:r>
            <a:r>
              <a:rPr lang="en-US" b="1" dirty="0"/>
              <a:t> 13</a:t>
            </a:r>
          </a:p>
          <a:p>
            <a:endParaRPr lang="en-US" dirty="0"/>
          </a:p>
          <a:p>
            <a:r>
              <a:rPr lang="en-US" dirty="0"/>
              <a:t>set1 = {1, 2, 3}</a:t>
            </a:r>
          </a:p>
          <a:p>
            <a:r>
              <a:rPr lang="en-US" dirty="0"/>
              <a:t>set2 = {3, 4, 5}</a:t>
            </a:r>
          </a:p>
          <a:p>
            <a:r>
              <a:rPr lang="en-US" dirty="0" err="1"/>
              <a:t>union_set</a:t>
            </a:r>
            <a:r>
              <a:rPr lang="en-US" dirty="0"/>
              <a:t> = set1.union(set2)</a:t>
            </a:r>
          </a:p>
          <a:p>
            <a:r>
              <a:rPr lang="en-US" dirty="0"/>
              <a:t>print(</a:t>
            </a:r>
            <a:r>
              <a:rPr lang="en-US" dirty="0" err="1"/>
              <a:t>union_set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0968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E8DE-6306-BEC5-33E1-59BA3E12C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831122-26F7-CCAC-F9A4-CFDE29633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14</a:t>
            </a:r>
          </a:p>
          <a:p>
            <a:r>
              <a:rPr lang="fr-FR" dirty="0"/>
              <a:t>Vérifiez si la valeur 5 est présente dans l'ensemble nombres = {1, 3, 5, 7}</a:t>
            </a:r>
          </a:p>
        </p:txBody>
      </p:sp>
    </p:spTree>
    <p:extLst>
      <p:ext uri="{BB962C8B-B14F-4D97-AF65-F5344CB8AC3E}">
        <p14:creationId xmlns:p14="http://schemas.microsoft.com/office/powerpoint/2010/main" val="1587293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E994C-C6A5-2888-2001-0D4B9478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528A7F-FD5E-0820-2EFE-BF8500445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14</a:t>
            </a:r>
          </a:p>
          <a:p>
            <a:endParaRPr lang="fr-FR" dirty="0"/>
          </a:p>
          <a:p>
            <a:r>
              <a:rPr lang="fr-FR" dirty="0"/>
              <a:t>nombres = {1, 3, 5, 7}</a:t>
            </a:r>
          </a:p>
          <a:p>
            <a:r>
              <a:rPr lang="fr-FR" dirty="0"/>
              <a:t>if 5 in nombres: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("5 est présent")</a:t>
            </a:r>
          </a:p>
          <a:p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("5 n'est pas présent")</a:t>
            </a:r>
          </a:p>
        </p:txBody>
      </p:sp>
    </p:spTree>
    <p:extLst>
      <p:ext uri="{BB962C8B-B14F-4D97-AF65-F5344CB8AC3E}">
        <p14:creationId xmlns:p14="http://schemas.microsoft.com/office/powerpoint/2010/main" val="32685634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6FFE-F0AC-AFB0-2CA6-CF841CBAF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7DCC73-A0DD-754C-A259-596B97856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15</a:t>
            </a:r>
          </a:p>
          <a:p>
            <a:r>
              <a:rPr lang="fr-FR" dirty="0"/>
              <a:t>Créez un dictionnaire capitales avec "</a:t>
            </a:r>
            <a:r>
              <a:rPr lang="fr-FR" dirty="0" err="1"/>
              <a:t>Maroc":"Rabat</a:t>
            </a:r>
            <a:r>
              <a:rPr lang="fr-FR" dirty="0"/>
              <a:t>", "</a:t>
            </a:r>
            <a:r>
              <a:rPr lang="fr-FR" dirty="0" err="1"/>
              <a:t>Gabon":"Libreville</a:t>
            </a:r>
            <a:r>
              <a:rPr lang="fr-FR" dirty="0"/>
              <a:t>", "</a:t>
            </a:r>
            <a:r>
              <a:rPr lang="fr-FR" dirty="0" err="1"/>
              <a:t>Cameroun":"Yaoundé</a:t>
            </a:r>
            <a:r>
              <a:rPr lang="fr-FR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409593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9229B-5FCE-1803-47C2-A7EDDABC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20752F-15C1-E10A-A5F4-92A51F8F9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15</a:t>
            </a:r>
          </a:p>
          <a:p>
            <a:endParaRPr lang="fr-FR" dirty="0"/>
          </a:p>
          <a:p>
            <a:r>
              <a:rPr lang="fr-FR" dirty="0"/>
              <a:t>capitales = {</a:t>
            </a:r>
          </a:p>
          <a:p>
            <a:r>
              <a:rPr lang="fr-FR" dirty="0"/>
              <a:t> "</a:t>
            </a:r>
            <a:r>
              <a:rPr lang="fr-FR" dirty="0" err="1"/>
              <a:t>Maroc":"Rabat</a:t>
            </a:r>
            <a:r>
              <a:rPr lang="fr-FR" dirty="0"/>
              <a:t>", </a:t>
            </a:r>
          </a:p>
          <a:p>
            <a:r>
              <a:rPr lang="fr-FR" dirty="0"/>
              <a:t>"</a:t>
            </a:r>
            <a:r>
              <a:rPr lang="fr-FR" dirty="0" err="1"/>
              <a:t>Gabon":"Libreville</a:t>
            </a:r>
            <a:r>
              <a:rPr lang="fr-FR" dirty="0"/>
              <a:t>", </a:t>
            </a:r>
          </a:p>
          <a:p>
            <a:r>
              <a:rPr lang="fr-FR" dirty="0"/>
              <a:t>"</a:t>
            </a:r>
            <a:r>
              <a:rPr lang="fr-FR" dirty="0" err="1"/>
              <a:t>Cameroun":"Yaoundé</a:t>
            </a:r>
            <a:r>
              <a:rPr lang="fr-FR" dirty="0"/>
              <a:t>"}</a:t>
            </a:r>
          </a:p>
          <a:p>
            <a:r>
              <a:rPr lang="fr-FR" dirty="0" err="1"/>
              <a:t>print</a:t>
            </a:r>
            <a:r>
              <a:rPr lang="fr-FR" dirty="0"/>
              <a:t>(capitales)</a:t>
            </a:r>
          </a:p>
        </p:txBody>
      </p:sp>
    </p:spTree>
    <p:extLst>
      <p:ext uri="{BB962C8B-B14F-4D97-AF65-F5344CB8AC3E}">
        <p14:creationId xmlns:p14="http://schemas.microsoft.com/office/powerpoint/2010/main" val="1729924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8902-C7D3-C68D-68FD-399E33832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63250F-0BC8-DD59-8F6A-18E0AFCDD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16</a:t>
            </a:r>
          </a:p>
          <a:p>
            <a:r>
              <a:rPr lang="fr-FR" dirty="0"/>
              <a:t>À partir de personne = {"nom": "</a:t>
            </a:r>
            <a:r>
              <a:rPr lang="fr-FR" dirty="0" err="1"/>
              <a:t>Rym</a:t>
            </a:r>
            <a:r>
              <a:rPr lang="fr-FR" dirty="0"/>
              <a:t>", "</a:t>
            </a:r>
            <a:r>
              <a:rPr lang="fr-FR" dirty="0" err="1"/>
              <a:t>age</a:t>
            </a:r>
            <a:r>
              <a:rPr lang="fr-FR" dirty="0"/>
              <a:t>": 30}, ajoutez la clé "ville" avec valeur "Rabat"</a:t>
            </a:r>
          </a:p>
        </p:txBody>
      </p:sp>
    </p:spTree>
    <p:extLst>
      <p:ext uri="{BB962C8B-B14F-4D97-AF65-F5344CB8AC3E}">
        <p14:creationId xmlns:p14="http://schemas.microsoft.com/office/powerpoint/2010/main" val="2055590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4C00-1BD8-5873-2C08-647771A8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D56BF0-906F-2B75-3697-EBF15315C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16</a:t>
            </a:r>
          </a:p>
          <a:p>
            <a:endParaRPr lang="fr-FR" dirty="0"/>
          </a:p>
          <a:p>
            <a:r>
              <a:rPr lang="fr-FR" dirty="0"/>
              <a:t>personne = {"nom": "</a:t>
            </a:r>
            <a:r>
              <a:rPr lang="fr-FR" dirty="0" err="1"/>
              <a:t>Rym</a:t>
            </a:r>
            <a:r>
              <a:rPr lang="fr-FR" dirty="0"/>
              <a:t>", "</a:t>
            </a:r>
            <a:r>
              <a:rPr lang="fr-FR" dirty="0" err="1"/>
              <a:t>age</a:t>
            </a:r>
            <a:r>
              <a:rPr lang="fr-FR" dirty="0"/>
              <a:t>": 30}</a:t>
            </a:r>
          </a:p>
          <a:p>
            <a:r>
              <a:rPr lang="fr-FR" dirty="0"/>
              <a:t>personne["ville"] = "Rabat"</a:t>
            </a:r>
          </a:p>
          <a:p>
            <a:r>
              <a:rPr lang="fr-FR" dirty="0" err="1"/>
              <a:t>print</a:t>
            </a:r>
            <a:r>
              <a:rPr lang="fr-FR" dirty="0"/>
              <a:t>(personne)</a:t>
            </a:r>
          </a:p>
        </p:txBody>
      </p:sp>
    </p:spTree>
    <p:extLst>
      <p:ext uri="{BB962C8B-B14F-4D97-AF65-F5344CB8AC3E}">
        <p14:creationId xmlns:p14="http://schemas.microsoft.com/office/powerpoint/2010/main" val="2109992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D73F-D60E-A375-EF53-E45EEDE3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4191A1-C059-57F5-3C74-036D664EF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17</a:t>
            </a:r>
          </a:p>
          <a:p>
            <a:r>
              <a:rPr lang="fr-FR" dirty="0"/>
              <a:t>Affichez toutes les clés du dictionnaire produit = {"nom": "laptop", "prix": 999, "stock": 5}</a:t>
            </a:r>
          </a:p>
        </p:txBody>
      </p:sp>
    </p:spTree>
    <p:extLst>
      <p:ext uri="{BB962C8B-B14F-4D97-AF65-F5344CB8AC3E}">
        <p14:creationId xmlns:p14="http://schemas.microsoft.com/office/powerpoint/2010/main" val="715862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5597-4CF5-2375-EAF6-407FAC5D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AD6F99-599A-43A7-0E32-762DD9CFB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17</a:t>
            </a:r>
          </a:p>
          <a:p>
            <a:endParaRPr lang="fr-FR" dirty="0"/>
          </a:p>
          <a:p>
            <a:r>
              <a:rPr lang="fr-FR" dirty="0"/>
              <a:t>produit = {"nom": "laptop", "prix": 999, "stock": 5}</a:t>
            </a:r>
          </a:p>
          <a:p>
            <a:r>
              <a:rPr lang="fr-FR" dirty="0" err="1"/>
              <a:t>cles</a:t>
            </a:r>
            <a:r>
              <a:rPr lang="fr-FR" dirty="0"/>
              <a:t> = </a:t>
            </a:r>
            <a:r>
              <a:rPr lang="fr-FR" dirty="0" err="1"/>
              <a:t>produit.keys</a:t>
            </a:r>
            <a:r>
              <a:rPr lang="fr-FR" dirty="0"/>
              <a:t>()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cles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90341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5CBB6-5975-E645-F8DA-6AAA0EA7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145C40-05DC-6296-3D8E-093CBE26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18</a:t>
            </a:r>
          </a:p>
          <a:p>
            <a:r>
              <a:rPr lang="fr-FR" dirty="0"/>
              <a:t>Supprimez la clé "note" du dictionnaire </a:t>
            </a:r>
            <a:r>
              <a:rPr lang="fr-FR" dirty="0" err="1"/>
              <a:t>etudiant</a:t>
            </a:r>
            <a:r>
              <a:rPr lang="fr-FR" dirty="0"/>
              <a:t> = {"nom": "Jihane", "</a:t>
            </a:r>
            <a:r>
              <a:rPr lang="fr-FR" dirty="0" err="1"/>
              <a:t>age</a:t>
            </a:r>
            <a:r>
              <a:rPr lang="fr-FR" dirty="0"/>
              <a:t>": 20, "note": 15}</a:t>
            </a:r>
          </a:p>
        </p:txBody>
      </p:sp>
    </p:spTree>
    <p:extLst>
      <p:ext uri="{BB962C8B-B14F-4D97-AF65-F5344CB8AC3E}">
        <p14:creationId xmlns:p14="http://schemas.microsoft.com/office/powerpoint/2010/main" val="3957710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407CD-F842-8A6F-7190-33D585F1D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BE12E0-1EDC-2EB2-25FC-B94256906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18</a:t>
            </a:r>
          </a:p>
          <a:p>
            <a:endParaRPr lang="fr-FR" dirty="0"/>
          </a:p>
          <a:p>
            <a:r>
              <a:rPr lang="fr-FR" dirty="0" err="1"/>
              <a:t>etudiant</a:t>
            </a:r>
            <a:r>
              <a:rPr lang="fr-FR" dirty="0"/>
              <a:t> = {"nom": "Jihane", "</a:t>
            </a:r>
            <a:r>
              <a:rPr lang="fr-FR" dirty="0" err="1"/>
              <a:t>age</a:t>
            </a:r>
            <a:r>
              <a:rPr lang="fr-FR" dirty="0"/>
              <a:t>": 20, "note": 15}</a:t>
            </a:r>
          </a:p>
          <a:p>
            <a:r>
              <a:rPr lang="fr-FR" dirty="0" err="1"/>
              <a:t>del</a:t>
            </a:r>
            <a:r>
              <a:rPr lang="fr-FR" dirty="0"/>
              <a:t> </a:t>
            </a:r>
            <a:r>
              <a:rPr lang="fr-FR" dirty="0" err="1"/>
              <a:t>etudiant</a:t>
            </a:r>
            <a:r>
              <a:rPr lang="fr-FR" dirty="0"/>
              <a:t>["note"]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etudiant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17199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37DB9-88D8-78AE-6D6B-24E9C388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75432-1926-3CAC-4029-EB88805BC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19</a:t>
            </a:r>
          </a:p>
          <a:p>
            <a:r>
              <a:rPr lang="fr-FR" dirty="0"/>
              <a:t>Calculez le résultat de 17 divisé par 3 et affichez le quotient entier et le reste</a:t>
            </a:r>
          </a:p>
        </p:txBody>
      </p:sp>
    </p:spTree>
    <p:extLst>
      <p:ext uri="{BB962C8B-B14F-4D97-AF65-F5344CB8AC3E}">
        <p14:creationId xmlns:p14="http://schemas.microsoft.com/office/powerpoint/2010/main" val="42260577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0F7C3-CE77-1ACB-2E0C-DBFD0E1A1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870D14-AF14-5E69-4503-F825A8053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19</a:t>
            </a:r>
          </a:p>
          <a:p>
            <a:endParaRPr lang="fr-FR" dirty="0"/>
          </a:p>
          <a:p>
            <a:r>
              <a:rPr lang="fr-FR" dirty="0"/>
              <a:t>quotient = 17 // 3</a:t>
            </a:r>
          </a:p>
          <a:p>
            <a:r>
              <a:rPr lang="fr-FR" dirty="0"/>
              <a:t>reste = 17 % 3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f"Quotient</a:t>
            </a:r>
            <a:r>
              <a:rPr lang="fr-FR" dirty="0"/>
              <a:t>: {quotient}, Reste: {reste}")</a:t>
            </a:r>
          </a:p>
        </p:txBody>
      </p:sp>
    </p:spTree>
    <p:extLst>
      <p:ext uri="{BB962C8B-B14F-4D97-AF65-F5344CB8AC3E}">
        <p14:creationId xmlns:p14="http://schemas.microsoft.com/office/powerpoint/2010/main" val="859735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8459-13FC-3EB1-4B5D-A99F4C5BA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194B4C-6497-4A4E-BB61-16C46C7DC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20</a:t>
            </a:r>
          </a:p>
          <a:p>
            <a:r>
              <a:rPr lang="fr-FR" dirty="0"/>
              <a:t>Calculez 5 à la puissance 3 en utilisant l'opérateur **</a:t>
            </a:r>
          </a:p>
        </p:txBody>
      </p:sp>
    </p:spTree>
    <p:extLst>
      <p:ext uri="{BB962C8B-B14F-4D97-AF65-F5344CB8AC3E}">
        <p14:creationId xmlns:p14="http://schemas.microsoft.com/office/powerpoint/2010/main" val="40142461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4EF1-6466-04AB-E121-D53C9C8C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0B7BB2-4893-651E-A1F2-B4EDABD59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20</a:t>
            </a:r>
          </a:p>
          <a:p>
            <a:endParaRPr lang="fr-FR" dirty="0"/>
          </a:p>
          <a:p>
            <a:r>
              <a:rPr lang="fr-FR" dirty="0" err="1"/>
              <a:t>resultat</a:t>
            </a:r>
            <a:r>
              <a:rPr lang="fr-FR" dirty="0"/>
              <a:t> = 5 ** 3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resultat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88471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BAD0A-ACE6-D7B9-BE64-9890DF8E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E909A5-0424-1EE2-5CA9-CBF7C98F5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21</a:t>
            </a:r>
          </a:p>
          <a:p>
            <a:r>
              <a:rPr lang="fr-FR" dirty="0"/>
              <a:t>Utilisez l'opérateur modulo pour vérifier si 28 est pair</a:t>
            </a:r>
          </a:p>
        </p:txBody>
      </p:sp>
    </p:spTree>
    <p:extLst>
      <p:ext uri="{BB962C8B-B14F-4D97-AF65-F5344CB8AC3E}">
        <p14:creationId xmlns:p14="http://schemas.microsoft.com/office/powerpoint/2010/main" val="561211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628AB-4FD8-F3C7-D9C0-345F6DF5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47A000-ACD3-E2CC-0534-46DE187E1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21</a:t>
            </a:r>
          </a:p>
          <a:p>
            <a:endParaRPr lang="fr-FR" dirty="0"/>
          </a:p>
          <a:p>
            <a:r>
              <a:rPr lang="fr-FR" dirty="0"/>
              <a:t>if 28 % 2 == 0: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("28 est pair")</a:t>
            </a:r>
          </a:p>
          <a:p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("28 est impair")</a:t>
            </a:r>
          </a:p>
        </p:txBody>
      </p:sp>
    </p:spTree>
    <p:extLst>
      <p:ext uri="{BB962C8B-B14F-4D97-AF65-F5344CB8AC3E}">
        <p14:creationId xmlns:p14="http://schemas.microsoft.com/office/powerpoint/2010/main" val="17166662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E21EC-BDAA-A2DC-529C-E7E54362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196873-5273-FCB2-CF03-6B1B62BB0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22</a:t>
            </a:r>
          </a:p>
          <a:p>
            <a:r>
              <a:rPr lang="fr-FR" dirty="0"/>
              <a:t>Calculez la moyenne de 15, 18 et 20</a:t>
            </a:r>
          </a:p>
        </p:txBody>
      </p:sp>
    </p:spTree>
    <p:extLst>
      <p:ext uri="{BB962C8B-B14F-4D97-AF65-F5344CB8AC3E}">
        <p14:creationId xmlns:p14="http://schemas.microsoft.com/office/powerpoint/2010/main" val="20823350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77796-12AE-B7BD-2F49-CD75F9B35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07AEE-E3B9-FE89-185D-A9D1217B2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22</a:t>
            </a:r>
          </a:p>
          <a:p>
            <a:endParaRPr lang="fr-FR" dirty="0"/>
          </a:p>
          <a:p>
            <a:r>
              <a:rPr lang="fr-FR" dirty="0"/>
              <a:t>moyenne = (15 + 18 + 20) / 3</a:t>
            </a:r>
          </a:p>
          <a:p>
            <a:r>
              <a:rPr lang="fr-FR" dirty="0" err="1"/>
              <a:t>print</a:t>
            </a:r>
            <a:r>
              <a:rPr lang="fr-FR" dirty="0"/>
              <a:t>(moyenne)</a:t>
            </a:r>
          </a:p>
        </p:txBody>
      </p:sp>
    </p:spTree>
    <p:extLst>
      <p:ext uri="{BB962C8B-B14F-4D97-AF65-F5344CB8AC3E}">
        <p14:creationId xmlns:p14="http://schemas.microsoft.com/office/powerpoint/2010/main" val="40894539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8D04-2612-C36A-F4F6-96B6B241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F538F1-B392-D924-0BAD-1E7977E87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23</a:t>
            </a:r>
          </a:p>
          <a:p>
            <a:r>
              <a:rPr lang="fr-FR" dirty="0"/>
              <a:t>Demandez à l'utilisateur son âge et affichez "Vous avez X ans" où X est l'âge saisi</a:t>
            </a:r>
          </a:p>
        </p:txBody>
      </p:sp>
    </p:spTree>
    <p:extLst>
      <p:ext uri="{BB962C8B-B14F-4D97-AF65-F5344CB8AC3E}">
        <p14:creationId xmlns:p14="http://schemas.microsoft.com/office/powerpoint/2010/main" val="2963585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672BB-C953-96C2-DC28-D343A92C0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8E4CCA-4A83-7F61-9D53-9A319DE2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23</a:t>
            </a:r>
          </a:p>
          <a:p>
            <a:endParaRPr lang="fr-FR" dirty="0"/>
          </a:p>
          <a:p>
            <a:r>
              <a:rPr lang="fr-FR" dirty="0" err="1"/>
              <a:t>age</a:t>
            </a:r>
            <a:r>
              <a:rPr lang="fr-FR" dirty="0"/>
              <a:t> = input("Quel est votre âge ? ")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f"Vous</a:t>
            </a:r>
            <a:r>
              <a:rPr lang="fr-FR" dirty="0"/>
              <a:t> avez {</a:t>
            </a:r>
            <a:r>
              <a:rPr lang="fr-FR" dirty="0" err="1"/>
              <a:t>age</a:t>
            </a:r>
            <a:r>
              <a:rPr lang="fr-FR" dirty="0"/>
              <a:t>} ans")</a:t>
            </a:r>
          </a:p>
        </p:txBody>
      </p:sp>
    </p:spTree>
    <p:extLst>
      <p:ext uri="{BB962C8B-B14F-4D97-AF65-F5344CB8AC3E}">
        <p14:creationId xmlns:p14="http://schemas.microsoft.com/office/powerpoint/2010/main" val="17989780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FA44-F611-37EF-60D5-DA8BD364E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DD5FBE-B301-B02B-0B56-F98A4059E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24</a:t>
            </a:r>
          </a:p>
          <a:p>
            <a:r>
              <a:rPr lang="fr-FR" dirty="0"/>
              <a:t>Utilisez </a:t>
            </a:r>
            <a:r>
              <a:rPr lang="fr-FR" dirty="0" err="1"/>
              <a:t>print</a:t>
            </a:r>
            <a:r>
              <a:rPr lang="fr-FR" dirty="0"/>
              <a:t> avec sep="-" pour afficher "2023", "09", "15" séparés par des tirets</a:t>
            </a:r>
          </a:p>
        </p:txBody>
      </p:sp>
    </p:spTree>
    <p:extLst>
      <p:ext uri="{BB962C8B-B14F-4D97-AF65-F5344CB8AC3E}">
        <p14:creationId xmlns:p14="http://schemas.microsoft.com/office/powerpoint/2010/main" val="3344818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B4B7-D685-378F-32DB-F234CC7C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A5E111-4807-DD17-4BE0-46592A3D7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24</a:t>
            </a:r>
          </a:p>
          <a:p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("2023", "09", "15", sep="-")</a:t>
            </a:r>
          </a:p>
        </p:txBody>
      </p:sp>
    </p:spTree>
    <p:extLst>
      <p:ext uri="{BB962C8B-B14F-4D97-AF65-F5344CB8AC3E}">
        <p14:creationId xmlns:p14="http://schemas.microsoft.com/office/powerpoint/2010/main" val="27800774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18EFA-9CD9-5D13-D1E8-E7247141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A36AE0-935F-45FE-D79F-F72EAEAAD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25</a:t>
            </a:r>
          </a:p>
          <a:p>
            <a:r>
              <a:rPr lang="fr-FR" dirty="0"/>
              <a:t>Affichez "Bonjour" et "Monde" sur deux lignes différentes en un seul </a:t>
            </a:r>
            <a:r>
              <a:rPr lang="fr-FR" dirty="0" err="1"/>
              <a:t>print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1857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B095E-F8DD-96EF-2737-D49D5630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CF2D92-4E7B-D78B-C2F9-056EF2628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25</a:t>
            </a:r>
          </a:p>
          <a:p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("Bonjour\</a:t>
            </a:r>
            <a:r>
              <a:rPr lang="fr-FR" dirty="0" err="1"/>
              <a:t>nMonde</a:t>
            </a:r>
            <a:r>
              <a:rPr lang="fr-FR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9478008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A9883-5D02-68C2-7E75-856F9444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13B4A3-BD50-DB08-E233-CDA7EF8A3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26</a:t>
            </a:r>
          </a:p>
          <a:p>
            <a:r>
              <a:rPr lang="fr-FR" dirty="0"/>
              <a:t>Utilisez format pour afficher "Le résultat est 12.3456" avec seulement 2 décimales</a:t>
            </a:r>
          </a:p>
        </p:txBody>
      </p:sp>
    </p:spTree>
    <p:extLst>
      <p:ext uri="{BB962C8B-B14F-4D97-AF65-F5344CB8AC3E}">
        <p14:creationId xmlns:p14="http://schemas.microsoft.com/office/powerpoint/2010/main" val="40662601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6F635-104C-2C9F-EF9F-C0D765AA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8570F0-3E12-0F21-3D3B-B087262B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26</a:t>
            </a:r>
          </a:p>
          <a:p>
            <a:endParaRPr lang="fr-FR" dirty="0"/>
          </a:p>
          <a:p>
            <a:r>
              <a:rPr lang="fr-FR" dirty="0"/>
              <a:t>nombre = 12.3456</a:t>
            </a:r>
          </a:p>
          <a:p>
            <a:r>
              <a:rPr lang="fr-FR" dirty="0" err="1"/>
              <a:t>print</a:t>
            </a:r>
            <a:r>
              <a:rPr lang="fr-FR" dirty="0"/>
              <a:t>("Le résultat est {:.2f}".format(nombre))</a:t>
            </a:r>
          </a:p>
        </p:txBody>
      </p:sp>
    </p:spTree>
    <p:extLst>
      <p:ext uri="{BB962C8B-B14F-4D97-AF65-F5344CB8AC3E}">
        <p14:creationId xmlns:p14="http://schemas.microsoft.com/office/powerpoint/2010/main" val="23080105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00BB-4A27-F238-A6A9-517CE840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909743-C10D-538F-DE48-7D8EF50D7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27</a:t>
            </a:r>
          </a:p>
          <a:p>
            <a:r>
              <a:rPr lang="fr-FR" dirty="0"/>
              <a:t>Vérifiez si un nombre est positif, négatif ou nul et affichez le message correspondant</a:t>
            </a:r>
          </a:p>
        </p:txBody>
      </p:sp>
    </p:spTree>
    <p:extLst>
      <p:ext uri="{BB962C8B-B14F-4D97-AF65-F5344CB8AC3E}">
        <p14:creationId xmlns:p14="http://schemas.microsoft.com/office/powerpoint/2010/main" val="16794502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A66C-0911-EC85-2C7E-C81AEABC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7BECC6-E620-CD1F-7287-ECFEF0D4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27</a:t>
            </a:r>
          </a:p>
          <a:p>
            <a:endParaRPr lang="fr-FR" dirty="0"/>
          </a:p>
          <a:p>
            <a:r>
              <a:rPr lang="fr-FR" dirty="0"/>
              <a:t>nombre = -5</a:t>
            </a:r>
          </a:p>
          <a:p>
            <a:r>
              <a:rPr lang="fr-FR" dirty="0"/>
              <a:t>if nombre &gt; 0: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("Positif")</a:t>
            </a:r>
          </a:p>
          <a:p>
            <a:r>
              <a:rPr lang="fr-FR" dirty="0" err="1"/>
              <a:t>elif</a:t>
            </a:r>
            <a:r>
              <a:rPr lang="fr-FR" dirty="0"/>
              <a:t> nombre &lt; 0: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("Négatif")</a:t>
            </a:r>
          </a:p>
          <a:p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("Nul")</a:t>
            </a:r>
          </a:p>
        </p:txBody>
      </p:sp>
    </p:spTree>
    <p:extLst>
      <p:ext uri="{BB962C8B-B14F-4D97-AF65-F5344CB8AC3E}">
        <p14:creationId xmlns:p14="http://schemas.microsoft.com/office/powerpoint/2010/main" val="36293010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91141-10A2-8DD6-1DEB-B09156B0F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E8701A-71AA-D9B3-F68D-986B13421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28</a:t>
            </a:r>
          </a:p>
          <a:p>
            <a:r>
              <a:rPr lang="fr-FR" dirty="0"/>
              <a:t>Vérifiez si une année est bissextile (divisible par 4 mais pas par 100, ou divisible par 400)</a:t>
            </a:r>
          </a:p>
        </p:txBody>
      </p:sp>
    </p:spTree>
    <p:extLst>
      <p:ext uri="{BB962C8B-B14F-4D97-AF65-F5344CB8AC3E}">
        <p14:creationId xmlns:p14="http://schemas.microsoft.com/office/powerpoint/2010/main" val="8810917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6BC7-03FA-02BA-B8B3-474A95EA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81CC56-84D0-4021-0061-212E0D04A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28</a:t>
            </a:r>
          </a:p>
          <a:p>
            <a:endParaRPr lang="fr-FR" dirty="0"/>
          </a:p>
          <a:p>
            <a:r>
              <a:rPr lang="fr-FR" dirty="0" err="1"/>
              <a:t>annee</a:t>
            </a:r>
            <a:r>
              <a:rPr lang="fr-FR" dirty="0"/>
              <a:t> = 2024</a:t>
            </a:r>
          </a:p>
          <a:p>
            <a:r>
              <a:rPr lang="fr-FR" dirty="0"/>
              <a:t>if (</a:t>
            </a:r>
            <a:r>
              <a:rPr lang="fr-FR" dirty="0" err="1"/>
              <a:t>annee</a:t>
            </a:r>
            <a:r>
              <a:rPr lang="fr-FR" dirty="0"/>
              <a:t> % 4 == 0 and </a:t>
            </a:r>
            <a:r>
              <a:rPr lang="fr-FR" dirty="0" err="1"/>
              <a:t>annee</a:t>
            </a:r>
            <a:r>
              <a:rPr lang="fr-FR" dirty="0"/>
              <a:t> % 100 != 0) or (</a:t>
            </a:r>
            <a:r>
              <a:rPr lang="fr-FR" dirty="0" err="1"/>
              <a:t>annee</a:t>
            </a:r>
            <a:r>
              <a:rPr lang="fr-FR" dirty="0"/>
              <a:t> % 400 == 0):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(f"{</a:t>
            </a:r>
            <a:r>
              <a:rPr lang="fr-FR" dirty="0" err="1"/>
              <a:t>annee</a:t>
            </a:r>
            <a:r>
              <a:rPr lang="fr-FR" dirty="0"/>
              <a:t>} est bissextile")</a:t>
            </a:r>
          </a:p>
          <a:p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(f"{</a:t>
            </a:r>
            <a:r>
              <a:rPr lang="fr-FR" dirty="0" err="1"/>
              <a:t>annee</a:t>
            </a:r>
            <a:r>
              <a:rPr lang="fr-FR" dirty="0"/>
              <a:t>} n'est pas bissextile")</a:t>
            </a:r>
          </a:p>
        </p:txBody>
      </p:sp>
    </p:spTree>
    <p:extLst>
      <p:ext uri="{BB962C8B-B14F-4D97-AF65-F5344CB8AC3E}">
        <p14:creationId xmlns:p14="http://schemas.microsoft.com/office/powerpoint/2010/main" val="14560481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A2AB-340B-8C89-D85A-F00E89291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E3E089-9228-E0FB-6A7F-ABCBF06BE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29</a:t>
            </a:r>
          </a:p>
          <a:p>
            <a:r>
              <a:rPr lang="fr-FR" dirty="0"/>
              <a:t>Affichez "OK" si </a:t>
            </a:r>
            <a:r>
              <a:rPr lang="fr-FR" dirty="0" err="1"/>
              <a:t>temperature</a:t>
            </a:r>
            <a:r>
              <a:rPr lang="fr-FR" dirty="0"/>
              <a:t> est entre 18 et 25 degrés, sinon "Hors plage"</a:t>
            </a:r>
          </a:p>
        </p:txBody>
      </p:sp>
    </p:spTree>
    <p:extLst>
      <p:ext uri="{BB962C8B-B14F-4D97-AF65-F5344CB8AC3E}">
        <p14:creationId xmlns:p14="http://schemas.microsoft.com/office/powerpoint/2010/main" val="15772560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FDBC1-CEA5-06B0-99F0-446CFB58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80837C-B3CC-E8F2-DE61-214EA4EE2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29</a:t>
            </a:r>
          </a:p>
          <a:p>
            <a:endParaRPr lang="fr-FR" dirty="0"/>
          </a:p>
          <a:p>
            <a:r>
              <a:rPr lang="fr-FR" dirty="0" err="1"/>
              <a:t>temperature</a:t>
            </a:r>
            <a:r>
              <a:rPr lang="fr-FR" dirty="0"/>
              <a:t> = 22</a:t>
            </a:r>
          </a:p>
          <a:p>
            <a:r>
              <a:rPr lang="fr-FR" dirty="0"/>
              <a:t>if 18 &lt;= </a:t>
            </a:r>
            <a:r>
              <a:rPr lang="fr-FR" dirty="0" err="1"/>
              <a:t>temperature</a:t>
            </a:r>
            <a:r>
              <a:rPr lang="fr-FR" dirty="0"/>
              <a:t> &lt;= 25: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("OK")</a:t>
            </a:r>
          </a:p>
          <a:p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("Hors plage")</a:t>
            </a:r>
          </a:p>
        </p:txBody>
      </p:sp>
    </p:spTree>
    <p:extLst>
      <p:ext uri="{BB962C8B-B14F-4D97-AF65-F5344CB8AC3E}">
        <p14:creationId xmlns:p14="http://schemas.microsoft.com/office/powerpoint/2010/main" val="19930202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E206-A2FE-E4CF-3E5D-9A9273E0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377ECE-4F3B-213A-6101-340827A83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30</a:t>
            </a:r>
          </a:p>
          <a:p>
            <a:r>
              <a:rPr lang="fr-FR" dirty="0"/>
              <a:t>Vérifiez si une chaîne est vide et affichez "Vide" ou "Non vide"</a:t>
            </a:r>
          </a:p>
        </p:txBody>
      </p:sp>
    </p:spTree>
    <p:extLst>
      <p:ext uri="{BB962C8B-B14F-4D97-AF65-F5344CB8AC3E}">
        <p14:creationId xmlns:p14="http://schemas.microsoft.com/office/powerpoint/2010/main" val="20232190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426B-08D6-953A-535C-E1B5835A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E1208B-7183-6A11-CBF4-BE4AF710E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30</a:t>
            </a:r>
          </a:p>
          <a:p>
            <a:endParaRPr lang="fr-FR" dirty="0"/>
          </a:p>
          <a:p>
            <a:r>
              <a:rPr lang="fr-FR" dirty="0"/>
              <a:t>texte = "Bonjour"</a:t>
            </a:r>
          </a:p>
          <a:p>
            <a:r>
              <a:rPr lang="fr-FR" dirty="0"/>
              <a:t>if texte == "":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("Vide")</a:t>
            </a:r>
          </a:p>
          <a:p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("Non vide")</a:t>
            </a:r>
          </a:p>
        </p:txBody>
      </p:sp>
    </p:spTree>
    <p:extLst>
      <p:ext uri="{BB962C8B-B14F-4D97-AF65-F5344CB8AC3E}">
        <p14:creationId xmlns:p14="http://schemas.microsoft.com/office/powerpoint/2010/main" val="8507752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7B72-A05E-4793-3E8C-7EB733BC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8944E-F59F-73BD-C248-2C538EF36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31</a:t>
            </a:r>
          </a:p>
          <a:p>
            <a:r>
              <a:rPr lang="fr-FR" dirty="0"/>
              <a:t>Affichez tous les nombres de 1 à 10 à l'aide d'une boucle for avec range</a:t>
            </a:r>
          </a:p>
        </p:txBody>
      </p:sp>
    </p:spTree>
    <p:extLst>
      <p:ext uri="{BB962C8B-B14F-4D97-AF65-F5344CB8AC3E}">
        <p14:creationId xmlns:p14="http://schemas.microsoft.com/office/powerpoint/2010/main" val="17025440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4C3EE-9D75-FF42-7ED3-976DF16D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AF1666-5C5A-C2B9-CEE6-5507D099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31</a:t>
            </a:r>
          </a:p>
          <a:p>
            <a:endParaRPr lang="fr-FR" dirty="0"/>
          </a:p>
          <a:p>
            <a:r>
              <a:rPr lang="fr-FR" dirty="0"/>
              <a:t>for i in range(1, 11):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(i)</a:t>
            </a:r>
          </a:p>
        </p:txBody>
      </p:sp>
    </p:spTree>
    <p:extLst>
      <p:ext uri="{BB962C8B-B14F-4D97-AF65-F5344CB8AC3E}">
        <p14:creationId xmlns:p14="http://schemas.microsoft.com/office/powerpoint/2010/main" val="39314245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390D7-F17C-58CF-0DB7-AB9FE6FD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3240AD-8BD7-B6CC-480B-7420FB8AA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32</a:t>
            </a:r>
          </a:p>
          <a:p>
            <a:r>
              <a:rPr lang="fr-FR" dirty="0"/>
              <a:t>Parcourez la liste pays = ["Sénégal", "Cote d'ivoire", "Gabon"] et affichez chaque élément</a:t>
            </a:r>
          </a:p>
        </p:txBody>
      </p:sp>
    </p:spTree>
    <p:extLst>
      <p:ext uri="{BB962C8B-B14F-4D97-AF65-F5344CB8AC3E}">
        <p14:creationId xmlns:p14="http://schemas.microsoft.com/office/powerpoint/2010/main" val="23845966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BE4DF-052F-B6C2-9A6C-07735568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2F8404-DF69-A1D2-4A5B-95BD23EDF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32</a:t>
            </a:r>
          </a:p>
          <a:p>
            <a:endParaRPr lang="fr-FR" dirty="0"/>
          </a:p>
          <a:p>
            <a:r>
              <a:rPr lang="fr-FR" dirty="0"/>
              <a:t>pays = ["Sénégal", "Cote d'ivoire", 88.6 ,"Gabon"] </a:t>
            </a:r>
          </a:p>
          <a:p>
            <a:r>
              <a:rPr lang="fr-FR" dirty="0"/>
              <a:t>for p in pays: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(p)</a:t>
            </a:r>
          </a:p>
        </p:txBody>
      </p:sp>
    </p:spTree>
    <p:extLst>
      <p:ext uri="{BB962C8B-B14F-4D97-AF65-F5344CB8AC3E}">
        <p14:creationId xmlns:p14="http://schemas.microsoft.com/office/powerpoint/2010/main" val="30119237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746D-AA49-287D-8FBF-8A267824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765478-8441-BBF8-9F5F-725D1CC92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33</a:t>
            </a:r>
          </a:p>
          <a:p>
            <a:r>
              <a:rPr lang="fr-FR" dirty="0"/>
              <a:t>Calculez la somme de tous les éléments de nombres = [5, 10, 15, 20]</a:t>
            </a:r>
          </a:p>
        </p:txBody>
      </p:sp>
    </p:spTree>
    <p:extLst>
      <p:ext uri="{BB962C8B-B14F-4D97-AF65-F5344CB8AC3E}">
        <p14:creationId xmlns:p14="http://schemas.microsoft.com/office/powerpoint/2010/main" val="37415836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C13F-CD37-6E34-C086-BCF87237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B56686-793E-CEDB-F5E6-5018EBC74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33</a:t>
            </a:r>
          </a:p>
          <a:p>
            <a:endParaRPr lang="fr-FR" dirty="0"/>
          </a:p>
          <a:p>
            <a:r>
              <a:rPr lang="fr-FR" dirty="0"/>
              <a:t>nombres = [5, 10, 15, 20]</a:t>
            </a:r>
          </a:p>
          <a:p>
            <a:r>
              <a:rPr lang="fr-FR" dirty="0"/>
              <a:t>somme = 0</a:t>
            </a:r>
          </a:p>
          <a:p>
            <a:r>
              <a:rPr lang="fr-FR" dirty="0"/>
              <a:t>for n in nombres:</a:t>
            </a:r>
          </a:p>
          <a:p>
            <a:r>
              <a:rPr lang="fr-FR" dirty="0"/>
              <a:t>    somme += n</a:t>
            </a:r>
          </a:p>
          <a:p>
            <a:r>
              <a:rPr lang="fr-FR" dirty="0" err="1"/>
              <a:t>print</a:t>
            </a:r>
            <a:r>
              <a:rPr lang="fr-FR" dirty="0"/>
              <a:t>(somme)</a:t>
            </a:r>
          </a:p>
        </p:txBody>
      </p:sp>
    </p:spTree>
    <p:extLst>
      <p:ext uri="{BB962C8B-B14F-4D97-AF65-F5344CB8AC3E}">
        <p14:creationId xmlns:p14="http://schemas.microsoft.com/office/powerpoint/2010/main" val="14925571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EC78-FB60-CAE3-A7F1-76D1EA71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7588F6-C152-BE0A-E8E7-053333645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34</a:t>
            </a:r>
          </a:p>
          <a:p>
            <a:r>
              <a:rPr lang="fr-FR" dirty="0"/>
              <a:t>Affichez chaque caractère de la chaîne "python" sur une ligne différente</a:t>
            </a:r>
          </a:p>
        </p:txBody>
      </p:sp>
    </p:spTree>
    <p:extLst>
      <p:ext uri="{BB962C8B-B14F-4D97-AF65-F5344CB8AC3E}">
        <p14:creationId xmlns:p14="http://schemas.microsoft.com/office/powerpoint/2010/main" val="5007030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841AD-725C-3B63-E676-5E0B4828C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1EA7B2-560E-311E-31BD-46F85D901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34</a:t>
            </a:r>
          </a:p>
          <a:p>
            <a:endParaRPr lang="fr-FR" dirty="0"/>
          </a:p>
          <a:p>
            <a:r>
              <a:rPr lang="fr-FR" dirty="0"/>
              <a:t>for lettre in "python":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(lettre)</a:t>
            </a:r>
          </a:p>
        </p:txBody>
      </p:sp>
    </p:spTree>
    <p:extLst>
      <p:ext uri="{BB962C8B-B14F-4D97-AF65-F5344CB8AC3E}">
        <p14:creationId xmlns:p14="http://schemas.microsoft.com/office/powerpoint/2010/main" val="7525434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118D-0FE3-5E76-FEAA-355B3C27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06B471-575A-CA2B-8403-FF05D061B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35</a:t>
            </a:r>
          </a:p>
          <a:p>
            <a:r>
              <a:rPr lang="fr-FR" dirty="0"/>
              <a:t>Affichez les nombres de 10 à 1 en ordre décroissant avec </a:t>
            </a:r>
            <a:r>
              <a:rPr lang="fr-FR" dirty="0" err="1"/>
              <a:t>while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24070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AA42-4C8C-29B5-762F-B75BF888C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110C42-857B-82CB-81A3-FCF5DA9C7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35</a:t>
            </a:r>
          </a:p>
          <a:p>
            <a:endParaRPr lang="fr-FR" dirty="0"/>
          </a:p>
          <a:p>
            <a:r>
              <a:rPr lang="fr-FR" dirty="0"/>
              <a:t>i = 10</a:t>
            </a:r>
          </a:p>
          <a:p>
            <a:r>
              <a:rPr lang="fr-FR" dirty="0" err="1"/>
              <a:t>while</a:t>
            </a:r>
            <a:r>
              <a:rPr lang="fr-FR" dirty="0"/>
              <a:t> i &gt;= 1: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(i)</a:t>
            </a:r>
          </a:p>
          <a:p>
            <a:r>
              <a:rPr lang="fr-FR" dirty="0"/>
              <a:t>    i -= 1</a:t>
            </a:r>
          </a:p>
        </p:txBody>
      </p:sp>
    </p:spTree>
    <p:extLst>
      <p:ext uri="{BB962C8B-B14F-4D97-AF65-F5344CB8AC3E}">
        <p14:creationId xmlns:p14="http://schemas.microsoft.com/office/powerpoint/2010/main" val="3482197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605A-A771-222F-22CB-FC85F2E5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AE4A1D-AB7E-FF27-EC79-9C74FDCA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36</a:t>
            </a:r>
          </a:p>
          <a:p>
            <a:r>
              <a:rPr lang="fr-FR" dirty="0"/>
              <a:t>Utilisez </a:t>
            </a:r>
            <a:r>
              <a:rPr lang="fr-FR" dirty="0" err="1"/>
              <a:t>while</a:t>
            </a:r>
            <a:r>
              <a:rPr lang="fr-FR" dirty="0"/>
              <a:t> pour trouver le premier nombre divisible par 7 et 3 après 50</a:t>
            </a:r>
          </a:p>
        </p:txBody>
      </p:sp>
    </p:spTree>
    <p:extLst>
      <p:ext uri="{BB962C8B-B14F-4D97-AF65-F5344CB8AC3E}">
        <p14:creationId xmlns:p14="http://schemas.microsoft.com/office/powerpoint/2010/main" val="37639455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9A26-C981-9E1C-A7AD-1C6710757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90E099-F08F-ADEE-D65A-4F319DC46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36</a:t>
            </a:r>
          </a:p>
          <a:p>
            <a:endParaRPr lang="fr-FR" dirty="0"/>
          </a:p>
          <a:p>
            <a:r>
              <a:rPr lang="fr-FR" dirty="0"/>
              <a:t>nombre = 51</a:t>
            </a:r>
          </a:p>
          <a:p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True</a:t>
            </a:r>
            <a:r>
              <a:rPr lang="fr-FR" dirty="0"/>
              <a:t>:</a:t>
            </a:r>
          </a:p>
          <a:p>
            <a:r>
              <a:rPr lang="fr-FR" dirty="0"/>
              <a:t>    if nombre % 7 == 0 and nombre % 3 == 0:</a:t>
            </a:r>
          </a:p>
          <a:p>
            <a:r>
              <a:rPr lang="fr-FR" dirty="0"/>
              <a:t>        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f"Trouvé</a:t>
            </a:r>
            <a:r>
              <a:rPr lang="fr-FR" dirty="0"/>
              <a:t>: {nombre}")</a:t>
            </a:r>
          </a:p>
          <a:p>
            <a:r>
              <a:rPr lang="fr-FR" dirty="0"/>
              <a:t>        break</a:t>
            </a:r>
          </a:p>
          <a:p>
            <a:r>
              <a:rPr lang="fr-FR" dirty="0"/>
              <a:t>    nombre += 1</a:t>
            </a:r>
          </a:p>
        </p:txBody>
      </p:sp>
    </p:spTree>
    <p:extLst>
      <p:ext uri="{BB962C8B-B14F-4D97-AF65-F5344CB8AC3E}">
        <p14:creationId xmlns:p14="http://schemas.microsoft.com/office/powerpoint/2010/main" val="2081557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00A8E-4F05-AC56-9228-B6D58012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164AEC-C8D0-B9CE-79A6-920F05196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37</a:t>
            </a:r>
          </a:p>
          <a:p>
            <a:r>
              <a:rPr lang="fr-FR" dirty="0"/>
              <a:t>Créez une boucle qui s'arrête quand l'utilisateur tape "stop"</a:t>
            </a:r>
          </a:p>
        </p:txBody>
      </p:sp>
    </p:spTree>
    <p:extLst>
      <p:ext uri="{BB962C8B-B14F-4D97-AF65-F5344CB8AC3E}">
        <p14:creationId xmlns:p14="http://schemas.microsoft.com/office/powerpoint/2010/main" val="36765325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D2C8-935F-A493-EA1C-55E64499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C58C7C-94D2-E6AC-E607-76B66896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37</a:t>
            </a:r>
          </a:p>
          <a:p>
            <a:endParaRPr lang="fr-FR" dirty="0"/>
          </a:p>
          <a:p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True</a:t>
            </a:r>
            <a:r>
              <a:rPr lang="fr-FR" dirty="0"/>
              <a:t>:</a:t>
            </a:r>
          </a:p>
          <a:p>
            <a:r>
              <a:rPr lang="fr-FR" dirty="0"/>
              <a:t>    </a:t>
            </a:r>
            <a:r>
              <a:rPr lang="fr-FR" dirty="0" err="1"/>
              <a:t>entree</a:t>
            </a:r>
            <a:r>
              <a:rPr lang="fr-FR" dirty="0"/>
              <a:t> = input("Tapez 'stop' pour arrêter: ")</a:t>
            </a:r>
          </a:p>
          <a:p>
            <a:r>
              <a:rPr lang="fr-FR" dirty="0"/>
              <a:t>    if </a:t>
            </a:r>
            <a:r>
              <a:rPr lang="fr-FR" dirty="0" err="1"/>
              <a:t>entree.lower</a:t>
            </a:r>
            <a:r>
              <a:rPr lang="fr-FR" dirty="0"/>
              <a:t>() == "stop":</a:t>
            </a:r>
          </a:p>
          <a:p>
            <a:r>
              <a:rPr lang="fr-FR" dirty="0"/>
              <a:t>        break</a:t>
            </a:r>
          </a:p>
        </p:txBody>
      </p:sp>
    </p:spTree>
    <p:extLst>
      <p:ext uri="{BB962C8B-B14F-4D97-AF65-F5344CB8AC3E}">
        <p14:creationId xmlns:p14="http://schemas.microsoft.com/office/powerpoint/2010/main" val="8980992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EB9C-6FF9-B617-C08C-251A0B10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3E7873-B300-7CA0-D632-73B483BEB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38</a:t>
            </a:r>
          </a:p>
          <a:p>
            <a:r>
              <a:rPr lang="fr-FR" dirty="0"/>
              <a:t>Créez une fonction maximum(a, b) qui retourne le plus grand des deux nombres</a:t>
            </a:r>
          </a:p>
        </p:txBody>
      </p:sp>
    </p:spTree>
    <p:extLst>
      <p:ext uri="{BB962C8B-B14F-4D97-AF65-F5344CB8AC3E}">
        <p14:creationId xmlns:p14="http://schemas.microsoft.com/office/powerpoint/2010/main" val="6964141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2EC48-EB6F-0E1F-EB71-7CF85236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E4ED56-4BCA-5FDC-9861-C63C1CD16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en-US" b="1" dirty="0"/>
              <a:t>Solution de </a:t>
            </a:r>
            <a:r>
              <a:rPr lang="en-US" b="1" dirty="0" err="1"/>
              <a:t>l'exercice</a:t>
            </a:r>
            <a:r>
              <a:rPr lang="en-US" b="1" dirty="0"/>
              <a:t> 38</a:t>
            </a:r>
          </a:p>
          <a:p>
            <a:endParaRPr lang="en-US" dirty="0"/>
          </a:p>
          <a:p>
            <a:r>
              <a:rPr lang="en-US" dirty="0"/>
              <a:t>def maximum(a, b):</a:t>
            </a:r>
          </a:p>
          <a:p>
            <a:r>
              <a:rPr lang="en-US" dirty="0"/>
              <a:t>    if a &gt; b:</a:t>
            </a:r>
          </a:p>
          <a:p>
            <a:r>
              <a:rPr lang="en-US" dirty="0"/>
              <a:t>        return a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return b</a:t>
            </a:r>
          </a:p>
          <a:p>
            <a:endParaRPr lang="en-US" dirty="0"/>
          </a:p>
          <a:p>
            <a:r>
              <a:rPr lang="en-US" dirty="0"/>
              <a:t>print(maximum(5, 8))</a:t>
            </a:r>
          </a:p>
        </p:txBody>
      </p:sp>
    </p:spTree>
    <p:extLst>
      <p:ext uri="{BB962C8B-B14F-4D97-AF65-F5344CB8AC3E}">
        <p14:creationId xmlns:p14="http://schemas.microsoft.com/office/powerpoint/2010/main" val="37101159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2123A-58C7-CD05-ED37-18F58DB3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499527-CCEC-D6EE-9874-6DFF7BC10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39</a:t>
            </a:r>
          </a:p>
          <a:p>
            <a:r>
              <a:rPr lang="fr-FR" dirty="0"/>
              <a:t>Créez une fonction </a:t>
            </a:r>
            <a:r>
              <a:rPr lang="fr-FR" dirty="0" err="1"/>
              <a:t>est_majeur</a:t>
            </a:r>
            <a:r>
              <a:rPr lang="fr-FR" dirty="0"/>
              <a:t>(</a:t>
            </a:r>
            <a:r>
              <a:rPr lang="fr-FR" dirty="0" err="1"/>
              <a:t>age</a:t>
            </a:r>
            <a:r>
              <a:rPr lang="fr-FR" dirty="0"/>
              <a:t>) qui retourne </a:t>
            </a:r>
            <a:r>
              <a:rPr lang="fr-FR" dirty="0" err="1"/>
              <a:t>True</a:t>
            </a:r>
            <a:r>
              <a:rPr lang="fr-FR" dirty="0"/>
              <a:t> si </a:t>
            </a:r>
            <a:r>
              <a:rPr lang="fr-FR" dirty="0" err="1"/>
              <a:t>age</a:t>
            </a:r>
            <a:r>
              <a:rPr lang="fr-FR" dirty="0"/>
              <a:t> ≥ 18</a:t>
            </a:r>
          </a:p>
        </p:txBody>
      </p:sp>
    </p:spTree>
    <p:extLst>
      <p:ext uri="{BB962C8B-B14F-4D97-AF65-F5344CB8AC3E}">
        <p14:creationId xmlns:p14="http://schemas.microsoft.com/office/powerpoint/2010/main" val="25343683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05FC6-5F5E-175E-0E88-EA3DA7A5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361D48-B12C-2A40-7A19-43EDA70C1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39</a:t>
            </a:r>
          </a:p>
          <a:p>
            <a:endParaRPr lang="fr-FR" dirty="0"/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est_majeur</a:t>
            </a:r>
            <a:r>
              <a:rPr lang="fr-FR" dirty="0"/>
              <a:t>(</a:t>
            </a:r>
            <a:r>
              <a:rPr lang="fr-FR" dirty="0" err="1"/>
              <a:t>age</a:t>
            </a:r>
            <a:r>
              <a:rPr lang="fr-FR" dirty="0"/>
              <a:t>):</a:t>
            </a:r>
          </a:p>
          <a:p>
            <a:r>
              <a:rPr lang="fr-FR" dirty="0"/>
              <a:t>    return </a:t>
            </a:r>
            <a:r>
              <a:rPr lang="fr-FR" dirty="0" err="1"/>
              <a:t>age</a:t>
            </a:r>
            <a:r>
              <a:rPr lang="fr-FR" dirty="0"/>
              <a:t> &gt;= 18</a:t>
            </a:r>
          </a:p>
          <a:p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est_majeur</a:t>
            </a:r>
            <a:r>
              <a:rPr lang="fr-FR" dirty="0"/>
              <a:t>(20))</a:t>
            </a:r>
          </a:p>
        </p:txBody>
      </p:sp>
    </p:spTree>
    <p:extLst>
      <p:ext uri="{BB962C8B-B14F-4D97-AF65-F5344CB8AC3E}">
        <p14:creationId xmlns:p14="http://schemas.microsoft.com/office/powerpoint/2010/main" val="2028926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DD0B-BD58-E504-5624-88B1CC78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67E066-45EA-0563-354E-4E6449266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40</a:t>
            </a:r>
          </a:p>
          <a:p>
            <a:r>
              <a:rPr lang="fr-FR" dirty="0"/>
              <a:t>Créez une fonction </a:t>
            </a:r>
            <a:r>
              <a:rPr lang="fr-FR" dirty="0" err="1"/>
              <a:t>liste_premiers</a:t>
            </a:r>
            <a:r>
              <a:rPr lang="fr-FR" dirty="0"/>
              <a:t>(n) qui retourne les nombres de 1 à n</a:t>
            </a:r>
          </a:p>
        </p:txBody>
      </p:sp>
    </p:spTree>
    <p:extLst>
      <p:ext uri="{BB962C8B-B14F-4D97-AF65-F5344CB8AC3E}">
        <p14:creationId xmlns:p14="http://schemas.microsoft.com/office/powerpoint/2010/main" val="36016430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70CDF-ADED-04BF-850E-21EA1615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D94C99-2523-2EB0-B772-6003B8CFF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40</a:t>
            </a:r>
          </a:p>
          <a:p>
            <a:endParaRPr lang="fr-FR" dirty="0"/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liste_premiers</a:t>
            </a:r>
            <a:r>
              <a:rPr lang="fr-FR" dirty="0"/>
              <a:t>(n):</a:t>
            </a:r>
          </a:p>
          <a:p>
            <a:r>
              <a:rPr lang="fr-FR" dirty="0"/>
              <a:t>    return </a:t>
            </a:r>
            <a:r>
              <a:rPr lang="fr-FR" dirty="0" err="1"/>
              <a:t>list</a:t>
            </a:r>
            <a:r>
              <a:rPr lang="fr-FR" dirty="0"/>
              <a:t>(range(1, n+1))</a:t>
            </a:r>
          </a:p>
          <a:p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liste_premiers</a:t>
            </a:r>
            <a:r>
              <a:rPr lang="fr-FR" dirty="0"/>
              <a:t>(5))</a:t>
            </a:r>
          </a:p>
        </p:txBody>
      </p:sp>
    </p:spTree>
    <p:extLst>
      <p:ext uri="{BB962C8B-B14F-4D97-AF65-F5344CB8AC3E}">
        <p14:creationId xmlns:p14="http://schemas.microsoft.com/office/powerpoint/2010/main" val="282393353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AF7C4-3452-0852-1CC5-C2437840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F5D28D-B25D-A60E-601B-45E2DE988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41</a:t>
            </a:r>
          </a:p>
          <a:p>
            <a:r>
              <a:rPr lang="fr-FR" dirty="0"/>
              <a:t>Créez une fonction </a:t>
            </a:r>
            <a:r>
              <a:rPr lang="fr-FR" dirty="0" err="1"/>
              <a:t>compte_caracteres</a:t>
            </a:r>
            <a:r>
              <a:rPr lang="fr-FR" dirty="0"/>
              <a:t>(texte) qui retourne la longueur d'une chaîne</a:t>
            </a:r>
          </a:p>
        </p:txBody>
      </p:sp>
    </p:spTree>
    <p:extLst>
      <p:ext uri="{BB962C8B-B14F-4D97-AF65-F5344CB8AC3E}">
        <p14:creationId xmlns:p14="http://schemas.microsoft.com/office/powerpoint/2010/main" val="37808620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7EA5-6DAD-4839-B86E-FA62E9E4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3E2434-A72A-1A12-EA79-AB88FCB13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41</a:t>
            </a:r>
          </a:p>
          <a:p>
            <a:endParaRPr lang="fr-FR" dirty="0"/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compte_caracteres</a:t>
            </a:r>
            <a:r>
              <a:rPr lang="fr-FR" dirty="0"/>
              <a:t>(texte):</a:t>
            </a:r>
          </a:p>
          <a:p>
            <a:r>
              <a:rPr lang="fr-FR" dirty="0"/>
              <a:t>    return </a:t>
            </a:r>
            <a:r>
              <a:rPr lang="fr-FR" dirty="0" err="1"/>
              <a:t>len</a:t>
            </a:r>
            <a:r>
              <a:rPr lang="fr-FR" dirty="0"/>
              <a:t>(texte)</a:t>
            </a:r>
          </a:p>
          <a:p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compte_caracteres</a:t>
            </a:r>
            <a:r>
              <a:rPr lang="fr-FR" dirty="0"/>
              <a:t>("python"))</a:t>
            </a:r>
          </a:p>
        </p:txBody>
      </p:sp>
    </p:spTree>
    <p:extLst>
      <p:ext uri="{BB962C8B-B14F-4D97-AF65-F5344CB8AC3E}">
        <p14:creationId xmlns:p14="http://schemas.microsoft.com/office/powerpoint/2010/main" val="37769209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0A83-9409-73AD-0990-9DD219316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A0596D-F15E-6C9E-CFDB-A469BD437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42</a:t>
            </a:r>
          </a:p>
          <a:p>
            <a:r>
              <a:rPr lang="fr-FR" dirty="0"/>
              <a:t>Vérifiez si "python" est présent dans la chaîne "J'apprends python"</a:t>
            </a:r>
          </a:p>
        </p:txBody>
      </p:sp>
    </p:spTree>
    <p:extLst>
      <p:ext uri="{BB962C8B-B14F-4D97-AF65-F5344CB8AC3E}">
        <p14:creationId xmlns:p14="http://schemas.microsoft.com/office/powerpoint/2010/main" val="21212419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67AEA-B4B3-E7AB-96D1-1AB098D92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0E6F5A-B910-C16C-867F-692034212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42</a:t>
            </a:r>
          </a:p>
          <a:p>
            <a:endParaRPr lang="fr-FR" dirty="0"/>
          </a:p>
          <a:p>
            <a:r>
              <a:rPr lang="fr-FR" dirty="0"/>
              <a:t>texte = "J'apprends python"</a:t>
            </a:r>
          </a:p>
          <a:p>
            <a:r>
              <a:rPr lang="fr-FR" dirty="0"/>
              <a:t>if "python" in texte: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("Présent")</a:t>
            </a:r>
          </a:p>
          <a:p>
            <a:r>
              <a:rPr lang="fr-FR" dirty="0" err="1"/>
              <a:t>else</a:t>
            </a:r>
            <a:r>
              <a:rPr lang="fr-FR" dirty="0"/>
              <a:t>:</a:t>
            </a:r>
          </a:p>
          <a:p>
            <a:r>
              <a:rPr lang="fr-FR" dirty="0"/>
              <a:t>    </a:t>
            </a:r>
            <a:r>
              <a:rPr lang="fr-FR" dirty="0" err="1"/>
              <a:t>print</a:t>
            </a:r>
            <a:r>
              <a:rPr lang="fr-FR" dirty="0"/>
              <a:t>("Absent")</a:t>
            </a:r>
          </a:p>
        </p:txBody>
      </p:sp>
    </p:spTree>
    <p:extLst>
      <p:ext uri="{BB962C8B-B14F-4D97-AF65-F5344CB8AC3E}">
        <p14:creationId xmlns:p14="http://schemas.microsoft.com/office/powerpoint/2010/main" val="34765341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0BF7-CC24-8570-0073-ECFD4CE63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6208A2-C619-D13D-7411-7C9F891CA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43</a:t>
            </a:r>
          </a:p>
          <a:p>
            <a:r>
              <a:rPr lang="fr-FR" dirty="0"/>
              <a:t>Remplacez tous les espaces par des </a:t>
            </a:r>
            <a:r>
              <a:rPr lang="fr-FR" dirty="0" err="1"/>
              <a:t>underscores</a:t>
            </a:r>
            <a:r>
              <a:rPr lang="fr-FR" dirty="0"/>
              <a:t> dans "hello world python"</a:t>
            </a:r>
          </a:p>
        </p:txBody>
      </p:sp>
    </p:spTree>
    <p:extLst>
      <p:ext uri="{BB962C8B-B14F-4D97-AF65-F5344CB8AC3E}">
        <p14:creationId xmlns:p14="http://schemas.microsoft.com/office/powerpoint/2010/main" val="205187123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F324A-5CCB-FAFB-EFA3-5583CA4F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76CDED-8363-6DB4-0C72-99369F98B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43</a:t>
            </a:r>
          </a:p>
          <a:p>
            <a:endParaRPr lang="fr-FR" dirty="0"/>
          </a:p>
          <a:p>
            <a:r>
              <a:rPr lang="fr-FR" dirty="0"/>
              <a:t>texte = "hello world python"</a:t>
            </a:r>
          </a:p>
          <a:p>
            <a:r>
              <a:rPr lang="fr-FR" dirty="0" err="1"/>
              <a:t>nouveau_texte</a:t>
            </a:r>
            <a:r>
              <a:rPr lang="fr-FR" dirty="0"/>
              <a:t> = </a:t>
            </a:r>
            <a:r>
              <a:rPr lang="fr-FR" dirty="0" err="1"/>
              <a:t>texte.replace</a:t>
            </a:r>
            <a:r>
              <a:rPr lang="fr-FR" dirty="0"/>
              <a:t>(" ", "_")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nouveau_texte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19847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C649-82C1-F5AB-6BD0-93CB21A4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D54490-7463-A051-9C0B-C73F586C1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44</a:t>
            </a:r>
          </a:p>
          <a:p>
            <a:r>
              <a:rPr lang="fr-FR" dirty="0"/>
              <a:t>Séparez la chaîne "</a:t>
            </a:r>
            <a:r>
              <a:rPr lang="fr-FR" dirty="0" err="1"/>
              <a:t>nom,prenom,age</a:t>
            </a:r>
            <a:r>
              <a:rPr lang="fr-FR" dirty="0"/>
              <a:t>" en une liste utilisant la virgule comme séparateur</a:t>
            </a:r>
          </a:p>
        </p:txBody>
      </p:sp>
    </p:spTree>
    <p:extLst>
      <p:ext uri="{BB962C8B-B14F-4D97-AF65-F5344CB8AC3E}">
        <p14:creationId xmlns:p14="http://schemas.microsoft.com/office/powerpoint/2010/main" val="7798251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70A0B-E99F-C1B2-13C1-1F72E3651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5A1FA9-AC69-E42C-1EDF-5B75E2C1D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44</a:t>
            </a:r>
          </a:p>
          <a:p>
            <a:endParaRPr lang="fr-FR" dirty="0"/>
          </a:p>
          <a:p>
            <a:r>
              <a:rPr lang="fr-FR" dirty="0"/>
              <a:t>chaine = "</a:t>
            </a:r>
            <a:r>
              <a:rPr lang="fr-FR" dirty="0" err="1"/>
              <a:t>nom,prenom,age</a:t>
            </a:r>
            <a:r>
              <a:rPr lang="fr-FR" dirty="0"/>
              <a:t>"</a:t>
            </a:r>
          </a:p>
          <a:p>
            <a:r>
              <a:rPr lang="fr-FR" dirty="0"/>
              <a:t>liste = </a:t>
            </a:r>
            <a:r>
              <a:rPr lang="fr-FR" dirty="0" err="1"/>
              <a:t>chaine.split</a:t>
            </a:r>
            <a:r>
              <a:rPr lang="fr-FR" dirty="0"/>
              <a:t>(",")</a:t>
            </a:r>
          </a:p>
          <a:p>
            <a:r>
              <a:rPr lang="fr-FR" dirty="0" err="1"/>
              <a:t>print</a:t>
            </a:r>
            <a:r>
              <a:rPr lang="fr-FR" dirty="0"/>
              <a:t>(liste)</a:t>
            </a:r>
          </a:p>
        </p:txBody>
      </p:sp>
    </p:spTree>
    <p:extLst>
      <p:ext uri="{BB962C8B-B14F-4D97-AF65-F5344CB8AC3E}">
        <p14:creationId xmlns:p14="http://schemas.microsoft.com/office/powerpoint/2010/main" val="135143462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0A54-176D-3DFB-41E2-2034FE13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B11E78-7588-FEDE-3635-481AF7388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45</a:t>
            </a:r>
          </a:p>
          <a:p>
            <a:r>
              <a:rPr lang="fr-FR" dirty="0"/>
              <a:t>Convertissez "bonjour tout le monde" en majuscules</a:t>
            </a:r>
          </a:p>
        </p:txBody>
      </p:sp>
    </p:spTree>
    <p:extLst>
      <p:ext uri="{BB962C8B-B14F-4D97-AF65-F5344CB8AC3E}">
        <p14:creationId xmlns:p14="http://schemas.microsoft.com/office/powerpoint/2010/main" val="361072449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BA9F-435E-5AFA-4F71-988457C7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7D2594-5FE8-474A-40B9-D5C68547D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45</a:t>
            </a:r>
          </a:p>
          <a:p>
            <a:endParaRPr lang="fr-FR" dirty="0"/>
          </a:p>
          <a:p>
            <a:r>
              <a:rPr lang="fr-FR" dirty="0"/>
              <a:t>texte = "bonjour tout le monde"</a:t>
            </a:r>
          </a:p>
          <a:p>
            <a:r>
              <a:rPr lang="fr-FR" dirty="0" err="1"/>
              <a:t>texte_maj</a:t>
            </a:r>
            <a:r>
              <a:rPr lang="fr-FR" dirty="0"/>
              <a:t> = </a:t>
            </a:r>
            <a:r>
              <a:rPr lang="fr-FR" dirty="0" err="1"/>
              <a:t>texte.upper</a:t>
            </a:r>
            <a:r>
              <a:rPr lang="fr-FR" dirty="0"/>
              <a:t>()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texte_maj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210441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875A-07A9-3A2C-2F16-32C042E8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756AF1-44A2-81F9-4D4C-C0A6FECF6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46</a:t>
            </a:r>
          </a:p>
          <a:p>
            <a:r>
              <a:rPr lang="fr-FR" dirty="0"/>
              <a:t>Comptez combien de fois le nombre 5 apparaît dans [2, 5, 8, 5, 1, 5]</a:t>
            </a:r>
          </a:p>
        </p:txBody>
      </p:sp>
    </p:spTree>
    <p:extLst>
      <p:ext uri="{BB962C8B-B14F-4D97-AF65-F5344CB8AC3E}">
        <p14:creationId xmlns:p14="http://schemas.microsoft.com/office/powerpoint/2010/main" val="136783245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F786-7335-0EB3-7B9D-334BCC72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AB5494-9793-B651-A310-5E8BA96C4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46</a:t>
            </a:r>
          </a:p>
          <a:p>
            <a:endParaRPr lang="fr-FR" dirty="0"/>
          </a:p>
          <a:p>
            <a:r>
              <a:rPr lang="fr-FR" dirty="0"/>
              <a:t>liste = [2, 5, 8, 5, 1, 5]</a:t>
            </a:r>
          </a:p>
          <a:p>
            <a:r>
              <a:rPr lang="fr-FR" dirty="0"/>
              <a:t>count = </a:t>
            </a:r>
            <a:r>
              <a:rPr lang="fr-FR" dirty="0" err="1"/>
              <a:t>liste.count</a:t>
            </a:r>
            <a:r>
              <a:rPr lang="fr-FR" dirty="0"/>
              <a:t>(5)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f"Le</a:t>
            </a:r>
            <a:r>
              <a:rPr lang="fr-FR" dirty="0"/>
              <a:t> nombre 5 apparaît {count} fois")</a:t>
            </a:r>
          </a:p>
        </p:txBody>
      </p:sp>
    </p:spTree>
    <p:extLst>
      <p:ext uri="{BB962C8B-B14F-4D97-AF65-F5344CB8AC3E}">
        <p14:creationId xmlns:p14="http://schemas.microsoft.com/office/powerpoint/2010/main" val="13556556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9895-F319-B735-1736-1B41D6EB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75B3C3-F9C4-8B53-F576-45985805C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47</a:t>
            </a:r>
          </a:p>
          <a:p>
            <a:r>
              <a:rPr lang="fr-FR" dirty="0"/>
              <a:t>Triez la liste [34, 12, 89, 5, 23] en ordre croissant</a:t>
            </a:r>
          </a:p>
        </p:txBody>
      </p:sp>
    </p:spTree>
    <p:extLst>
      <p:ext uri="{BB962C8B-B14F-4D97-AF65-F5344CB8AC3E}">
        <p14:creationId xmlns:p14="http://schemas.microsoft.com/office/powerpoint/2010/main" val="210091165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B5A94-1E6F-5FFD-AB87-B8660255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E7A67D-3571-FDAE-CEE6-DD7B41A0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47</a:t>
            </a:r>
          </a:p>
          <a:p>
            <a:endParaRPr lang="fr-FR" dirty="0"/>
          </a:p>
          <a:p>
            <a:r>
              <a:rPr lang="fr-FR" dirty="0"/>
              <a:t>nombres = [34, 12, 89, 5, 23]</a:t>
            </a:r>
          </a:p>
          <a:p>
            <a:r>
              <a:rPr lang="fr-FR" dirty="0" err="1"/>
              <a:t>nombres.sort</a:t>
            </a:r>
            <a:r>
              <a:rPr lang="fr-FR" dirty="0"/>
              <a:t>()</a:t>
            </a:r>
          </a:p>
          <a:p>
            <a:r>
              <a:rPr lang="fr-FR" dirty="0" err="1"/>
              <a:t>print</a:t>
            </a:r>
            <a:r>
              <a:rPr lang="fr-FR" dirty="0"/>
              <a:t>(nombres)</a:t>
            </a:r>
          </a:p>
        </p:txBody>
      </p:sp>
    </p:spTree>
    <p:extLst>
      <p:ext uri="{BB962C8B-B14F-4D97-AF65-F5344CB8AC3E}">
        <p14:creationId xmlns:p14="http://schemas.microsoft.com/office/powerpoint/2010/main" val="62330687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E451-5D01-19D5-6669-724CFBBD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5D3B2B-8D5A-0154-F181-5EE1F9796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48</a:t>
            </a:r>
          </a:p>
          <a:p>
            <a:r>
              <a:rPr lang="fr-FR" dirty="0"/>
              <a:t>Créez une liste carres contenant les carrés des nombres de 1 à 5</a:t>
            </a:r>
          </a:p>
        </p:txBody>
      </p:sp>
    </p:spTree>
    <p:extLst>
      <p:ext uri="{BB962C8B-B14F-4D97-AF65-F5344CB8AC3E}">
        <p14:creationId xmlns:p14="http://schemas.microsoft.com/office/powerpoint/2010/main" val="166442201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6920-FC76-C963-18E9-D25CD783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056D67-10FF-7BCD-07AC-897501F4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48</a:t>
            </a:r>
          </a:p>
          <a:p>
            <a:endParaRPr lang="fr-FR" dirty="0"/>
          </a:p>
          <a:p>
            <a:r>
              <a:rPr lang="fr-FR" dirty="0"/>
              <a:t>carres = [i**2 for i in range(1, 6)]</a:t>
            </a:r>
          </a:p>
          <a:p>
            <a:r>
              <a:rPr lang="fr-FR" dirty="0" err="1"/>
              <a:t>print</a:t>
            </a:r>
            <a:r>
              <a:rPr lang="fr-FR" dirty="0"/>
              <a:t>(carres)</a:t>
            </a:r>
          </a:p>
        </p:txBody>
      </p:sp>
    </p:spTree>
    <p:extLst>
      <p:ext uri="{BB962C8B-B14F-4D97-AF65-F5344CB8AC3E}">
        <p14:creationId xmlns:p14="http://schemas.microsoft.com/office/powerpoint/2010/main" val="376036402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D43FE-F474-F774-1414-FF68D4549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92E782-15A4-3933-7A26-BA8549B94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49</a:t>
            </a:r>
          </a:p>
          <a:p>
            <a:r>
              <a:rPr lang="fr-FR" dirty="0"/>
              <a:t>Doublez chaque élément de la liste [1, 2, 3, 4, 5] pour obtenir [2, 4, 6, 8, 10]</a:t>
            </a:r>
          </a:p>
        </p:txBody>
      </p:sp>
    </p:spTree>
    <p:extLst>
      <p:ext uri="{BB962C8B-B14F-4D97-AF65-F5344CB8AC3E}">
        <p14:creationId xmlns:p14="http://schemas.microsoft.com/office/powerpoint/2010/main" val="127874206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AE65-D574-A4B8-DA76-0D17618B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CB3B7D-E401-71CF-7612-17FF9A966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49</a:t>
            </a:r>
          </a:p>
          <a:p>
            <a:endParaRPr lang="fr-FR" dirty="0"/>
          </a:p>
          <a:p>
            <a:r>
              <a:rPr lang="fr-FR" dirty="0"/>
              <a:t>liste = [1, 2, 3, 4, 5]</a:t>
            </a:r>
          </a:p>
          <a:p>
            <a:r>
              <a:rPr lang="fr-FR" dirty="0" err="1"/>
              <a:t>liste_doublee</a:t>
            </a:r>
            <a:r>
              <a:rPr lang="fr-FR" dirty="0"/>
              <a:t> = [x * 2 for x in liste]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liste_doublee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4875186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B83A-030D-CBE3-7334-7A2078B9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1405EC-328C-6313-A31C-DE20C123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Exercice 50</a:t>
            </a:r>
          </a:p>
          <a:p>
            <a:r>
              <a:rPr lang="fr-FR" dirty="0"/>
              <a:t>Fusionnez deux listes [1, 2, 3] et ['a', 'b', 'c'] en [(1, 'a'), (2, 'b'), (3, 'c')]</a:t>
            </a:r>
          </a:p>
        </p:txBody>
      </p:sp>
    </p:spTree>
    <p:extLst>
      <p:ext uri="{BB962C8B-B14F-4D97-AF65-F5344CB8AC3E}">
        <p14:creationId xmlns:p14="http://schemas.microsoft.com/office/powerpoint/2010/main" val="201339569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07DD-E788-FF6F-D538-3AA13BD4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D373DE-8E5D-7E36-B77D-A8D0211D7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47650"/>
            <a:ext cx="11468100" cy="6324600"/>
          </a:xfrm>
        </p:spPr>
        <p:txBody>
          <a:bodyPr/>
          <a:lstStyle/>
          <a:p>
            <a:r>
              <a:rPr lang="fr-FR" b="1" dirty="0"/>
              <a:t>Solution de l'exercice 50</a:t>
            </a:r>
          </a:p>
          <a:p>
            <a:endParaRPr lang="fr-FR" dirty="0"/>
          </a:p>
          <a:p>
            <a:r>
              <a:rPr lang="fr-FR" dirty="0"/>
              <a:t>liste1 = [1, 2, 3]</a:t>
            </a:r>
          </a:p>
          <a:p>
            <a:r>
              <a:rPr lang="fr-FR" dirty="0"/>
              <a:t>liste2 = ['a', 'b', 'c']</a:t>
            </a:r>
          </a:p>
          <a:p>
            <a:r>
              <a:rPr lang="fr-FR" dirty="0" err="1"/>
              <a:t>resultat</a:t>
            </a:r>
            <a:r>
              <a:rPr lang="fr-FR" dirty="0"/>
              <a:t> = </a:t>
            </a:r>
            <a:r>
              <a:rPr lang="fr-FR" dirty="0" err="1"/>
              <a:t>list</a:t>
            </a:r>
            <a:r>
              <a:rPr lang="fr-FR" dirty="0"/>
              <a:t>(zip(liste1, liste2))</a:t>
            </a:r>
          </a:p>
          <a:p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resultat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02547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244</TotalTime>
  <Words>2928</Words>
  <Application>Microsoft Office PowerPoint</Application>
  <PresentationFormat>Grand écran</PresentationFormat>
  <Paragraphs>533</Paragraphs>
  <Slides>111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111</vt:i4>
      </vt:variant>
    </vt:vector>
  </HeadingPairs>
  <TitlesOfParts>
    <vt:vector size="116" baseType="lpstr">
      <vt:lpstr>Arial</vt:lpstr>
      <vt:lpstr>Calibri</vt:lpstr>
      <vt:lpstr>Calibri Light</vt:lpstr>
      <vt:lpstr>Times New Roman</vt:lpstr>
      <vt:lpstr>Thème Office</vt:lpstr>
      <vt:lpstr>POO sous Python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chtouki fatima</dc:creator>
  <cp:lastModifiedBy>chtouki fatima</cp:lastModifiedBy>
  <cp:revision>19</cp:revision>
  <dcterms:created xsi:type="dcterms:W3CDTF">2025-10-28T19:59:45Z</dcterms:created>
  <dcterms:modified xsi:type="dcterms:W3CDTF">2025-10-29T09:56:25Z</dcterms:modified>
</cp:coreProperties>
</file>